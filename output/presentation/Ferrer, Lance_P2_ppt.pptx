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20c7ba3aa54435" /><Relationship Type="http://schemas.openxmlformats.org/officeDocument/2006/relationships/extended-properties" Target="/docProps/app.xml" Id="R6d3541bcfa234f35" /><Relationship Type="http://schemas.openxmlformats.org/officeDocument/2006/relationships/officeDocument" Target="/ppt/presentation.xml" Id="R4f692d5765dc4c19" /></Relationships>
</file>

<file path=ppt/presentation.xml><?xml version="1.0" encoding="utf-8"?>
<p:presentation xmlns:p="http://schemas.openxmlformats.org/presentationml/2006/main">
  <p:sldMasterIdLst>
    <p:sldMasterId xmlns:r="http://schemas.openxmlformats.org/officeDocument/2006/relationships" id="2147483648" r:id="Ref3dcdad25df42c5"/>
  </p:sldMasterIdLst>
  <p:notesMasterIdLst>
    <p:notesMasterId xmlns:r="http://schemas.openxmlformats.org/officeDocument/2006/relationships" r:id="Ra58fe57fe2c04e0c"/>
  </p:notesMasterIdLst>
  <p:sldIdLst>
    <p:sldId xmlns:r="http://schemas.openxmlformats.org/officeDocument/2006/relationships" id="256" r:id="Rbb067c3854ef473c"/>
    <p:sldId xmlns:r="http://schemas.openxmlformats.org/officeDocument/2006/relationships" id="257" r:id="R0277d23a60c14e77"/>
    <p:sldId xmlns:r="http://schemas.openxmlformats.org/officeDocument/2006/relationships" id="258" r:id="R298f37f835954986"/>
    <p:sldId xmlns:r="http://schemas.openxmlformats.org/officeDocument/2006/relationships" id="259" r:id="Rac85f0e54e4d40b9"/>
    <p:sldId xmlns:r="http://schemas.openxmlformats.org/officeDocument/2006/relationships" id="260" r:id="Rb939cfc722894b00"/>
    <p:sldId xmlns:r="http://schemas.openxmlformats.org/officeDocument/2006/relationships" id="261" r:id="Red5070c251b74c84"/>
    <p:sldId xmlns:r="http://schemas.openxmlformats.org/officeDocument/2006/relationships" id="262" r:id="Ra6b40e08a3cb41cf"/>
    <p:sldId xmlns:r="http://schemas.openxmlformats.org/officeDocument/2006/relationships" id="263" r:id="R7d04a9bdf4fa4be5"/>
    <p:sldId xmlns:r="http://schemas.openxmlformats.org/officeDocument/2006/relationships" id="264" r:id="R2d70733993d148c2"/>
    <p:sldId xmlns:r="http://schemas.openxmlformats.org/officeDocument/2006/relationships" id="265" r:id="R3c224adb9ada419a"/>
    <p:sldId xmlns:r="http://schemas.openxmlformats.org/officeDocument/2006/relationships" id="266" r:id="R7653853295de4646"/>
    <p:sldId xmlns:r="http://schemas.openxmlformats.org/officeDocument/2006/relationships" id="267" r:id="R2c5fad2687e54b1a"/>
    <p:sldId xmlns:r="http://schemas.openxmlformats.org/officeDocument/2006/relationships" id="268" r:id="R92f73793df954b25"/>
    <p:sldId xmlns:r="http://schemas.openxmlformats.org/officeDocument/2006/relationships" id="269" r:id="Rf95b46e46829407e"/>
    <p:sldId xmlns:r="http://schemas.openxmlformats.org/officeDocument/2006/relationships" id="270" r:id="R69eb17bf4df349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be0d1be0f349c2" /><Relationship Type="http://schemas.openxmlformats.org/officeDocument/2006/relationships/slideMaster" Target="/ppt/slideMasters/slideMaster1.xml" Id="Ref3dcdad25df42c5" /><Relationship Type="http://schemas.openxmlformats.org/officeDocument/2006/relationships/notesMaster" Target="/ppt/notesMasters/notesMaster1.xml" Id="Ra58fe57fe2c04e0c" /><Relationship Type="http://schemas.openxmlformats.org/officeDocument/2006/relationships/presProps" Target="/ppt/presProps.xml" Id="R1a7cf66f85844d9c" /><Relationship Type="http://schemas.openxmlformats.org/officeDocument/2006/relationships/tableStyles" Target="/ppt/tableStyles.xml" Id="R00f3ac5b9f0d4907" /><Relationship Type="http://schemas.openxmlformats.org/officeDocument/2006/relationships/slide" Target="/ppt/slides/slide1.xml" Id="Rbb067c3854ef473c" /><Relationship Type="http://schemas.openxmlformats.org/officeDocument/2006/relationships/slide" Target="/ppt/slides/slide2.xml" Id="R0277d23a60c14e77" /><Relationship Type="http://schemas.openxmlformats.org/officeDocument/2006/relationships/slide" Target="/ppt/slides/slide3.xml" Id="R298f37f835954986" /><Relationship Type="http://schemas.openxmlformats.org/officeDocument/2006/relationships/slide" Target="/ppt/slides/slide4.xml" Id="Rac85f0e54e4d40b9" /><Relationship Type="http://schemas.openxmlformats.org/officeDocument/2006/relationships/slide" Target="/ppt/slides/slide5.xml" Id="Rb939cfc722894b00" /><Relationship Type="http://schemas.openxmlformats.org/officeDocument/2006/relationships/slide" Target="/ppt/slides/slide6.xml" Id="Red5070c251b74c84" /><Relationship Type="http://schemas.openxmlformats.org/officeDocument/2006/relationships/slide" Target="/ppt/slides/slide7.xml" Id="Ra6b40e08a3cb41cf" /><Relationship Type="http://schemas.openxmlformats.org/officeDocument/2006/relationships/slide" Target="/ppt/slides/slide8.xml" Id="R7d04a9bdf4fa4be5" /><Relationship Type="http://schemas.openxmlformats.org/officeDocument/2006/relationships/slide" Target="/ppt/slides/slide9.xml" Id="R2d70733993d148c2" /><Relationship Type="http://schemas.openxmlformats.org/officeDocument/2006/relationships/slide" Target="/ppt/slides/slide10.xml" Id="R3c224adb9ada419a" /><Relationship Type="http://schemas.openxmlformats.org/officeDocument/2006/relationships/slide" Target="/ppt/slides/slide11.xml" Id="R7653853295de4646" /><Relationship Type="http://schemas.openxmlformats.org/officeDocument/2006/relationships/slide" Target="/ppt/slides/slide12.xml" Id="R2c5fad2687e54b1a" /><Relationship Type="http://schemas.openxmlformats.org/officeDocument/2006/relationships/slide" Target="/ppt/slides/slide13.xml" Id="R92f73793df954b25" /><Relationship Type="http://schemas.openxmlformats.org/officeDocument/2006/relationships/slide" Target="/ppt/slides/slide14.xml" Id="Rf95b46e46829407e" /><Relationship Type="http://schemas.openxmlformats.org/officeDocument/2006/relationships/slide" Target="/ppt/slides/slide15.xml" Id="R69eb17bf4df349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5a0265d1774e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845cfeac4645b0" /><Relationship Type="http://schemas.openxmlformats.org/officeDocument/2006/relationships/notesMaster" Target="/ppt/notesMasters/notesMaster1.xml" Id="Rd86733bdb95b45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2dc84616e748f2" /><Relationship Type="http://schemas.openxmlformats.org/officeDocument/2006/relationships/notesMaster" Target="/ppt/notesMasters/notesMaster1.xml" Id="R55a03584efab4d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2acb2c3a1247bb" /><Relationship Type="http://schemas.openxmlformats.org/officeDocument/2006/relationships/notesMaster" Target="/ppt/notesMasters/notesMaster1.xml" Id="R1f5cc26595574b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32c449914943bf" /><Relationship Type="http://schemas.openxmlformats.org/officeDocument/2006/relationships/notesMaster" Target="/ppt/notesMasters/notesMaster1.xml" Id="R90f97d85f0154e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b12775b9bf432d" /><Relationship Type="http://schemas.openxmlformats.org/officeDocument/2006/relationships/notesMaster" Target="/ppt/notesMasters/notesMaster1.xml" Id="Rb79bd8ab29fc46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a05dab25b74607" /><Relationship Type="http://schemas.openxmlformats.org/officeDocument/2006/relationships/notesMaster" Target="/ppt/notesMasters/notesMaster1.xml" Id="R971d83ed7f0847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c203fad37043c0" /><Relationship Type="http://schemas.openxmlformats.org/officeDocument/2006/relationships/notesMaster" Target="/ppt/notesMasters/notesMaster1.xml" Id="R60eae5710fae41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991e74c8ed4b1a" /><Relationship Type="http://schemas.openxmlformats.org/officeDocument/2006/relationships/notesMaster" Target="/ppt/notesMasters/notesMaster1.xml" Id="R176d3888b7ce47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e0e01c2ed544d7" /><Relationship Type="http://schemas.openxmlformats.org/officeDocument/2006/relationships/notesMaster" Target="/ppt/notesMasters/notesMaster1.xml" Id="Rae7e03f588ae4d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b0d12e95724e21" /><Relationship Type="http://schemas.openxmlformats.org/officeDocument/2006/relationships/notesMaster" Target="/ppt/notesMasters/notesMaster1.xml" Id="Rfd47e356c8844c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528dbd754424b71" /><Relationship Type="http://schemas.openxmlformats.org/officeDocument/2006/relationships/notesMaster" Target="/ppt/notesMasters/notesMaster1.xml" Id="R1c019a139da143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f7ee2e9bb84f85" /><Relationship Type="http://schemas.openxmlformats.org/officeDocument/2006/relationships/notesMaster" Target="/ppt/notesMasters/notesMaster1.xml" Id="Re04675cd4c724b3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4a72f033f04ebd" /><Relationship Type="http://schemas.openxmlformats.org/officeDocument/2006/relationships/notesMaster" Target="/ppt/notesMasters/notesMaster1.xml" Id="R568d0d97ab564e5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57a36b863af48e0" /><Relationship Type="http://schemas.openxmlformats.org/officeDocument/2006/relationships/notesMaster" Target="/ppt/notesMasters/notesMaster1.xml" Id="Rf9f035e41990422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71e336907ff4c31" /><Relationship Type="http://schemas.openxmlformats.org/officeDocument/2006/relationships/notesMaster" Target="/ppt/notesMasters/notesMaster1.xml" Id="R6486bf56fbe74a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explains the P2 LFG dungeon queue simulation for STDISCM. It uses portable C++17 and a custom counting semaphore. The central question is how to form valid parties, run at most n dungeons at once, and finish without leaving eligible parties waiting forever. The implementation models each dungeon instance as a worker thread. We will first cover the program structure, then its synchronization mechanisms, possible failure scenarios, and the actual safeguards. The final example and automated checks connect these claims to the code. Source: specs.md; src/main.cpp; src/simulation.cpp; include/counting_semaphore.hpp.</a:t>
            </a:r>
          </a:p>
          <a:p xmlns:a="http://schemas.openxmlformats.org/drawingml/2006/main">
            <a:r>
              <a:t/>
            </a:r>
          </a:p>
          <a:p xmlns:a="http://schemas.openxmlformats.org/drawingml/2006/main">
            <a:r>
              <a:t>Design reference: Ferrer, Lance_P1_ppt.pdf. University emblem reused from its first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player counts arrive at the same time, so this is a finite queue simulation rather than an online matchmaking service. Each party needs exactly one tank, one healer, and three DPS. n is the maximum number of simultaneous dungeon instances. Although the specification says three inputs, it lists six, which the program accepts as n, t, h, d, t1, and t2. Counts must fit a signed int. The duration bounds permit zero-second tests and satisfy 0 &lt;= t1 &lt;= t2 &lt;= 15. Each party gets a separate uniform integer duration. The output shows every instance on each transition and summarizes completed parties, service time, and unmatched players. Sources: specs.md; src/simulation.cpp, read_config(), validate_config(), and simulate().</a:t>
            </a:r>
          </a:p>
          <a:p xmlns:a="http://schemas.openxmlformats.org/drawingml/2006/main">
            <a:r>
              <a:t/>
            </a:r>
          </a:p>
          <a:p xmlns:a="http://schemas.openxmlformats.org/drawingml/2006/main">
            <a:r>
              <a:t>Design reference: Ferrer, Lance_P1_ppt.pdf. University emblem reused from its first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compiler with complete C++17 library and standard threading support. This project uses optional and from_chars, so the old MinGW.org GCC 6.3 installation is not suitable. The example was built with the installed MSYS2 GCC 13.1. Run the commands from the project root. The -Iinclude argument locates simulation.hpp and counting_semaphore.hpp, and both .cpp files must be compiled and linked together. -pthread enables the toolchain's threading support. The caret is the Windows Command Prompt continuation character. The resulting executable is in the project root. No CMake build directory is required for this direct compilation. Keep the MSYS2 UCRT64 bin directory on PATH so the compiler and runtime DLLs can be found. Sources: src/main.cpp; src/simulation.cpp; actual GCC compilation captured for this deck.</a:t>
            </a:r>
          </a:p>
          <a:p xmlns:a="http://schemas.openxmlformats.org/drawingml/2006/main">
            <a:r>
              <a:t/>
            </a:r>
          </a:p>
          <a:p xmlns:a="http://schemas.openxmlformats.org/drawingml/2006/main">
            <a:r>
              <a:t>Design reference: Ferrer, Lance_P1_ppt.pdf. University emblem reused from its first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separates user interaction from simulation logic. main.cpp prompts for six values, attaches the console observer, runs the simulation, prints the summary, and reports errors. simulation.cpp validates input, forms parties, creates jobs, runs workers, and formats output. simulation.hpp defines Config, Party, InstanceStatus, Snapshot, Summary, and the testing options. counting_semaphore.hpp implements the portable semaphore using standard C++ primitives. The C++ tests exercise the simulation and semaphore, while cli.cmake checks the executable's input and output. CMakeLists.txt is an optional build-and-test entry point. README.md explains compilation and the synchronization arguments. Source: the current repository structure and the listed files.</a:t>
            </a:r>
          </a:p>
          <a:p xmlns:a="http://schemas.openxmlformats.org/drawingml/2006/main">
            <a:r>
              <a:t/>
            </a:r>
          </a:p>
          <a:p xmlns:a="http://schemas.openxmlformats.org/drawingml/2006/main">
            <a:r>
              <a:t>Design reference: Ferrer, Lance_P1_ppt.pdf. University emblem reused from its first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maximum number of complete parties is the minimum of the tank count, healer count, and integer DPS count divided by three. Sequential role IDs represent implicit FIFO queues. Party k uses tank k, healer k, and DPS IDs 3k-2, 3k-1, and 3k. Thus every selected player appears exactly once and the earliest eligible IDs are selected first. Because all inputs arrive together, these IDs define the ordering among tied arrivals. The program does not allocate a separate object for every leftover player. For the running example, three parties consume three tanks, three healers, and nine DPS. That leaves one tank and one DPS without a healer or enough DPS to form another party. Sources: src/simulation.cpp, simulate(), party_count calculation and Party construction.</a:t>
            </a:r>
          </a:p>
          <a:p xmlns:a="http://schemas.openxmlformats.org/drawingml/2006/main">
            <a:r>
              <a:t/>
            </a:r>
          </a:p>
          <a:p xmlns:a="http://schemas.openxmlformats.org/drawingml/2006/main">
            <a:r>
              <a:t>Design reference: Ferrer, Lance_P1_ppt.pdf. University emblem reused from its first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thread builds the entire finite job queue before starting workers. It appends n shutdown markers and releases one semaphore permit for every queued item. It then creates exactly n worker threads, with each worker owning a stable instance ID. A worker claims a job, marks that instance active, sleeps for its assigned duration, records completion, and repeats. The queue mutex protects only removal. The status mutex protects state transitions and output. Neither remains held during the dungeon sleep. Since a worker cannot run two jobs simultaneously and there are n workers, at most n instances are active. The semaphore does not independently enforce this capacity limit. Source: src/simulation.cpp, simulate() and the worker lambda.</a:t>
            </a:r>
          </a:p>
          <a:p xmlns:a="http://schemas.openxmlformats.org/drawingml/2006/main">
            <a:r>
              <a:t/>
            </a:r>
          </a:p>
          <a:p xmlns:a="http://schemas.openxmlformats.org/drawingml/2006/main">
            <a:r>
              <a:t>Design reference: Ferrer, Lance_P1_ppt.pdf. University emblem reused from its first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primitive has a distinct responsibility. available_jobs counts consumable items in the job queue, including shutdown markers. Its internal mutex protects the permit count, and its condition variable blocks an acquirer when no permit exists. queue_mutex protects front() and pop() as one exclusive operation. status_mutex serializes active/empty transitions, per-instance statistics, completed-party totals, snapshots, and console output through the observer. lock_guard and unique_lock provide scope-based release. Main joins every worker before reporting the final state. The atomic cancellation flag belongs to exceptional cleanup, which is covered later. These are standard C++17 mechanisms, with no OS-specific semaphore dependency. Sources: include/counting_semaphore.hpp; src/simulation.cpp.</a:t>
            </a:r>
          </a:p>
          <a:p xmlns:a="http://schemas.openxmlformats.org/drawingml/2006/main">
            <a:r>
              <a:t/>
            </a:r>
          </a:p>
          <a:p xmlns:a="http://schemas.openxmlformats.org/drawingml/2006/main">
            <a:r>
              <a:t>Design reference: Ferrer, Lance_P1_ppt.pdf. University emblem reused from its first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acquire() takes the semaphore's internal mutex, then waits using the predicate permits_ != 0. Condition-variable waiting releases that internal mutex while blocked and reacquires it before checking the predicate and decrementing the count. This handles spurious wakeups safely. release() increments the permit count while protected, unlocks, and then notifies one waiter or all waiters for a bulk release. The shown release excerpt omits its zero-count and overflow checks, which remain in the source. Permits are state, so release before acquire cannot lose work. In this simulation the complete queue and all permits exist before the workers start, so normal workers do not wait for a producer to create new parties. Source: include/counting_semaphore.hpp, acquire() and release().</a:t>
            </a:r>
          </a:p>
          <a:p xmlns:a="http://schemas.openxmlformats.org/drawingml/2006/main">
            <a:r>
              <a:t/>
            </a:r>
          </a:p>
          <a:p xmlns:a="http://schemas.openxmlformats.org/drawingml/2006/main">
            <a:r>
              <a:t>Design reference: Ferrer, Lance_P1_ppt.pdf. University emblem reused from its first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worker first acquires a semaphore permit without holding queue_mutex or status_mutex. The first shown scope removes exactly one queue item while holding queue_mutex. The guard releases that lock at the closing brace. A separate scope updates the instance's active_party and invokes the observer under status_mutex, so a snapshot cannot mix partial state changes. The sleep call occurs after that scope has ended. Completion uses another short status scope to clear the active party and update counts and service time. These application mutexes are never nested. The code shown uses the actual expressions, split across lines for readability. Sources: src/simulation.cpp, worker lambda; include/simulation.hpp, Options observer contract.</a:t>
            </a:r>
          </a:p>
          <a:p xmlns:a="http://schemas.openxmlformats.org/drawingml/2006/main">
            <a:r>
              <a:t/>
            </a:r>
          </a:p>
          <a:p xmlns:a="http://schemas.openxmlformats.org/drawingml/2006/main">
            <a:r>
              <a:t>Design reference: Ferrer, Lance_P1_ppt.pdf. University emblem reused from its first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hypothetical faulty designs, not behavior in the submitted implementation. In the first scenario, worker A holds queue_mutex and waits for status_mutex, while worker B holds status_mutex and waits for queue_mutex. Neither can release its first lock because each is waiting for the other, producing circular wait. In the second scenario, workers call acquire after real jobs are exhausted but no properly signaled shutdown markers exist. They can wait forever while main waits in join. An item without a matching permit can also leave queued work unreachable. A count that includes markers but omits them from the queue would instead risk invalid queue access. The implementation avoids these cases by separating lock scopes and constructing jobs, markers, and permits before launching workers. Source for actual safeguards: src/simulation.cpp.</a:t>
            </a:r>
          </a:p>
          <a:p xmlns:a="http://schemas.openxmlformats.org/drawingml/2006/main">
            <a:r>
              <a:t/>
            </a:r>
          </a:p>
          <a:p xmlns:a="http://schemas.openxmlformats.org/drawingml/2006/main">
            <a:r>
              <a:t>Design reference: Ferrer, Lance_P1_ppt.pdf. University emblem reused from its first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breaks the circular-wait pattern by never holding queue_mutex and status_mutex together. Scope-based guards also release locks when exceptions unwind. Workers acquire permits outside these scopes and sleep outside them. The main thread forms complete parties before starting workers, so no player thread holds one role while waiting for other roles to arrive. Each queued item receives one permit. All real jobs precede the n shutdown markers. A marker lets one worker exit, and there are enough markers for every worker. Joining then completes after the finite work finishes. These arguments assume ordinary OS scheduling and functioning synchronization. The injected sleeper and observer are testing hooks: the actual observer only prints, and custom observers must not wait for worker progress while holding the status mutex. Sources: src/simulation.cpp; include/simulation.hpp.</a:t>
            </a:r>
          </a:p>
          <a:p xmlns:a="http://schemas.openxmlformats.org/drawingml/2006/main">
            <a:r>
              <a:t/>
            </a:r>
          </a:p>
          <a:p xmlns:a="http://schemas.openxmlformats.org/drawingml/2006/main">
            <a:r>
              <a:t>Design reference: Ferrer, Lance_P1_ppt.pdf. University emblem reused from its first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Starvation means an eligible participant waits indefinitely while other work continues. A generic risk is an unfair scheduling or lock-acquisition policy that repeatedly bypasses a waiting worker. Standard mutexes and condition variables do not promise FIFO waiter selection. This simulation addresses party-level fairness with FIFO role IDs and a finite FIFO job queue. Each valid party has finitely many predecessors, all runs have bounded assigned duration, and new arrivals cannot keep overtaking it because there are no new arrivals. Eventual completion assumes runnable threads receive CPU time and lock acquisition makes progress. The program does not promise equal work per instance or FIFO semaphore wakeups. One remaining tank and one DPS in the example cannot form another party, so they are unmatched rather than eligible players starved by the algorithm. Sources: specs.md; src/simulation.cpp; README.md, Synchronization and fairness.</a:t>
            </a:r>
          </a:p>
          <a:p xmlns:a="http://schemas.openxmlformats.org/drawingml/2006/main">
            <a:r>
              <a:t/>
            </a:r>
          </a:p>
          <a:p xmlns:a="http://schemas.openxmlformats.org/drawingml/2006/main">
            <a:r>
              <a:t>Design reference: Ferrer, Lance_P1_ppt.pdf. University emblem reused from its first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std::optional&lt;Party&gt; distinguishes real jobs from shutdown markers. A populated optional is a party; std::nullopt tells the worker to exit. Main appends exactly n markers after every party job and includes them in the semaphore permit count. Workers may exit while other workers are still finishing parties, but main joins every thread before the final status and summary. Marker consumption is not tied to a particular instance ID. During exceptional cleanup, the atomic cancelled flag tells workers to stop claiming work. A worker stores the first exception under the status mutex. Main joins workers and rethrows that exception. If thread creation fails partway through, already-created workers are cancelled and joined. An already-running sleep can finish before cleanup returns. Source: src/simulation.cpp, job construction, worker catch block, thread creation catch block, and join loop.</a:t>
            </a:r>
          </a:p>
          <a:p xmlns:a="http://schemas.openxmlformats.org/drawingml/2006/main">
            <a:r>
              <a:t/>
            </a:r>
          </a:p>
          <a:p xmlns:a="http://schemas.openxmlformats.org/drawingml/2006/main">
            <a:r>
              <a:t>Design reference: Ferrer, Lance_P1_ppt.pdf. University emblem reused from its first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actual output captured from the freshly compiled GCC executable using 2 4 3 10 1 1. It creates three complete parties. The two active lines come from the snapshot when party 2 starts, proving both instances were active at once in this captured run. Party 3 later runs in instance 1. The captured summary gives instance 1 two parties and two seconds of service, and instance 2 one party and one second. These instance assignments are one observed schedule and can vary in another execution. The total assigned service time is three seconds, while the instances can overlap in wall time. One tank and one DPS remain without enough complementary roles. The excerpts add line breaks only to fit the slide. Source: .presentation-work/example-output.txt, captured input and real executable output.</a:t>
            </a:r>
          </a:p>
          <a:p xmlns:a="http://schemas.openxmlformats.org/drawingml/2006/main">
            <a:r>
              <a:t/>
            </a:r>
          </a:p>
          <a:p xmlns:a="http://schemas.openxmlformats.org/drawingml/2006/main">
            <a:r>
              <a:t>Design reference: Ferrer, Lance_P1_ppt.pdf. University emblem reused from its first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test sources were compiled and run with the new GCC toolchain for this presentation. All seven C++ test groups passed: input validation, queue scenarios and statistics, seeded random durations, concurrent dungeon runs, counting semaphore, status and summary output, and worker error cleanup. The existing CLI CMake script also passed all eight checks against the fresh executable. A controlled sleeper forces the first three workers to overlap, so the concurrency test detects accidental serialization. Semaphore tests check blocked acquirers and exact permit accounting. Tests alone do not prove universal deadlock or starvation freedom; the lock and termination arguments support those claims under the stated progress assumptions. The design separates capacity, job availability, and exclusive state access. Sources: tests/tests.cpp; tests/cli.cmake; captured validation results for this deck.</a:t>
            </a:r>
          </a:p>
          <a:p xmlns:a="http://schemas.openxmlformats.org/drawingml/2006/main">
            <a:r>
              <a:t/>
            </a:r>
          </a:p>
          <a:p xmlns:a="http://schemas.openxmlformats.org/drawingml/2006/main">
            <a:r>
              <a:t>Design reference: Ferrer, Lance_P1_ppt.pdf. University emblem reused from its first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f614ca5a8c4bd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ddb234291ba4c3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d09545b487a43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49fda15630e4f0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dceb52efb143e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24eaff112a49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E12226-598A-4822-8336-DEB66C4EA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38F83A-5FB7-4519-BAC9-4DC45CA102D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365A596-C29B-4FA7-B1A8-087E0368DA2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FD677A-3ED5-4ECE-A41E-6190985CEF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C961F7D-877A-43CD-BC82-34707C55ED4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C6FACEE-9248-4CF0-BF14-CC4427DCDC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2E5988-6D98-41C5-A6E6-9767548993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2E5914-379C-4138-BB7D-13A4E02944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3F7E73-38BE-4738-83C4-C8CB70CA48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9B4296-8282-48F7-AC19-6111A5B8BEE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8a9beb023e49ca" /><Relationship Type="http://schemas.openxmlformats.org/officeDocument/2006/relationships/slideLayout" Target="/ppt/slideLayouts/slideLayout1.xml" Id="Ra4c224b7db384388" /><Relationship Type="http://schemas.openxmlformats.org/officeDocument/2006/relationships/slideLayout" Target="/ppt/slideLayouts/slideLayout2.xml" Id="R9a8caa173fa24303" /><Relationship Type="http://schemas.openxmlformats.org/officeDocument/2006/relationships/slideLayout" Target="/ppt/slideLayouts/slideLayout3.xml" Id="Rf8720e3bebdb42e7" /><Relationship Type="http://schemas.openxmlformats.org/officeDocument/2006/relationships/slideLayout" Target="/ppt/slideLayouts/slideLayout4.xml" Id="R1cbc780c42474657" /><Relationship Type="http://schemas.openxmlformats.org/officeDocument/2006/relationships/slideLayout" Target="/ppt/slideLayouts/slideLayout5.xml" Id="Rca382f571e7d43e9" /><Relationship Type="http://schemas.openxmlformats.org/officeDocument/2006/relationships/slideLayout" Target="/ppt/slideLayouts/slideLayout6.xml" Id="Rd4bd361387b849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c224b7db384388"/>
    <p:sldLayoutId xmlns:r="http://schemas.openxmlformats.org/officeDocument/2006/relationships" id="2147483650" r:id="R9a8caa173fa24303"/>
    <p:sldLayoutId xmlns:r="http://schemas.openxmlformats.org/officeDocument/2006/relationships" id="2147483651" r:id="Rf8720e3bebdb42e7"/>
    <p:sldLayoutId xmlns:r="http://schemas.openxmlformats.org/officeDocument/2006/relationships" id="2147483652" r:id="R1cbc780c42474657"/>
    <p:sldLayoutId xmlns:r="http://schemas.openxmlformats.org/officeDocument/2006/relationships" id="2147483653" r:id="Rca382f571e7d43e9"/>
    <p:sldLayoutId xmlns:r="http://schemas.openxmlformats.org/officeDocument/2006/relationships" id="2147483654" r:id="Rd4bd361387b849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7c8ec98c9224dcd" /><Relationship Type="http://schemas.openxmlformats.org/officeDocument/2006/relationships/image" Target="/ppt/media/image.png" Id="Ra3dd87694e4547c1" /><Relationship Type="http://schemas.openxmlformats.org/officeDocument/2006/relationships/notesSlide" Target="/ppt/notesSlides/notesSlide1.xml" Id="R09a7c7b7556d40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f7ad304d4764416" /><Relationship Type="http://schemas.openxmlformats.org/officeDocument/2006/relationships/image" Target="/ppt/media/image2.png" Id="R756587d552d84a5d" /><Relationship Type="http://schemas.openxmlformats.org/officeDocument/2006/relationships/notesSlide" Target="/ppt/notesSlides/notesSlide2.xml" Id="Rfa4ce4ee6d7542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f21fed82f7d4a62" /><Relationship Type="http://schemas.openxmlformats.org/officeDocument/2006/relationships/image" Target="/ppt/media/image3.png" Id="Rd2ecb31655cb41a8" /><Relationship Type="http://schemas.openxmlformats.org/officeDocument/2006/relationships/notesSlide" Target="/ppt/notesSlides/notesSlide3.xml" Id="Rea842e7532e949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4acb70546f1465a" /><Relationship Type="http://schemas.openxmlformats.org/officeDocument/2006/relationships/image" Target="/ppt/media/image4.png" Id="R1382c70a5fb64fc9" /><Relationship Type="http://schemas.openxmlformats.org/officeDocument/2006/relationships/notesSlide" Target="/ppt/notesSlides/notesSlide4.xml" Id="R948c3b7639fa44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5f70902b7614ba8" /><Relationship Type="http://schemas.openxmlformats.org/officeDocument/2006/relationships/image" Target="/ppt/media/image5.png" Id="R59adb335482a44b5" /><Relationship Type="http://schemas.openxmlformats.org/officeDocument/2006/relationships/notesSlide" Target="/ppt/notesSlides/notesSlide5.xml" Id="R46acabebba3443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4526c7ddcf94975" /><Relationship Type="http://schemas.openxmlformats.org/officeDocument/2006/relationships/image" Target="/ppt/media/image6.png" Id="Rd7824546c31b48bf" /><Relationship Type="http://schemas.openxmlformats.org/officeDocument/2006/relationships/notesSlide" Target="/ppt/notesSlides/notesSlide6.xml" Id="R14d51b30a000493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7d654674f0a4435" /><Relationship Type="http://schemas.openxmlformats.org/officeDocument/2006/relationships/image" Target="/ppt/media/image7.png" Id="R6f78efd6c49a474e" /><Relationship Type="http://schemas.openxmlformats.org/officeDocument/2006/relationships/notesSlide" Target="/ppt/notesSlides/notesSlide7.xml" Id="Rc85b6efa85244a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76c010ff21c426f" /><Relationship Type="http://schemas.openxmlformats.org/officeDocument/2006/relationships/image" Target="/ppt/media/image8.png" Id="R3350f4f982bc4278" /><Relationship Type="http://schemas.openxmlformats.org/officeDocument/2006/relationships/notesSlide" Target="/ppt/notesSlides/notesSlide8.xml" Id="R2535f8b72fc54d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a021448843343a9" /><Relationship Type="http://schemas.openxmlformats.org/officeDocument/2006/relationships/image" Target="/ppt/media/image9.png" Id="R81f82e97368a434c" /><Relationship Type="http://schemas.openxmlformats.org/officeDocument/2006/relationships/notesSlide" Target="/ppt/notesSlides/notesSlide9.xml" Id="Rda69a70fddea4f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c26f404c78842af" /><Relationship Type="http://schemas.openxmlformats.org/officeDocument/2006/relationships/image" Target="/ppt/media/image10.png" Id="R03e8bf59645444c0" /><Relationship Type="http://schemas.openxmlformats.org/officeDocument/2006/relationships/notesSlide" Target="/ppt/notesSlides/notesSlide10.xml" Id="R0a7a88b7fdf342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5a54ccae0034643" /><Relationship Type="http://schemas.openxmlformats.org/officeDocument/2006/relationships/image" Target="/ppt/media/image11.png" Id="Rca71729c942a4539" /><Relationship Type="http://schemas.openxmlformats.org/officeDocument/2006/relationships/notesSlide" Target="/ppt/notesSlides/notesSlide11.xml" Id="R2ff8c713945541d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b38c0347c544e0c" /><Relationship Type="http://schemas.openxmlformats.org/officeDocument/2006/relationships/image" Target="/ppt/media/image12.png" Id="R9bc09474b0844ac6" /><Relationship Type="http://schemas.openxmlformats.org/officeDocument/2006/relationships/notesSlide" Target="/ppt/notesSlides/notesSlide12.xml" Id="R9306d52f92c4456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75dd2eaf1f346ea" /><Relationship Type="http://schemas.openxmlformats.org/officeDocument/2006/relationships/image" Target="/ppt/media/image13.png" Id="R311391b846944e86" /><Relationship Type="http://schemas.openxmlformats.org/officeDocument/2006/relationships/notesSlide" Target="/ppt/notesSlides/notesSlide13.xml" Id="R9421b514664f415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d82248b7a1548f9" /><Relationship Type="http://schemas.openxmlformats.org/officeDocument/2006/relationships/image" Target="/ppt/media/image14.png" Id="Ree96ca513d8a49b7" /><Relationship Type="http://schemas.openxmlformats.org/officeDocument/2006/relationships/notesSlide" Target="/ppt/notesSlides/notesSlide14.xml" Id="R95f2d6b31a1742d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2f7ecff65de4b9c" /><Relationship Type="http://schemas.openxmlformats.org/officeDocument/2006/relationships/image" Target="/ppt/media/image15.png" Id="Rfc203c7372994a33" /><Relationship Type="http://schemas.openxmlformats.org/officeDocument/2006/relationships/notesSlide" Target="/ppt/notesSlides/notesSlide15.xml" Id="Rff496a55642d41f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F546E902-DA37-49DA-87B9-19112BE7905E}"/>
              </a:ext>
            </a:extLst>
          </p:cNvPr>
          <p:cNvSpPr>
            <a:spLocks xmlns:a="http://schemas.openxmlformats.org/drawingml/2006/main" noGrp="1"/>
          </p:cNvSpPr>
          <p:nvPr/>
        </p:nvSpPr>
        <p:spPr>
          <a:xfrm xmlns:a="http://schemas.openxmlformats.org/drawingml/2006/main">
            <a:off x="533400" y="361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51515"/>
                </a:solidFill>
                <a:latin typeface="Times New Roman"/>
                <a:ea typeface="Times New Roman"/>
                <a:cs typeface="Times New Roman"/>
              </a:defRPr>
            </a:defPPr>
            <a:lvl1pPr algn="l">
              <a:defRPr sz="3300" b="0">
                <a:solidFill>
                  <a:srgbClr val="151515"/>
                </a:solidFill>
                <a:latin typeface="Times New Roman"/>
                <a:ea typeface="Times New Roman"/>
                <a:cs typeface="Times New Roman"/>
              </a:defRPr>
            </a:lvl1pPr>
            <a:lvl2pPr algn="l">
              <a:defRPr sz="3300" b="0">
                <a:solidFill>
                  <a:srgbClr val="151515"/>
                </a:solidFill>
                <a:latin typeface="Times New Roman"/>
                <a:ea typeface="Times New Roman"/>
                <a:cs typeface="Times New Roman"/>
              </a:defRPr>
            </a:lvl2pPr>
            <a:lvl3pPr algn="l">
              <a:defRPr sz="3300" b="0">
                <a:solidFill>
                  <a:srgbClr val="151515"/>
                </a:solidFill>
                <a:latin typeface="Times New Roman"/>
                <a:ea typeface="Times New Roman"/>
                <a:cs typeface="Times New Roman"/>
              </a:defRPr>
            </a:lvl3pPr>
            <a:lvl4pPr algn="l">
              <a:defRPr sz="3300" b="0">
                <a:solidFill>
                  <a:srgbClr val="151515"/>
                </a:solidFill>
                <a:latin typeface="Times New Roman"/>
                <a:ea typeface="Times New Roman"/>
                <a:cs typeface="Times New Roman"/>
              </a:defRPr>
            </a:lvl4pPr>
            <a:lvl5pPr algn="l">
              <a:defRPr sz="3300" b="0">
                <a:solidFill>
                  <a:srgbClr val="151515"/>
                </a:solidFill>
                <a:latin typeface="Times New Roman"/>
                <a:ea typeface="Times New Roman"/>
                <a:cs typeface="Times New Roman"/>
              </a:defRPr>
            </a:lvl5pPr>
            <a:lvl6pPr algn="l">
              <a:defRPr sz="3300" b="0">
                <a:solidFill>
                  <a:srgbClr val="151515"/>
                </a:solidFill>
                <a:latin typeface="Times New Roman"/>
                <a:ea typeface="Times New Roman"/>
                <a:cs typeface="Times New Roman"/>
              </a:defRPr>
            </a:lvl6pPr>
            <a:lvl7pPr algn="l">
              <a:defRPr sz="3300" b="0">
                <a:solidFill>
                  <a:srgbClr val="151515"/>
                </a:solidFill>
                <a:latin typeface="Times New Roman"/>
                <a:ea typeface="Times New Roman"/>
                <a:cs typeface="Times New Roman"/>
              </a:defRPr>
            </a:lvl7pPr>
            <a:lvl8pPr algn="l">
              <a:defRPr sz="3300" b="0">
                <a:solidFill>
                  <a:srgbClr val="151515"/>
                </a:solidFill>
                <a:latin typeface="Times New Roman"/>
                <a:ea typeface="Times New Roman"/>
                <a:cs typeface="Times New Roman"/>
              </a:defRPr>
            </a:lvl8pPr>
            <a:lvl9pPr algn="l">
              <a:defRPr sz="3300" b="0">
                <a:solidFill>
                  <a:srgbClr val="151515"/>
                </a:solidFill>
                <a:latin typeface="Times New Roman"/>
                <a:ea typeface="Times New Roman"/>
                <a:cs typeface="Times New Roman"/>
              </a:defRPr>
            </a:lvl9pPr>
          </a:lstStyle>
          <a:p xmlns:a="http://schemas.openxmlformats.org/drawingml/2006/main">
            <a:r>
              <a:t/>
            </a:r>
          </a:p>
        </p:txBody>
      </p:sp>
      <p:pic>
        <p:nvPicPr>
          <p:cNvPr id="3" name="">
            <a:extLst xmlns:a="http://schemas.openxmlformats.org/drawingml/2006/main">
              <a:ext uri="{FF2B5EF4-FFF2-40B4-BE49-F238E27FC236}">
                <a16:creationId xmlns:a16="http://schemas.microsoft.com/office/drawing/2014/main" id="{A27F4D24-F9C7-4026-AA07-C40D24BEAED1}"/>
              </a:ext>
            </a:extLst>
          </p:cNvPr>
          <p:cNvPicPr>
            <a:picLocks xmlns:a="http://schemas.openxmlformats.org/drawingml/2006/main" noChangeAspect="1"/>
          </p:cNvPicPr>
          <p:nvPr/>
        </p:nvPicPr>
        <p:blipFill>
          <a:blip xmlns:r="http://schemas.openxmlformats.org/officeDocument/2006/relationships" xmlns:a="http://schemas.openxmlformats.org/drawingml/2006/main" r:embed="Ra3dd87694e4547c1"/>
          <a:stretch xmlns:a="http://schemas.openxmlformats.org/drawingml/2006/main"/>
        </p:blipFill>
        <p:spPr>
          <a:xfrm xmlns:a="http://schemas.openxmlformats.org/drawingml/2006/main">
            <a:off x="11458575" y="6238875"/>
            <a:ext cx="419100" cy="419100"/>
          </a:xfrm>
          <a:prstGeom xmlns:a="http://schemas.openxmlformats.org/drawingml/2006/main" prst="rect">
            <a:avLst/>
          </a:prstGeom>
        </p:spPr>
      </p:pic>
      <p:sp>
        <p:nvSpPr>
          <p:cNvPr id="4" name="text-1">
            <a:extLst xmlns:a="http://schemas.openxmlformats.org/drawingml/2006/main">
              <a:ext uri="{FF2B5EF4-FFF2-40B4-BE49-F238E27FC236}">
                <a16:creationId xmlns:a16="http://schemas.microsoft.com/office/drawing/2014/main" id="{7748BCE2-A2DC-42DF-8121-B83D5BE41B82}"/>
              </a:ext>
            </a:extLst>
          </p:cNvPr>
          <p:cNvSpPr>
            <a:spLocks xmlns:a="http://schemas.openxmlformats.org/drawingml/2006/main" noGrp="1"/>
          </p:cNvSpPr>
          <p:nvPr/>
        </p:nvSpPr>
        <p:spPr>
          <a:xfrm xmlns:a="http://schemas.openxmlformats.org/drawingml/2006/main">
            <a:off x="533400" y="64484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87644"/>
                </a:solidFill>
                <a:latin typeface="Times New Roman"/>
                <a:ea typeface="Times New Roman"/>
                <a:cs typeface="Times New Roman"/>
              </a:defRPr>
            </a:defPPr>
            <a:lvl1pPr algn="l">
              <a:defRPr sz="1275" b="0">
                <a:solidFill>
                  <a:srgbClr val="087644"/>
                </a:solidFill>
                <a:latin typeface="Times New Roman"/>
                <a:ea typeface="Times New Roman"/>
                <a:cs typeface="Times New Roman"/>
              </a:defRPr>
            </a:lvl1pPr>
            <a:lvl2pPr algn="l">
              <a:defRPr sz="1275" b="0">
                <a:solidFill>
                  <a:srgbClr val="087644"/>
                </a:solidFill>
                <a:latin typeface="Times New Roman"/>
                <a:ea typeface="Times New Roman"/>
                <a:cs typeface="Times New Roman"/>
              </a:defRPr>
            </a:lvl2pPr>
            <a:lvl3pPr algn="l">
              <a:defRPr sz="1275" b="0">
                <a:solidFill>
                  <a:srgbClr val="087644"/>
                </a:solidFill>
                <a:latin typeface="Times New Roman"/>
                <a:ea typeface="Times New Roman"/>
                <a:cs typeface="Times New Roman"/>
              </a:defRPr>
            </a:lvl3pPr>
            <a:lvl4pPr algn="l">
              <a:defRPr sz="1275" b="0">
                <a:solidFill>
                  <a:srgbClr val="087644"/>
                </a:solidFill>
                <a:latin typeface="Times New Roman"/>
                <a:ea typeface="Times New Roman"/>
                <a:cs typeface="Times New Roman"/>
              </a:defRPr>
            </a:lvl4pPr>
            <a:lvl5pPr algn="l">
              <a:defRPr sz="1275" b="0">
                <a:solidFill>
                  <a:srgbClr val="087644"/>
                </a:solidFill>
                <a:latin typeface="Times New Roman"/>
                <a:ea typeface="Times New Roman"/>
                <a:cs typeface="Times New Roman"/>
              </a:defRPr>
            </a:lvl5pPr>
            <a:lvl6pPr algn="l">
              <a:defRPr sz="1275" b="0">
                <a:solidFill>
                  <a:srgbClr val="087644"/>
                </a:solidFill>
                <a:latin typeface="Times New Roman"/>
                <a:ea typeface="Times New Roman"/>
                <a:cs typeface="Times New Roman"/>
              </a:defRPr>
            </a:lvl6pPr>
            <a:lvl7pPr algn="l">
              <a:defRPr sz="1275" b="0">
                <a:solidFill>
                  <a:srgbClr val="087644"/>
                </a:solidFill>
                <a:latin typeface="Times New Roman"/>
                <a:ea typeface="Times New Roman"/>
                <a:cs typeface="Times New Roman"/>
              </a:defRPr>
            </a:lvl7pPr>
            <a:lvl8pPr algn="l">
              <a:defRPr sz="1275" b="0">
                <a:solidFill>
                  <a:srgbClr val="087644"/>
                </a:solidFill>
                <a:latin typeface="Times New Roman"/>
                <a:ea typeface="Times New Roman"/>
                <a:cs typeface="Times New Roman"/>
              </a:defRPr>
            </a:lvl8pPr>
            <a:lvl9pPr algn="l">
              <a:defRPr sz="1275" b="0">
                <a:solidFill>
                  <a:srgbClr val="087644"/>
                </a:solidFill>
                <a:latin typeface="Times New Roman"/>
                <a:ea typeface="Times New Roman"/>
                <a:cs typeface="Times New Roman"/>
              </a:defRPr>
            </a:lvl9pPr>
          </a:lstStyle>
          <a:p xmlns:a="http://schemas.openxmlformats.org/drawingml/2006/main">
            <a:pPr algn="l">
              <a:lnSpc>
                <a:spcPct val="112000"/>
              </a:lnSpc>
              <a:buNone/>
              <a:defRPr sz="1275" b="0">
                <a:solidFill>
                  <a:srgbClr val="087644"/>
                </a:solidFill>
                <a:latin typeface="Times New Roman"/>
                <a:ea typeface="Times New Roman"/>
                <a:cs typeface="Times New Roman"/>
              </a:defRPr>
            </a:pPr>
            <a:r>
              <a:rPr sz="1275" b="0">
                <a:solidFill>
                  <a:srgbClr val="087644"/>
                </a:solidFill>
                <a:latin typeface="Times New Roman"/>
                <a:ea typeface="Times New Roman"/>
                <a:cs typeface="Times New Roman"/>
              </a:rPr>
              <a:t>01</a:t>
            </a:r>
          </a:p>
        </p:txBody>
      </p:sp>
      <p:sp>
        <p:nvSpPr>
          <p:cNvPr id="5" name="text-2">
            <a:extLst xmlns:a="http://schemas.openxmlformats.org/drawingml/2006/main">
              <a:ext uri="{FF2B5EF4-FFF2-40B4-BE49-F238E27FC236}">
                <a16:creationId xmlns:a16="http://schemas.microsoft.com/office/drawing/2014/main" id="{AE5984CC-1DA3-4042-87DC-79C0C08C24E1}"/>
              </a:ext>
            </a:extLst>
          </p:cNvPr>
          <p:cNvSpPr>
            <a:spLocks xmlns:a="http://schemas.openxmlformats.org/drawingml/2006/main" noGrp="1"/>
          </p:cNvSpPr>
          <p:nvPr/>
        </p:nvSpPr>
        <p:spPr>
          <a:xfrm xmlns:a="http://schemas.openxmlformats.org/drawingml/2006/main">
            <a:off x="1047750" y="1314450"/>
            <a:ext cx="1009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750" b="1">
                <a:solidFill>
                  <a:srgbClr val="151515"/>
                </a:solidFill>
                <a:latin typeface="Times New Roman"/>
                <a:ea typeface="Times New Roman"/>
                <a:cs typeface="Times New Roman"/>
              </a:defRPr>
            </a:defPPr>
            <a:lvl1pPr algn="ctr">
              <a:defRPr sz="3750" b="1">
                <a:solidFill>
                  <a:srgbClr val="151515"/>
                </a:solidFill>
                <a:latin typeface="Times New Roman"/>
                <a:ea typeface="Times New Roman"/>
                <a:cs typeface="Times New Roman"/>
              </a:defRPr>
            </a:lvl1pPr>
            <a:lvl2pPr algn="ctr">
              <a:defRPr sz="3750" b="1">
                <a:solidFill>
                  <a:srgbClr val="151515"/>
                </a:solidFill>
                <a:latin typeface="Times New Roman"/>
                <a:ea typeface="Times New Roman"/>
                <a:cs typeface="Times New Roman"/>
              </a:defRPr>
            </a:lvl2pPr>
            <a:lvl3pPr algn="ctr">
              <a:defRPr sz="3750" b="1">
                <a:solidFill>
                  <a:srgbClr val="151515"/>
                </a:solidFill>
                <a:latin typeface="Times New Roman"/>
                <a:ea typeface="Times New Roman"/>
                <a:cs typeface="Times New Roman"/>
              </a:defRPr>
            </a:lvl3pPr>
            <a:lvl4pPr algn="ctr">
              <a:defRPr sz="3750" b="1">
                <a:solidFill>
                  <a:srgbClr val="151515"/>
                </a:solidFill>
                <a:latin typeface="Times New Roman"/>
                <a:ea typeface="Times New Roman"/>
                <a:cs typeface="Times New Roman"/>
              </a:defRPr>
            </a:lvl4pPr>
            <a:lvl5pPr algn="ctr">
              <a:defRPr sz="3750" b="1">
                <a:solidFill>
                  <a:srgbClr val="151515"/>
                </a:solidFill>
                <a:latin typeface="Times New Roman"/>
                <a:ea typeface="Times New Roman"/>
                <a:cs typeface="Times New Roman"/>
              </a:defRPr>
            </a:lvl5pPr>
            <a:lvl6pPr algn="ctr">
              <a:defRPr sz="3750" b="1">
                <a:solidFill>
                  <a:srgbClr val="151515"/>
                </a:solidFill>
                <a:latin typeface="Times New Roman"/>
                <a:ea typeface="Times New Roman"/>
                <a:cs typeface="Times New Roman"/>
              </a:defRPr>
            </a:lvl6pPr>
            <a:lvl7pPr algn="ctr">
              <a:defRPr sz="3750" b="1">
                <a:solidFill>
                  <a:srgbClr val="151515"/>
                </a:solidFill>
                <a:latin typeface="Times New Roman"/>
                <a:ea typeface="Times New Roman"/>
                <a:cs typeface="Times New Roman"/>
              </a:defRPr>
            </a:lvl7pPr>
            <a:lvl8pPr algn="ctr">
              <a:defRPr sz="3750" b="1">
                <a:solidFill>
                  <a:srgbClr val="151515"/>
                </a:solidFill>
                <a:latin typeface="Times New Roman"/>
                <a:ea typeface="Times New Roman"/>
                <a:cs typeface="Times New Roman"/>
              </a:defRPr>
            </a:lvl8pPr>
            <a:lvl9pPr algn="ctr">
              <a:defRPr sz="3750" b="1">
                <a:solidFill>
                  <a:srgbClr val="151515"/>
                </a:solidFill>
                <a:latin typeface="Times New Roman"/>
                <a:ea typeface="Times New Roman"/>
                <a:cs typeface="Times New Roman"/>
              </a:defRPr>
            </a:lvl9pPr>
          </a:lstStyle>
          <a:p xmlns:a="http://schemas.openxmlformats.org/drawingml/2006/main">
            <a:pPr algn="ctr">
              <a:lnSpc>
                <a:spcPct val="112000"/>
              </a:lnSpc>
              <a:buNone/>
              <a:defRPr sz="3750" b="1">
                <a:solidFill>
                  <a:srgbClr val="151515"/>
                </a:solidFill>
                <a:latin typeface="Times New Roman"/>
                <a:ea typeface="Times New Roman"/>
                <a:cs typeface="Times New Roman"/>
              </a:defRPr>
            </a:pPr>
            <a:r>
              <a:rPr sz="3750" b="1">
                <a:solidFill>
                  <a:srgbClr val="151515"/>
                </a:solidFill>
                <a:latin typeface="Times New Roman"/>
                <a:ea typeface="Times New Roman"/>
                <a:cs typeface="Times New Roman"/>
              </a:rPr>
              <a:t>P2</a:t>
            </a:r>
          </a:p>
        </p:txBody>
      </p:sp>
      <p:sp>
        <p:nvSpPr>
          <p:cNvPr id="6" name="text-3">
            <a:extLst xmlns:a="http://schemas.openxmlformats.org/drawingml/2006/main">
              <a:ext uri="{FF2B5EF4-FFF2-40B4-BE49-F238E27FC236}">
                <a16:creationId xmlns:a16="http://schemas.microsoft.com/office/drawing/2014/main" id="{11FFD05E-AAF5-4C11-A2B5-3999A3DFA0B4}"/>
              </a:ext>
            </a:extLst>
          </p:cNvPr>
          <p:cNvSpPr>
            <a:spLocks xmlns:a="http://schemas.openxmlformats.org/drawingml/2006/main" noGrp="1"/>
          </p:cNvSpPr>
          <p:nvPr/>
        </p:nvSpPr>
        <p:spPr>
          <a:xfrm xmlns:a="http://schemas.openxmlformats.org/drawingml/2006/main">
            <a:off x="1238250" y="2457450"/>
            <a:ext cx="9715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4350" b="0">
                <a:solidFill>
                  <a:srgbClr val="151515"/>
                </a:solidFill>
                <a:latin typeface="Times New Roman"/>
                <a:ea typeface="Times New Roman"/>
                <a:cs typeface="Times New Roman"/>
              </a:defRPr>
            </a:defPPr>
            <a:lvl1pPr algn="ctr">
              <a:defRPr sz="4350" b="0">
                <a:solidFill>
                  <a:srgbClr val="151515"/>
                </a:solidFill>
                <a:latin typeface="Times New Roman"/>
                <a:ea typeface="Times New Roman"/>
                <a:cs typeface="Times New Roman"/>
              </a:defRPr>
            </a:lvl1pPr>
            <a:lvl2pPr algn="ctr">
              <a:defRPr sz="4350" b="0">
                <a:solidFill>
                  <a:srgbClr val="151515"/>
                </a:solidFill>
                <a:latin typeface="Times New Roman"/>
                <a:ea typeface="Times New Roman"/>
                <a:cs typeface="Times New Roman"/>
              </a:defRPr>
            </a:lvl2pPr>
            <a:lvl3pPr algn="ctr">
              <a:defRPr sz="4350" b="0">
                <a:solidFill>
                  <a:srgbClr val="151515"/>
                </a:solidFill>
                <a:latin typeface="Times New Roman"/>
                <a:ea typeface="Times New Roman"/>
                <a:cs typeface="Times New Roman"/>
              </a:defRPr>
            </a:lvl3pPr>
            <a:lvl4pPr algn="ctr">
              <a:defRPr sz="4350" b="0">
                <a:solidFill>
                  <a:srgbClr val="151515"/>
                </a:solidFill>
                <a:latin typeface="Times New Roman"/>
                <a:ea typeface="Times New Roman"/>
                <a:cs typeface="Times New Roman"/>
              </a:defRPr>
            </a:lvl4pPr>
            <a:lvl5pPr algn="ctr">
              <a:defRPr sz="4350" b="0">
                <a:solidFill>
                  <a:srgbClr val="151515"/>
                </a:solidFill>
                <a:latin typeface="Times New Roman"/>
                <a:ea typeface="Times New Roman"/>
                <a:cs typeface="Times New Roman"/>
              </a:defRPr>
            </a:lvl5pPr>
            <a:lvl6pPr algn="ctr">
              <a:defRPr sz="4350" b="0">
                <a:solidFill>
                  <a:srgbClr val="151515"/>
                </a:solidFill>
                <a:latin typeface="Times New Roman"/>
                <a:ea typeface="Times New Roman"/>
                <a:cs typeface="Times New Roman"/>
              </a:defRPr>
            </a:lvl6pPr>
            <a:lvl7pPr algn="ctr">
              <a:defRPr sz="4350" b="0">
                <a:solidFill>
                  <a:srgbClr val="151515"/>
                </a:solidFill>
                <a:latin typeface="Times New Roman"/>
                <a:ea typeface="Times New Roman"/>
                <a:cs typeface="Times New Roman"/>
              </a:defRPr>
            </a:lvl7pPr>
            <a:lvl8pPr algn="ctr">
              <a:defRPr sz="4350" b="0">
                <a:solidFill>
                  <a:srgbClr val="151515"/>
                </a:solidFill>
                <a:latin typeface="Times New Roman"/>
                <a:ea typeface="Times New Roman"/>
                <a:cs typeface="Times New Roman"/>
              </a:defRPr>
            </a:lvl8pPr>
            <a:lvl9pPr algn="ctr">
              <a:defRPr sz="4350" b="0">
                <a:solidFill>
                  <a:srgbClr val="151515"/>
                </a:solidFill>
                <a:latin typeface="Times New Roman"/>
                <a:ea typeface="Times New Roman"/>
                <a:cs typeface="Times New Roman"/>
              </a:defRPr>
            </a:lvl9pPr>
          </a:lstStyle>
          <a:p xmlns:a="http://schemas.openxmlformats.org/drawingml/2006/main">
            <a:pPr algn="ctr">
              <a:lnSpc>
                <a:spcPct val="112000"/>
              </a:lnSpc>
              <a:buNone/>
              <a:defRPr sz="4350" b="0">
                <a:solidFill>
                  <a:srgbClr val="151515"/>
                </a:solidFill>
                <a:latin typeface="Times New Roman"/>
                <a:ea typeface="Times New Roman"/>
                <a:cs typeface="Times New Roman"/>
              </a:defRPr>
            </a:pPr>
            <a:r>
              <a:rPr sz="4350" b="0">
                <a:solidFill>
                  <a:srgbClr val="151515"/>
                </a:solidFill>
                <a:latin typeface="Times New Roman"/>
                <a:ea typeface="Times New Roman"/>
                <a:cs typeface="Times New Roman"/>
              </a:rPr>
              <a:t>LFG Dungeon Queue</a:t>
            </a:r>
          </a:p>
          <a:p xmlns:a="http://schemas.openxmlformats.org/drawingml/2006/main">
            <a:pPr algn="ctr">
              <a:lnSpc>
                <a:spcPct val="112000"/>
              </a:lnSpc>
              <a:buNone/>
              <a:defRPr sz="4350" b="0">
                <a:solidFill>
                  <a:srgbClr val="151515"/>
                </a:solidFill>
                <a:latin typeface="Times New Roman"/>
                <a:ea typeface="Times New Roman"/>
                <a:cs typeface="Times New Roman"/>
              </a:defRPr>
            </a:pPr>
            <a:r>
              <a:rPr sz="4350" b="0">
                <a:solidFill>
                  <a:srgbClr val="151515"/>
                </a:solidFill>
                <a:latin typeface="Times New Roman"/>
                <a:ea typeface="Times New Roman"/>
                <a:cs typeface="Times New Roman"/>
              </a:rPr>
              <a:t>Synchronization</a:t>
            </a:r>
          </a:p>
        </p:txBody>
      </p:sp>
      <p:sp>
        <p:nvSpPr>
          <p:cNvPr id="7" name="text-4">
            <a:extLst xmlns:a="http://schemas.openxmlformats.org/drawingml/2006/main">
              <a:ext uri="{FF2B5EF4-FFF2-40B4-BE49-F238E27FC236}">
                <a16:creationId xmlns:a16="http://schemas.microsoft.com/office/drawing/2014/main" id="{55BB19BE-B433-4555-9193-F8A285346F04}"/>
              </a:ext>
            </a:extLst>
          </p:cNvPr>
          <p:cNvSpPr>
            <a:spLocks xmlns:a="http://schemas.openxmlformats.org/drawingml/2006/main" noGrp="1"/>
          </p:cNvSpPr>
          <p:nvPr/>
        </p:nvSpPr>
        <p:spPr>
          <a:xfrm xmlns:a="http://schemas.openxmlformats.org/drawingml/2006/main">
            <a:off x="1238250" y="4200525"/>
            <a:ext cx="971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0">
                <a:solidFill>
                  <a:srgbClr val="087644"/>
                </a:solidFill>
                <a:latin typeface="Times New Roman"/>
                <a:ea typeface="Times New Roman"/>
                <a:cs typeface="Times New Roman"/>
              </a:defRPr>
            </a:defPPr>
            <a:lvl1pPr algn="ctr">
              <a:defRPr sz="2175" b="0">
                <a:solidFill>
                  <a:srgbClr val="087644"/>
                </a:solidFill>
                <a:latin typeface="Times New Roman"/>
                <a:ea typeface="Times New Roman"/>
                <a:cs typeface="Times New Roman"/>
              </a:defRPr>
            </a:lvl1pPr>
            <a:lvl2pPr algn="ctr">
              <a:defRPr sz="2175" b="0">
                <a:solidFill>
                  <a:srgbClr val="087644"/>
                </a:solidFill>
                <a:latin typeface="Times New Roman"/>
                <a:ea typeface="Times New Roman"/>
                <a:cs typeface="Times New Roman"/>
              </a:defRPr>
            </a:lvl2pPr>
            <a:lvl3pPr algn="ctr">
              <a:defRPr sz="2175" b="0">
                <a:solidFill>
                  <a:srgbClr val="087644"/>
                </a:solidFill>
                <a:latin typeface="Times New Roman"/>
                <a:ea typeface="Times New Roman"/>
                <a:cs typeface="Times New Roman"/>
              </a:defRPr>
            </a:lvl3pPr>
            <a:lvl4pPr algn="ctr">
              <a:defRPr sz="2175" b="0">
                <a:solidFill>
                  <a:srgbClr val="087644"/>
                </a:solidFill>
                <a:latin typeface="Times New Roman"/>
                <a:ea typeface="Times New Roman"/>
                <a:cs typeface="Times New Roman"/>
              </a:defRPr>
            </a:lvl4pPr>
            <a:lvl5pPr algn="ctr">
              <a:defRPr sz="2175" b="0">
                <a:solidFill>
                  <a:srgbClr val="087644"/>
                </a:solidFill>
                <a:latin typeface="Times New Roman"/>
                <a:ea typeface="Times New Roman"/>
                <a:cs typeface="Times New Roman"/>
              </a:defRPr>
            </a:lvl5pPr>
            <a:lvl6pPr algn="ctr">
              <a:defRPr sz="2175" b="0">
                <a:solidFill>
                  <a:srgbClr val="087644"/>
                </a:solidFill>
                <a:latin typeface="Times New Roman"/>
                <a:ea typeface="Times New Roman"/>
                <a:cs typeface="Times New Roman"/>
              </a:defRPr>
            </a:lvl6pPr>
            <a:lvl7pPr algn="ctr">
              <a:defRPr sz="2175" b="0">
                <a:solidFill>
                  <a:srgbClr val="087644"/>
                </a:solidFill>
                <a:latin typeface="Times New Roman"/>
                <a:ea typeface="Times New Roman"/>
                <a:cs typeface="Times New Roman"/>
              </a:defRPr>
            </a:lvl7pPr>
            <a:lvl8pPr algn="ctr">
              <a:defRPr sz="2175" b="0">
                <a:solidFill>
                  <a:srgbClr val="087644"/>
                </a:solidFill>
                <a:latin typeface="Times New Roman"/>
                <a:ea typeface="Times New Roman"/>
                <a:cs typeface="Times New Roman"/>
              </a:defRPr>
            </a:lvl8pPr>
            <a:lvl9pPr algn="ctr">
              <a:defRPr sz="2175" b="0">
                <a:solidFill>
                  <a:srgbClr val="087644"/>
                </a:solidFill>
                <a:latin typeface="Times New Roman"/>
                <a:ea typeface="Times New Roman"/>
                <a:cs typeface="Times New Roman"/>
              </a:defRPr>
            </a:lvl9pPr>
          </a:lstStyle>
          <a:p xmlns:a="http://schemas.openxmlformats.org/drawingml/2006/main">
            <a:pPr algn="ctr">
              <a:lnSpc>
                <a:spcPct val="112000"/>
              </a:lnSpc>
              <a:buNone/>
              <a:defRPr sz="2175" b="0">
                <a:solidFill>
                  <a:srgbClr val="087644"/>
                </a:solidFill>
                <a:latin typeface="Times New Roman"/>
                <a:ea typeface="Times New Roman"/>
                <a:cs typeface="Times New Roman"/>
              </a:defRPr>
            </a:pPr>
            <a:r>
              <a:rPr sz="2175" b="0">
                <a:solidFill>
                  <a:srgbClr val="087644"/>
                </a:solidFill>
                <a:latin typeface="Times New Roman"/>
                <a:ea typeface="Times New Roman"/>
                <a:cs typeface="Times New Roman"/>
              </a:rPr>
              <a:t>C++17</a:t>
            </a:r>
          </a:p>
        </p:txBody>
      </p:sp>
      <p:sp>
        <p:nvSpPr>
          <p:cNvPr id="8" name="text-5">
            <a:extLst xmlns:a="http://schemas.openxmlformats.org/drawingml/2006/main">
              <a:ext uri="{FF2B5EF4-FFF2-40B4-BE49-F238E27FC236}">
                <a16:creationId xmlns:a16="http://schemas.microsoft.com/office/drawing/2014/main" id="{6F80AEDF-731E-446F-B1F6-C55C5741D3CC}"/>
              </a:ext>
            </a:extLst>
          </p:cNvPr>
          <p:cNvSpPr>
            <a:spLocks xmlns:a="http://schemas.openxmlformats.org/drawingml/2006/main" noGrp="1"/>
          </p:cNvSpPr>
          <p:nvPr/>
        </p:nvSpPr>
        <p:spPr>
          <a:xfrm xmlns:a="http://schemas.openxmlformats.org/drawingml/2006/main">
            <a:off x="1238250" y="5295900"/>
            <a:ext cx="971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0">
                <a:solidFill>
                  <a:srgbClr val="151515"/>
                </a:solidFill>
                <a:latin typeface="Times New Roman"/>
                <a:ea typeface="Times New Roman"/>
                <a:cs typeface="Times New Roman"/>
              </a:defRPr>
            </a:defPPr>
            <a:lvl1pPr algn="ctr">
              <a:defRPr sz="2175" b="0">
                <a:solidFill>
                  <a:srgbClr val="151515"/>
                </a:solidFill>
                <a:latin typeface="Times New Roman"/>
                <a:ea typeface="Times New Roman"/>
                <a:cs typeface="Times New Roman"/>
              </a:defRPr>
            </a:lvl1pPr>
            <a:lvl2pPr algn="ctr">
              <a:defRPr sz="2175" b="0">
                <a:solidFill>
                  <a:srgbClr val="151515"/>
                </a:solidFill>
                <a:latin typeface="Times New Roman"/>
                <a:ea typeface="Times New Roman"/>
                <a:cs typeface="Times New Roman"/>
              </a:defRPr>
            </a:lvl2pPr>
            <a:lvl3pPr algn="ctr">
              <a:defRPr sz="2175" b="0">
                <a:solidFill>
                  <a:srgbClr val="151515"/>
                </a:solidFill>
                <a:latin typeface="Times New Roman"/>
                <a:ea typeface="Times New Roman"/>
                <a:cs typeface="Times New Roman"/>
              </a:defRPr>
            </a:lvl3pPr>
            <a:lvl4pPr algn="ctr">
              <a:defRPr sz="2175" b="0">
                <a:solidFill>
                  <a:srgbClr val="151515"/>
                </a:solidFill>
                <a:latin typeface="Times New Roman"/>
                <a:ea typeface="Times New Roman"/>
                <a:cs typeface="Times New Roman"/>
              </a:defRPr>
            </a:lvl4pPr>
            <a:lvl5pPr algn="ctr">
              <a:defRPr sz="2175" b="0">
                <a:solidFill>
                  <a:srgbClr val="151515"/>
                </a:solidFill>
                <a:latin typeface="Times New Roman"/>
                <a:ea typeface="Times New Roman"/>
                <a:cs typeface="Times New Roman"/>
              </a:defRPr>
            </a:lvl5pPr>
            <a:lvl6pPr algn="ctr">
              <a:defRPr sz="2175" b="0">
                <a:solidFill>
                  <a:srgbClr val="151515"/>
                </a:solidFill>
                <a:latin typeface="Times New Roman"/>
                <a:ea typeface="Times New Roman"/>
                <a:cs typeface="Times New Roman"/>
              </a:defRPr>
            </a:lvl6pPr>
            <a:lvl7pPr algn="ctr">
              <a:defRPr sz="2175" b="0">
                <a:solidFill>
                  <a:srgbClr val="151515"/>
                </a:solidFill>
                <a:latin typeface="Times New Roman"/>
                <a:ea typeface="Times New Roman"/>
                <a:cs typeface="Times New Roman"/>
              </a:defRPr>
            </a:lvl7pPr>
            <a:lvl8pPr algn="ctr">
              <a:defRPr sz="2175" b="0">
                <a:solidFill>
                  <a:srgbClr val="151515"/>
                </a:solidFill>
                <a:latin typeface="Times New Roman"/>
                <a:ea typeface="Times New Roman"/>
                <a:cs typeface="Times New Roman"/>
              </a:defRPr>
            </a:lvl8pPr>
            <a:lvl9pPr algn="ctr">
              <a:defRPr sz="2175" b="0">
                <a:solidFill>
                  <a:srgbClr val="151515"/>
                </a:solidFill>
                <a:latin typeface="Times New Roman"/>
                <a:ea typeface="Times New Roman"/>
                <a:cs typeface="Times New Roman"/>
              </a:defRPr>
            </a:lvl9pPr>
          </a:lstStyle>
          <a:p xmlns:a="http://schemas.openxmlformats.org/drawingml/2006/main">
            <a:pPr algn="ctr">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Ferrer, Lance</a:t>
            </a:r>
          </a:p>
        </p:txBody>
      </p:sp>
    </p:spTree>
    <p:extLst>
      <p:ext uri="{BB962C8B-B14F-4D97-AF65-F5344CB8AC3E}">
        <p14:creationId xmlns:p14="http://schemas.microsoft.com/office/powerpoint/2010/main" val="13340512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17447E5C-151F-4F82-B880-57BE7A18895D}"/>
              </a:ext>
            </a:extLst>
          </p:cNvPr>
          <p:cNvSpPr>
            <a:spLocks xmlns:a="http://schemas.openxmlformats.org/drawingml/2006/main" noGrp="1"/>
          </p:cNvSpPr>
          <p:nvPr/>
        </p:nvSpPr>
        <p:spPr>
          <a:xfrm xmlns:a="http://schemas.openxmlformats.org/drawingml/2006/main">
            <a:off x="533400" y="361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51515"/>
                </a:solidFill>
                <a:latin typeface="Times New Roman"/>
                <a:ea typeface="Times New Roman"/>
                <a:cs typeface="Times New Roman"/>
              </a:defRPr>
            </a:defPPr>
            <a:lvl1pPr algn="l">
              <a:defRPr sz="3300" b="0">
                <a:solidFill>
                  <a:srgbClr val="151515"/>
                </a:solidFill>
                <a:latin typeface="Times New Roman"/>
                <a:ea typeface="Times New Roman"/>
                <a:cs typeface="Times New Roman"/>
              </a:defRPr>
            </a:lvl1pPr>
            <a:lvl2pPr algn="l">
              <a:defRPr sz="3300" b="0">
                <a:solidFill>
                  <a:srgbClr val="151515"/>
                </a:solidFill>
                <a:latin typeface="Times New Roman"/>
                <a:ea typeface="Times New Roman"/>
                <a:cs typeface="Times New Roman"/>
              </a:defRPr>
            </a:lvl2pPr>
            <a:lvl3pPr algn="l">
              <a:defRPr sz="3300" b="0">
                <a:solidFill>
                  <a:srgbClr val="151515"/>
                </a:solidFill>
                <a:latin typeface="Times New Roman"/>
                <a:ea typeface="Times New Roman"/>
                <a:cs typeface="Times New Roman"/>
              </a:defRPr>
            </a:lvl3pPr>
            <a:lvl4pPr algn="l">
              <a:defRPr sz="3300" b="0">
                <a:solidFill>
                  <a:srgbClr val="151515"/>
                </a:solidFill>
                <a:latin typeface="Times New Roman"/>
                <a:ea typeface="Times New Roman"/>
                <a:cs typeface="Times New Roman"/>
              </a:defRPr>
            </a:lvl4pPr>
            <a:lvl5pPr algn="l">
              <a:defRPr sz="3300" b="0">
                <a:solidFill>
                  <a:srgbClr val="151515"/>
                </a:solidFill>
                <a:latin typeface="Times New Roman"/>
                <a:ea typeface="Times New Roman"/>
                <a:cs typeface="Times New Roman"/>
              </a:defRPr>
            </a:lvl5pPr>
            <a:lvl6pPr algn="l">
              <a:defRPr sz="3300" b="0">
                <a:solidFill>
                  <a:srgbClr val="151515"/>
                </a:solidFill>
                <a:latin typeface="Times New Roman"/>
                <a:ea typeface="Times New Roman"/>
                <a:cs typeface="Times New Roman"/>
              </a:defRPr>
            </a:lvl6pPr>
            <a:lvl7pPr algn="l">
              <a:defRPr sz="3300" b="0">
                <a:solidFill>
                  <a:srgbClr val="151515"/>
                </a:solidFill>
                <a:latin typeface="Times New Roman"/>
                <a:ea typeface="Times New Roman"/>
                <a:cs typeface="Times New Roman"/>
              </a:defRPr>
            </a:lvl7pPr>
            <a:lvl8pPr algn="l">
              <a:defRPr sz="3300" b="0">
                <a:solidFill>
                  <a:srgbClr val="151515"/>
                </a:solidFill>
                <a:latin typeface="Times New Roman"/>
                <a:ea typeface="Times New Roman"/>
                <a:cs typeface="Times New Roman"/>
              </a:defRPr>
            </a:lvl8pPr>
            <a:lvl9pPr algn="l">
              <a:defRPr sz="3300" b="0">
                <a:solidFill>
                  <a:srgbClr val="151515"/>
                </a:solidFill>
                <a:latin typeface="Times New Roman"/>
                <a:ea typeface="Times New Roman"/>
                <a:cs typeface="Times New Roman"/>
              </a:defRPr>
            </a:lvl9pPr>
          </a:lstStyle>
          <a:p xmlns:a="http://schemas.openxmlformats.org/drawingml/2006/main">
            <a:pPr algn="l">
              <a:lnSpc>
                <a:spcPct val="112000"/>
              </a:lnSpc>
              <a:buNone/>
              <a:defRPr sz="3300" b="0">
                <a:solidFill>
                  <a:srgbClr val="151515"/>
                </a:solidFill>
                <a:latin typeface="Times New Roman"/>
                <a:ea typeface="Times New Roman"/>
                <a:cs typeface="Times New Roman"/>
              </a:defRPr>
            </a:pPr>
            <a:r>
              <a:rPr sz="3300" b="0">
                <a:solidFill>
                  <a:srgbClr val="151515"/>
                </a:solidFill>
                <a:latin typeface="Times New Roman"/>
                <a:ea typeface="Times New Roman"/>
                <a:cs typeface="Times New Roman"/>
              </a:rPr>
              <a:t>Problem and Requirements</a:t>
            </a:r>
          </a:p>
        </p:txBody>
      </p:sp>
      <p:pic>
        <p:nvPicPr>
          <p:cNvPr id="3" name="">
            <a:extLst xmlns:a="http://schemas.openxmlformats.org/drawingml/2006/main">
              <a:ext uri="{FF2B5EF4-FFF2-40B4-BE49-F238E27FC236}">
                <a16:creationId xmlns:a16="http://schemas.microsoft.com/office/drawing/2014/main" id="{791188FE-601C-4B75-BB66-81959DEC0346}"/>
              </a:ext>
            </a:extLst>
          </p:cNvPr>
          <p:cNvPicPr>
            <a:picLocks xmlns:a="http://schemas.openxmlformats.org/drawingml/2006/main" noChangeAspect="1"/>
          </p:cNvPicPr>
          <p:nvPr/>
        </p:nvPicPr>
        <p:blipFill>
          <a:blip xmlns:r="http://schemas.openxmlformats.org/officeDocument/2006/relationships" xmlns:a="http://schemas.openxmlformats.org/drawingml/2006/main" r:embed="R756587d552d84a5d"/>
          <a:stretch xmlns:a="http://schemas.openxmlformats.org/drawingml/2006/main"/>
        </p:blipFill>
        <p:spPr>
          <a:xfrm xmlns:a="http://schemas.openxmlformats.org/drawingml/2006/main">
            <a:off x="11458575" y="6238875"/>
            <a:ext cx="419100" cy="419100"/>
          </a:xfrm>
          <a:prstGeom xmlns:a="http://schemas.openxmlformats.org/drawingml/2006/main" prst="rect">
            <a:avLst/>
          </a:prstGeom>
        </p:spPr>
      </p:pic>
      <p:sp>
        <p:nvSpPr>
          <p:cNvPr id="4" name="text-6">
            <a:extLst xmlns:a="http://schemas.openxmlformats.org/drawingml/2006/main">
              <a:ext uri="{FF2B5EF4-FFF2-40B4-BE49-F238E27FC236}">
                <a16:creationId xmlns:a16="http://schemas.microsoft.com/office/drawing/2014/main" id="{773E237C-C529-4E80-9BA0-1E9ED7118F84}"/>
              </a:ext>
            </a:extLst>
          </p:cNvPr>
          <p:cNvSpPr>
            <a:spLocks xmlns:a="http://schemas.openxmlformats.org/drawingml/2006/main" noGrp="1"/>
          </p:cNvSpPr>
          <p:nvPr/>
        </p:nvSpPr>
        <p:spPr>
          <a:xfrm xmlns:a="http://schemas.openxmlformats.org/drawingml/2006/main">
            <a:off x="533400" y="64484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87644"/>
                </a:solidFill>
                <a:latin typeface="Times New Roman"/>
                <a:ea typeface="Times New Roman"/>
                <a:cs typeface="Times New Roman"/>
              </a:defRPr>
            </a:defPPr>
            <a:lvl1pPr algn="l">
              <a:defRPr sz="1275" b="0">
                <a:solidFill>
                  <a:srgbClr val="087644"/>
                </a:solidFill>
                <a:latin typeface="Times New Roman"/>
                <a:ea typeface="Times New Roman"/>
                <a:cs typeface="Times New Roman"/>
              </a:defRPr>
            </a:lvl1pPr>
            <a:lvl2pPr algn="l">
              <a:defRPr sz="1275" b="0">
                <a:solidFill>
                  <a:srgbClr val="087644"/>
                </a:solidFill>
                <a:latin typeface="Times New Roman"/>
                <a:ea typeface="Times New Roman"/>
                <a:cs typeface="Times New Roman"/>
              </a:defRPr>
            </a:lvl2pPr>
            <a:lvl3pPr algn="l">
              <a:defRPr sz="1275" b="0">
                <a:solidFill>
                  <a:srgbClr val="087644"/>
                </a:solidFill>
                <a:latin typeface="Times New Roman"/>
                <a:ea typeface="Times New Roman"/>
                <a:cs typeface="Times New Roman"/>
              </a:defRPr>
            </a:lvl3pPr>
            <a:lvl4pPr algn="l">
              <a:defRPr sz="1275" b="0">
                <a:solidFill>
                  <a:srgbClr val="087644"/>
                </a:solidFill>
                <a:latin typeface="Times New Roman"/>
                <a:ea typeface="Times New Roman"/>
                <a:cs typeface="Times New Roman"/>
              </a:defRPr>
            </a:lvl4pPr>
            <a:lvl5pPr algn="l">
              <a:defRPr sz="1275" b="0">
                <a:solidFill>
                  <a:srgbClr val="087644"/>
                </a:solidFill>
                <a:latin typeface="Times New Roman"/>
                <a:ea typeface="Times New Roman"/>
                <a:cs typeface="Times New Roman"/>
              </a:defRPr>
            </a:lvl5pPr>
            <a:lvl6pPr algn="l">
              <a:defRPr sz="1275" b="0">
                <a:solidFill>
                  <a:srgbClr val="087644"/>
                </a:solidFill>
                <a:latin typeface="Times New Roman"/>
                <a:ea typeface="Times New Roman"/>
                <a:cs typeface="Times New Roman"/>
              </a:defRPr>
            </a:lvl6pPr>
            <a:lvl7pPr algn="l">
              <a:defRPr sz="1275" b="0">
                <a:solidFill>
                  <a:srgbClr val="087644"/>
                </a:solidFill>
                <a:latin typeface="Times New Roman"/>
                <a:ea typeface="Times New Roman"/>
                <a:cs typeface="Times New Roman"/>
              </a:defRPr>
            </a:lvl7pPr>
            <a:lvl8pPr algn="l">
              <a:defRPr sz="1275" b="0">
                <a:solidFill>
                  <a:srgbClr val="087644"/>
                </a:solidFill>
                <a:latin typeface="Times New Roman"/>
                <a:ea typeface="Times New Roman"/>
                <a:cs typeface="Times New Roman"/>
              </a:defRPr>
            </a:lvl8pPr>
            <a:lvl9pPr algn="l">
              <a:defRPr sz="1275" b="0">
                <a:solidFill>
                  <a:srgbClr val="087644"/>
                </a:solidFill>
                <a:latin typeface="Times New Roman"/>
                <a:ea typeface="Times New Roman"/>
                <a:cs typeface="Times New Roman"/>
              </a:defRPr>
            </a:lvl9pPr>
          </a:lstStyle>
          <a:p xmlns:a="http://schemas.openxmlformats.org/drawingml/2006/main">
            <a:pPr algn="l">
              <a:lnSpc>
                <a:spcPct val="112000"/>
              </a:lnSpc>
              <a:buNone/>
              <a:defRPr sz="1275" b="0">
                <a:solidFill>
                  <a:srgbClr val="087644"/>
                </a:solidFill>
                <a:latin typeface="Times New Roman"/>
                <a:ea typeface="Times New Roman"/>
                <a:cs typeface="Times New Roman"/>
              </a:defRPr>
            </a:pPr>
            <a:r>
              <a:rPr sz="1275" b="0">
                <a:solidFill>
                  <a:srgbClr val="087644"/>
                </a:solidFill>
                <a:latin typeface="Times New Roman"/>
                <a:ea typeface="Times New Roman"/>
                <a:cs typeface="Times New Roman"/>
              </a:rPr>
              <a:t>02</a:t>
            </a:r>
          </a:p>
        </p:txBody>
      </p:sp>
      <p:sp>
        <p:nvSpPr>
          <p:cNvPr id="5" name="text-7">
            <a:extLst xmlns:a="http://schemas.openxmlformats.org/drawingml/2006/main">
              <a:ext uri="{FF2B5EF4-FFF2-40B4-BE49-F238E27FC236}">
                <a16:creationId xmlns:a16="http://schemas.microsoft.com/office/drawing/2014/main" id="{52A3B6EA-7349-442B-86E0-B34B20075AAD}"/>
              </a:ext>
            </a:extLst>
          </p:cNvPr>
          <p:cNvSpPr>
            <a:spLocks xmlns:a="http://schemas.openxmlformats.org/drawingml/2006/main" noGrp="1"/>
          </p:cNvSpPr>
          <p:nvPr/>
        </p:nvSpPr>
        <p:spPr>
          <a:xfrm xmlns:a="http://schemas.openxmlformats.org/drawingml/2006/main">
            <a:off x="533400" y="133350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One party</a:t>
            </a:r>
          </a:p>
        </p:txBody>
      </p:sp>
      <p:sp>
        <p:nvSpPr>
          <p:cNvPr id="6" name="text-8">
            <a:extLst xmlns:a="http://schemas.openxmlformats.org/drawingml/2006/main">
              <a:ext uri="{FF2B5EF4-FFF2-40B4-BE49-F238E27FC236}">
                <a16:creationId xmlns:a16="http://schemas.microsoft.com/office/drawing/2014/main" id="{8465EB20-099B-4BA3-AF91-4AA0B82AB6B5}"/>
              </a:ext>
            </a:extLst>
          </p:cNvPr>
          <p:cNvSpPr>
            <a:spLocks xmlns:a="http://schemas.openxmlformats.org/drawingml/2006/main" noGrp="1"/>
          </p:cNvSpPr>
          <p:nvPr/>
        </p:nvSpPr>
        <p:spPr>
          <a:xfrm xmlns:a="http://schemas.openxmlformats.org/drawingml/2006/main">
            <a:off x="533400" y="1809750"/>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51515"/>
                </a:solidFill>
                <a:latin typeface="Times New Roman"/>
                <a:ea typeface="Times New Roman"/>
                <a:cs typeface="Times New Roman"/>
              </a:defRPr>
            </a:defPPr>
            <a:lvl1pPr algn="l">
              <a:defRPr sz="2400" b="0">
                <a:solidFill>
                  <a:srgbClr val="151515"/>
                </a:solidFill>
                <a:latin typeface="Times New Roman"/>
                <a:ea typeface="Times New Roman"/>
                <a:cs typeface="Times New Roman"/>
              </a:defRPr>
            </a:lvl1pPr>
            <a:lvl2pPr algn="l">
              <a:defRPr sz="2400" b="0">
                <a:solidFill>
                  <a:srgbClr val="151515"/>
                </a:solidFill>
                <a:latin typeface="Times New Roman"/>
                <a:ea typeface="Times New Roman"/>
                <a:cs typeface="Times New Roman"/>
              </a:defRPr>
            </a:lvl2pPr>
            <a:lvl3pPr algn="l">
              <a:defRPr sz="2400" b="0">
                <a:solidFill>
                  <a:srgbClr val="151515"/>
                </a:solidFill>
                <a:latin typeface="Times New Roman"/>
                <a:ea typeface="Times New Roman"/>
                <a:cs typeface="Times New Roman"/>
              </a:defRPr>
            </a:lvl3pPr>
            <a:lvl4pPr algn="l">
              <a:defRPr sz="2400" b="0">
                <a:solidFill>
                  <a:srgbClr val="151515"/>
                </a:solidFill>
                <a:latin typeface="Times New Roman"/>
                <a:ea typeface="Times New Roman"/>
                <a:cs typeface="Times New Roman"/>
              </a:defRPr>
            </a:lvl4pPr>
            <a:lvl5pPr algn="l">
              <a:defRPr sz="2400" b="0">
                <a:solidFill>
                  <a:srgbClr val="151515"/>
                </a:solidFill>
                <a:latin typeface="Times New Roman"/>
                <a:ea typeface="Times New Roman"/>
                <a:cs typeface="Times New Roman"/>
              </a:defRPr>
            </a:lvl5pPr>
            <a:lvl6pPr algn="l">
              <a:defRPr sz="2400" b="0">
                <a:solidFill>
                  <a:srgbClr val="151515"/>
                </a:solidFill>
                <a:latin typeface="Times New Roman"/>
                <a:ea typeface="Times New Roman"/>
                <a:cs typeface="Times New Roman"/>
              </a:defRPr>
            </a:lvl6pPr>
            <a:lvl7pPr algn="l">
              <a:defRPr sz="2400" b="0">
                <a:solidFill>
                  <a:srgbClr val="151515"/>
                </a:solidFill>
                <a:latin typeface="Times New Roman"/>
                <a:ea typeface="Times New Roman"/>
                <a:cs typeface="Times New Roman"/>
              </a:defRPr>
            </a:lvl7pPr>
            <a:lvl8pPr algn="l">
              <a:defRPr sz="2400" b="0">
                <a:solidFill>
                  <a:srgbClr val="151515"/>
                </a:solidFill>
                <a:latin typeface="Times New Roman"/>
                <a:ea typeface="Times New Roman"/>
                <a:cs typeface="Times New Roman"/>
              </a:defRPr>
            </a:lvl8pPr>
            <a:lvl9pPr algn="l">
              <a:defRPr sz="2400" b="0">
                <a:solidFill>
                  <a:srgbClr val="151515"/>
                </a:solidFill>
                <a:latin typeface="Times New Roman"/>
                <a:ea typeface="Times New Roman"/>
                <a:cs typeface="Times New Roman"/>
              </a:defRPr>
            </a:lvl9pPr>
          </a:lstStyle>
          <a:p xmlns:a="http://schemas.openxmlformats.org/drawingml/2006/main">
            <a:pPr algn="l">
              <a:lnSpc>
                <a:spcPct val="112000"/>
              </a:lnSpc>
              <a:buNone/>
              <a:defRPr sz="2400" b="0">
                <a:solidFill>
                  <a:srgbClr val="151515"/>
                </a:solidFill>
                <a:latin typeface="Times New Roman"/>
                <a:ea typeface="Times New Roman"/>
                <a:cs typeface="Times New Roman"/>
              </a:defRPr>
            </a:pPr>
            <a:r>
              <a:rPr sz="2400" b="0">
                <a:solidFill>
                  <a:srgbClr val="151515"/>
                </a:solidFill>
                <a:latin typeface="Times New Roman"/>
                <a:ea typeface="Times New Roman"/>
                <a:cs typeface="Times New Roman"/>
              </a:rPr>
              <a:t>1 tank + 1 healer + 3 DPS</a:t>
            </a:r>
          </a:p>
        </p:txBody>
      </p:sp>
      <p:sp>
        <p:nvSpPr>
          <p:cNvPr id="7" name="text-9">
            <a:extLst xmlns:a="http://schemas.openxmlformats.org/drawingml/2006/main">
              <a:ext uri="{FF2B5EF4-FFF2-40B4-BE49-F238E27FC236}">
                <a16:creationId xmlns:a16="http://schemas.microsoft.com/office/drawing/2014/main" id="{CB6422E3-C916-44EA-9AB8-484C9B80F655}"/>
              </a:ext>
            </a:extLst>
          </p:cNvPr>
          <p:cNvSpPr>
            <a:spLocks xmlns:a="http://schemas.openxmlformats.org/drawingml/2006/main" noGrp="1"/>
          </p:cNvSpPr>
          <p:nvPr/>
        </p:nvSpPr>
        <p:spPr>
          <a:xfrm xmlns:a="http://schemas.openxmlformats.org/drawingml/2006/main">
            <a:off x="533400" y="276225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Execution rules</a:t>
            </a:r>
          </a:p>
        </p:txBody>
      </p:sp>
      <p:sp>
        <p:nvSpPr>
          <p:cNvPr id="8" name="text-10">
            <a:extLst xmlns:a="http://schemas.openxmlformats.org/drawingml/2006/main">
              <a:ext uri="{FF2B5EF4-FFF2-40B4-BE49-F238E27FC236}">
                <a16:creationId xmlns:a16="http://schemas.microsoft.com/office/drawing/2014/main" id="{F0CF1FD1-C198-4992-9044-D7A2558D930A}"/>
              </a:ext>
            </a:extLst>
          </p:cNvPr>
          <p:cNvSpPr>
            <a:spLocks xmlns:a="http://schemas.openxmlformats.org/drawingml/2006/main" noGrp="1"/>
          </p:cNvSpPr>
          <p:nvPr/>
        </p:nvSpPr>
        <p:spPr>
          <a:xfrm xmlns:a="http://schemas.openxmlformats.org/drawingml/2006/main">
            <a:off x="533400" y="3238500"/>
            <a:ext cx="4572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1515"/>
                </a:solidFill>
                <a:latin typeface="Times New Roman"/>
                <a:ea typeface="Times New Roman"/>
                <a:cs typeface="Times New Roman"/>
              </a:defRPr>
            </a:defPPr>
            <a:lvl1pPr algn="l">
              <a:defRPr sz="2100" b="0">
                <a:solidFill>
                  <a:srgbClr val="151515"/>
                </a:solidFill>
                <a:latin typeface="Times New Roman"/>
                <a:ea typeface="Times New Roman"/>
                <a:cs typeface="Times New Roman"/>
              </a:defRPr>
            </a:lvl1pPr>
            <a:lvl2pPr algn="l">
              <a:defRPr sz="2100" b="0">
                <a:solidFill>
                  <a:srgbClr val="151515"/>
                </a:solidFill>
                <a:latin typeface="Times New Roman"/>
                <a:ea typeface="Times New Roman"/>
                <a:cs typeface="Times New Roman"/>
              </a:defRPr>
            </a:lvl2pPr>
            <a:lvl3pPr algn="l">
              <a:defRPr sz="2100" b="0">
                <a:solidFill>
                  <a:srgbClr val="151515"/>
                </a:solidFill>
                <a:latin typeface="Times New Roman"/>
                <a:ea typeface="Times New Roman"/>
                <a:cs typeface="Times New Roman"/>
              </a:defRPr>
            </a:lvl3pPr>
            <a:lvl4pPr algn="l">
              <a:defRPr sz="2100" b="0">
                <a:solidFill>
                  <a:srgbClr val="151515"/>
                </a:solidFill>
                <a:latin typeface="Times New Roman"/>
                <a:ea typeface="Times New Roman"/>
                <a:cs typeface="Times New Roman"/>
              </a:defRPr>
            </a:lvl4pPr>
            <a:lvl5pPr algn="l">
              <a:defRPr sz="2100" b="0">
                <a:solidFill>
                  <a:srgbClr val="151515"/>
                </a:solidFill>
                <a:latin typeface="Times New Roman"/>
                <a:ea typeface="Times New Roman"/>
                <a:cs typeface="Times New Roman"/>
              </a:defRPr>
            </a:lvl5pPr>
            <a:lvl6pPr algn="l">
              <a:defRPr sz="2100" b="0">
                <a:solidFill>
                  <a:srgbClr val="151515"/>
                </a:solidFill>
                <a:latin typeface="Times New Roman"/>
                <a:ea typeface="Times New Roman"/>
                <a:cs typeface="Times New Roman"/>
              </a:defRPr>
            </a:lvl6pPr>
            <a:lvl7pPr algn="l">
              <a:defRPr sz="2100" b="0">
                <a:solidFill>
                  <a:srgbClr val="151515"/>
                </a:solidFill>
                <a:latin typeface="Times New Roman"/>
                <a:ea typeface="Times New Roman"/>
                <a:cs typeface="Times New Roman"/>
              </a:defRPr>
            </a:lvl7pPr>
            <a:lvl8pPr algn="l">
              <a:defRPr sz="2100" b="0">
                <a:solidFill>
                  <a:srgbClr val="151515"/>
                </a:solidFill>
                <a:latin typeface="Times New Roman"/>
                <a:ea typeface="Times New Roman"/>
                <a:cs typeface="Times New Roman"/>
              </a:defRPr>
            </a:lvl8pPr>
            <a:lvl9pPr algn="l">
              <a:defRPr sz="2100" b="0">
                <a:solidFill>
                  <a:srgbClr val="151515"/>
                </a:solidFill>
                <a:latin typeface="Times New Roman"/>
                <a:ea typeface="Times New Roman"/>
                <a:cs typeface="Times New Roman"/>
              </a:defRPr>
            </a:lvl9pPr>
          </a:lstStyle>
          <a:p xmlns:a="http://schemas.openxmlformats.org/drawingml/2006/main">
            <a:pPr algn="l">
              <a:lnSpc>
                <a:spcPct val="112000"/>
              </a:lnSpc>
              <a:buNone/>
              <a:defRPr sz="2100" b="0">
                <a:solidFill>
                  <a:srgbClr val="151515"/>
                </a:solidFill>
                <a:latin typeface="Times New Roman"/>
                <a:ea typeface="Times New Roman"/>
                <a:cs typeface="Times New Roman"/>
              </a:defRPr>
            </a:pPr>
            <a:r>
              <a:rPr sz="2100" b="0">
                <a:solidFill>
                  <a:srgbClr val="151515"/>
                </a:solidFill>
                <a:latin typeface="Times New Roman"/>
                <a:ea typeface="Times New Roman"/>
                <a:cs typeface="Times New Roman"/>
              </a:rPr>
              <a:t>At most n active dungeons</a:t>
            </a:r>
          </a:p>
          <a:p xmlns:a="http://schemas.openxmlformats.org/drawingml/2006/main">
            <a:pPr algn="l">
              <a:lnSpc>
                <a:spcPct val="112000"/>
              </a:lnSpc>
              <a:buNone/>
              <a:defRPr sz="2100" b="0">
                <a:solidFill>
                  <a:srgbClr val="151515"/>
                </a:solidFill>
                <a:latin typeface="Times New Roman"/>
                <a:ea typeface="Times New Roman"/>
                <a:cs typeface="Times New Roman"/>
              </a:defRPr>
            </a:pPr>
            <a:r>
              <a:rPr sz="2100" b="0">
                <a:solidFill>
                  <a:srgbClr val="151515"/>
                </a:solidFill>
                <a:latin typeface="Times New Roman"/>
                <a:ea typeface="Times New Roman"/>
                <a:cs typeface="Times New Roman"/>
              </a:rPr>
              <a:t>All players arrive together</a:t>
            </a:r>
          </a:p>
          <a:p xmlns:a="http://schemas.openxmlformats.org/drawingml/2006/main">
            <a:pPr algn="l">
              <a:lnSpc>
                <a:spcPct val="112000"/>
              </a:lnSpc>
              <a:buNone/>
              <a:defRPr sz="2100" b="0">
                <a:solidFill>
                  <a:srgbClr val="151515"/>
                </a:solidFill>
                <a:latin typeface="Times New Roman"/>
                <a:ea typeface="Times New Roman"/>
                <a:cs typeface="Times New Roman"/>
              </a:defRPr>
            </a:pPr>
            <a:r>
              <a:rPr sz="2100" b="0">
                <a:solidFill>
                  <a:srgbClr val="151515"/>
                </a:solidFill>
                <a:latin typeface="Times New Roman"/>
                <a:ea typeface="Times New Roman"/>
                <a:cs typeface="Times New Roman"/>
              </a:rPr>
              <a:t>No deadlock or eligible-party starvation</a:t>
            </a:r>
          </a:p>
        </p:txBody>
      </p:sp>
      <p:graphicFrame>
        <p:nvGraphicFramePr>
          <p:cNvPr id="9" name="">
            <a:extLst xmlns:a="http://schemas.openxmlformats.org/drawingml/2006/main">
              <a:ext uri="{FF2B5EF4-FFF2-40B4-BE49-F238E27FC236}">
                <a16:creationId xmlns:a16="http://schemas.microsoft.com/office/drawing/2014/main" id="{28822B2F-D6B2-41CF-8F3E-A6F2087A965E}"/>
              </a:ext>
            </a:extLst>
          </p:cNvPr>
          <p:cNvGraphicFramePr/>
          <p:nvPr/>
        </p:nvGraphicFramePr>
        <p:xfrm>
          <a:off xmlns:a="http://schemas.openxmlformats.org/drawingml/2006/main" x="5619750" y="1333500"/>
          <a:ext xmlns:a="http://schemas.openxmlformats.org/drawingml/2006/main" cx="6038850" cy="2952750"/>
        </p:xfrm>
        <a:graphic xmlns:a="http://schemas.openxmlformats.org/drawingml/2006/main">
          <a:graphicData uri="http://schemas.openxmlformats.org/drawingml/2006/table">
            <a:tbl>
              <a:tblPr firstRow="0" bandRow="0"/>
              <a:tblGrid>
                <a:gridCol w="1666875"/>
                <a:gridCol w="4371975"/>
              </a:tblGrid>
              <a:tr h="738188">
                <a:tc>
                  <a:txBody>
                    <a:bodyPr wrap="square" lIns="133350" tIns="95250" rIns="133350" bIns="95250"/>
                    <a:lstStyle/>
                    <a:p>
                      <a:r>
                        <a:rPr sz="1950" b="1">
                          <a:solidFill>
                            <a:srgbClr val="087644"/>
                          </a:solidFill>
                          <a:latin typeface="Times New Roman"/>
                          <a:ea typeface="Times New Roman"/>
                          <a:cs typeface="Times New Roman"/>
                        </a:rPr>
                        <a:t>Input</a:t>
                      </a:r>
                    </a:p>
                  </a:txBody>
                  <a:tcPr marL="91440" marR="91440" marT="45720" marB="45720" anchor="ctr">
                    <a:lnL w="6668">
                      <a:solidFill>
                        <a:srgbClr val="9EAAA3"/>
                      </a:solidFill>
                      <a:prstDash val="solid"/>
                    </a:lnL>
                    <a:lnR w="6668">
                      <a:solidFill>
                        <a:srgbClr val="9EAAA3"/>
                      </a:solidFill>
                      <a:prstDash val="solid"/>
                    </a:lnR>
                    <a:lnT w="6668">
                      <a:solidFill>
                        <a:srgbClr val="9EAAA3"/>
                      </a:solidFill>
                      <a:prstDash val="solid"/>
                    </a:lnT>
                    <a:lnB w="6668">
                      <a:solidFill>
                        <a:srgbClr val="9EAAA3"/>
                      </a:solidFill>
                      <a:prstDash val="solid"/>
                    </a:lnB>
                    <a:solidFill>
                      <a:srgbClr val="E7F0EA"/>
                    </a:solidFill>
                  </a:tcPr>
                </a:tc>
                <a:tc>
                  <a:txBody>
                    <a:bodyPr wrap="square" lIns="133350" tIns="95250" rIns="133350" bIns="95250"/>
                    <a:lstStyle/>
                    <a:p>
                      <a:r>
                        <a:rPr sz="1950" b="1">
                          <a:solidFill>
                            <a:srgbClr val="087644"/>
                          </a:solidFill>
                          <a:latin typeface="Times New Roman"/>
                          <a:ea typeface="Times New Roman"/>
                          <a:cs typeface="Times New Roman"/>
                        </a:rPr>
                        <a:t>Meaning</a:t>
                      </a:r>
                    </a:p>
                  </a:txBody>
                  <a:tcPr marL="91440" marR="91440" marT="45720" marB="45720" anchor="ctr">
                    <a:lnR w="6668">
                      <a:solidFill>
                        <a:srgbClr val="9EAAA3"/>
                      </a:solidFill>
                      <a:prstDash val="solid"/>
                    </a:lnR>
                    <a:lnT w="6668">
                      <a:solidFill>
                        <a:srgbClr val="9EAAA3"/>
                      </a:solidFill>
                      <a:prstDash val="solid"/>
                    </a:lnT>
                    <a:lnB w="6668">
                      <a:solidFill>
                        <a:srgbClr val="9EAAA3"/>
                      </a:solidFill>
                      <a:prstDash val="solid"/>
                    </a:lnB>
                    <a:solidFill>
                      <a:srgbClr val="E7F0EA"/>
                    </a:solidFill>
                  </a:tcPr>
                </a:tc>
              </a:tr>
              <a:tr h="738188">
                <a:tc>
                  <a:txBody>
                    <a:bodyPr wrap="square" lIns="133350" tIns="95250" rIns="133350" bIns="95250"/>
                    <a:lstStyle/>
                    <a:p>
                      <a:r>
                        <a:rPr sz="1950" b="0">
                          <a:solidFill>
                            <a:srgbClr val="151515"/>
                          </a:solidFill>
                          <a:latin typeface="Times New Roman"/>
                          <a:ea typeface="Times New Roman"/>
                          <a:cs typeface="Times New Roman"/>
                        </a:rPr>
                        <a:t>n</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1950" b="0">
                          <a:solidFill>
                            <a:srgbClr val="151515"/>
                          </a:solidFill>
                          <a:latin typeface="Times New Roman"/>
                          <a:ea typeface="Times New Roman"/>
                          <a:cs typeface="Times New Roman"/>
                        </a:rPr>
                        <a:t>Concurrent instance limit</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r h="738188">
                <a:tc>
                  <a:txBody>
                    <a:bodyPr wrap="square" lIns="133350" tIns="95250" rIns="133350" bIns="95250"/>
                    <a:lstStyle/>
                    <a:p>
                      <a:r>
                        <a:rPr sz="1950" b="0">
                          <a:solidFill>
                            <a:srgbClr val="151515"/>
                          </a:solidFill>
                          <a:latin typeface="Times New Roman"/>
                          <a:ea typeface="Times New Roman"/>
                          <a:cs typeface="Times New Roman"/>
                        </a:rPr>
                        <a:t>t, h, d</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1950" b="0">
                          <a:solidFill>
                            <a:srgbClr val="151515"/>
                          </a:solidFill>
                          <a:latin typeface="Times New Roman"/>
                          <a:ea typeface="Times New Roman"/>
                          <a:cs typeface="Times New Roman"/>
                        </a:rPr>
                        <a:t>Tank, healer, and DPS counts</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r h="738188">
                <a:tc>
                  <a:txBody>
                    <a:bodyPr wrap="square" lIns="133350" tIns="95250" rIns="133350" bIns="95250"/>
                    <a:lstStyle/>
                    <a:p>
                      <a:r>
                        <a:rPr sz="1950" b="0">
                          <a:solidFill>
                            <a:srgbClr val="151515"/>
                          </a:solidFill>
                          <a:latin typeface="Times New Roman"/>
                          <a:ea typeface="Times New Roman"/>
                          <a:cs typeface="Times New Roman"/>
                        </a:rPr>
                        <a:t>t1, t2</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1950" b="0">
                          <a:solidFill>
                            <a:srgbClr val="151515"/>
                          </a:solidFill>
                          <a:latin typeface="Times New Roman"/>
                          <a:ea typeface="Times New Roman"/>
                          <a:cs typeface="Times New Roman"/>
                        </a:rPr>
                        <a:t>Inclusive duration bounds (seconds)</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bl>
          </a:graphicData>
        </a:graphic>
      </p:graphicFrame>
      <p:sp>
        <p:nvSpPr>
          <p:cNvPr id="10" name="text-11">
            <a:extLst xmlns:a="http://schemas.openxmlformats.org/drawingml/2006/main">
              <a:ext uri="{FF2B5EF4-FFF2-40B4-BE49-F238E27FC236}">
                <a16:creationId xmlns:a16="http://schemas.microsoft.com/office/drawing/2014/main" id="{AA22B2E1-2090-4EF0-8AE4-9EB2C573D422}"/>
              </a:ext>
            </a:extLst>
          </p:cNvPr>
          <p:cNvSpPr>
            <a:spLocks xmlns:a="http://schemas.openxmlformats.org/drawingml/2006/main" noGrp="1"/>
          </p:cNvSpPr>
          <p:nvPr/>
        </p:nvSpPr>
        <p:spPr>
          <a:xfrm xmlns:a="http://schemas.openxmlformats.org/drawingml/2006/main">
            <a:off x="5619750" y="4619625"/>
            <a:ext cx="600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51515"/>
                </a:solidFill>
                <a:latin typeface="Times New Roman"/>
                <a:ea typeface="Times New Roman"/>
                <a:cs typeface="Times New Roman"/>
              </a:defRPr>
            </a:defPPr>
            <a:lvl1pPr algn="l">
              <a:defRPr sz="2025" b="0">
                <a:solidFill>
                  <a:srgbClr val="151515"/>
                </a:solidFill>
                <a:latin typeface="Times New Roman"/>
                <a:ea typeface="Times New Roman"/>
                <a:cs typeface="Times New Roman"/>
              </a:defRPr>
            </a:lvl1pPr>
            <a:lvl2pPr algn="l">
              <a:defRPr sz="2025" b="0">
                <a:solidFill>
                  <a:srgbClr val="151515"/>
                </a:solidFill>
                <a:latin typeface="Times New Roman"/>
                <a:ea typeface="Times New Roman"/>
                <a:cs typeface="Times New Roman"/>
              </a:defRPr>
            </a:lvl2pPr>
            <a:lvl3pPr algn="l">
              <a:defRPr sz="2025" b="0">
                <a:solidFill>
                  <a:srgbClr val="151515"/>
                </a:solidFill>
                <a:latin typeface="Times New Roman"/>
                <a:ea typeface="Times New Roman"/>
                <a:cs typeface="Times New Roman"/>
              </a:defRPr>
            </a:lvl3pPr>
            <a:lvl4pPr algn="l">
              <a:defRPr sz="2025" b="0">
                <a:solidFill>
                  <a:srgbClr val="151515"/>
                </a:solidFill>
                <a:latin typeface="Times New Roman"/>
                <a:ea typeface="Times New Roman"/>
                <a:cs typeface="Times New Roman"/>
              </a:defRPr>
            </a:lvl4pPr>
            <a:lvl5pPr algn="l">
              <a:defRPr sz="2025" b="0">
                <a:solidFill>
                  <a:srgbClr val="151515"/>
                </a:solidFill>
                <a:latin typeface="Times New Roman"/>
                <a:ea typeface="Times New Roman"/>
                <a:cs typeface="Times New Roman"/>
              </a:defRPr>
            </a:lvl5pPr>
            <a:lvl6pPr algn="l">
              <a:defRPr sz="2025" b="0">
                <a:solidFill>
                  <a:srgbClr val="151515"/>
                </a:solidFill>
                <a:latin typeface="Times New Roman"/>
                <a:ea typeface="Times New Roman"/>
                <a:cs typeface="Times New Roman"/>
              </a:defRPr>
            </a:lvl6pPr>
            <a:lvl7pPr algn="l">
              <a:defRPr sz="2025" b="0">
                <a:solidFill>
                  <a:srgbClr val="151515"/>
                </a:solidFill>
                <a:latin typeface="Times New Roman"/>
                <a:ea typeface="Times New Roman"/>
                <a:cs typeface="Times New Roman"/>
              </a:defRPr>
            </a:lvl7pPr>
            <a:lvl8pPr algn="l">
              <a:defRPr sz="2025" b="0">
                <a:solidFill>
                  <a:srgbClr val="151515"/>
                </a:solidFill>
                <a:latin typeface="Times New Roman"/>
                <a:ea typeface="Times New Roman"/>
                <a:cs typeface="Times New Roman"/>
              </a:defRPr>
            </a:lvl8pPr>
            <a:lvl9pPr algn="l">
              <a:defRPr sz="2025" b="0">
                <a:solidFill>
                  <a:srgbClr val="151515"/>
                </a:solidFill>
                <a:latin typeface="Times New Roman"/>
                <a:ea typeface="Times New Roman"/>
                <a:cs typeface="Times New Roman"/>
              </a:defRPr>
            </a:lvl9pPr>
          </a:lstStyle>
          <a:p xmlns:a="http://schemas.openxmlformats.org/drawingml/2006/main">
            <a:pPr algn="l">
              <a:lnSpc>
                <a:spcPct val="112000"/>
              </a:lnSpc>
              <a:buNone/>
              <a:defRPr sz="2025" b="0">
                <a:solidFill>
                  <a:srgbClr val="151515"/>
                </a:solidFill>
                <a:latin typeface="Times New Roman"/>
                <a:ea typeface="Times New Roman"/>
                <a:cs typeface="Times New Roman"/>
              </a:defRPr>
            </a:pPr>
            <a:r>
              <a:rPr sz="2025" b="0">
                <a:solidFill>
                  <a:srgbClr val="151515"/>
                </a:solidFill>
                <a:latin typeface="Times New Roman"/>
                <a:ea typeface="Times New Roman"/>
                <a:cs typeface="Times New Roman"/>
              </a:rPr>
              <a:t>n &gt;= 1, player counts &gt;= 0</a:t>
            </a:r>
          </a:p>
          <a:p xmlns:a="http://schemas.openxmlformats.org/drawingml/2006/main">
            <a:pPr algn="l">
              <a:lnSpc>
                <a:spcPct val="112000"/>
              </a:lnSpc>
              <a:buNone/>
              <a:defRPr sz="2025" b="0">
                <a:solidFill>
                  <a:srgbClr val="151515"/>
                </a:solidFill>
                <a:latin typeface="Times New Roman"/>
                <a:ea typeface="Times New Roman"/>
                <a:cs typeface="Times New Roman"/>
              </a:defRPr>
            </a:pPr>
            <a:r>
              <a:rPr sz="2025" b="0">
                <a:solidFill>
                  <a:srgbClr val="151515"/>
                </a:solidFill>
                <a:latin typeface="Times New Roman"/>
                <a:ea typeface="Times New Roman"/>
                <a:cs typeface="Times New Roman"/>
              </a:rPr>
              <a:t>0 &lt;= t1 &lt;= t2 &lt;= 15</a:t>
            </a:r>
          </a:p>
        </p:txBody>
      </p:sp>
    </p:spTree>
    <p:extLst>
      <p:ext uri="{BB962C8B-B14F-4D97-AF65-F5344CB8AC3E}">
        <p14:creationId xmlns:p14="http://schemas.microsoft.com/office/powerpoint/2010/main" val="16665512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6E4956A8-6284-4374-9B53-FF87203944F7}"/>
              </a:ext>
            </a:extLst>
          </p:cNvPr>
          <p:cNvSpPr>
            <a:spLocks xmlns:a="http://schemas.openxmlformats.org/drawingml/2006/main" noGrp="1"/>
          </p:cNvSpPr>
          <p:nvPr/>
        </p:nvSpPr>
        <p:spPr>
          <a:xfrm xmlns:a="http://schemas.openxmlformats.org/drawingml/2006/main">
            <a:off x="533400" y="361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51515"/>
                </a:solidFill>
                <a:latin typeface="Times New Roman"/>
                <a:ea typeface="Times New Roman"/>
                <a:cs typeface="Times New Roman"/>
              </a:defRPr>
            </a:defPPr>
            <a:lvl1pPr algn="l">
              <a:defRPr sz="3300" b="0">
                <a:solidFill>
                  <a:srgbClr val="151515"/>
                </a:solidFill>
                <a:latin typeface="Times New Roman"/>
                <a:ea typeface="Times New Roman"/>
                <a:cs typeface="Times New Roman"/>
              </a:defRPr>
            </a:lvl1pPr>
            <a:lvl2pPr algn="l">
              <a:defRPr sz="3300" b="0">
                <a:solidFill>
                  <a:srgbClr val="151515"/>
                </a:solidFill>
                <a:latin typeface="Times New Roman"/>
                <a:ea typeface="Times New Roman"/>
                <a:cs typeface="Times New Roman"/>
              </a:defRPr>
            </a:lvl2pPr>
            <a:lvl3pPr algn="l">
              <a:defRPr sz="3300" b="0">
                <a:solidFill>
                  <a:srgbClr val="151515"/>
                </a:solidFill>
                <a:latin typeface="Times New Roman"/>
                <a:ea typeface="Times New Roman"/>
                <a:cs typeface="Times New Roman"/>
              </a:defRPr>
            </a:lvl3pPr>
            <a:lvl4pPr algn="l">
              <a:defRPr sz="3300" b="0">
                <a:solidFill>
                  <a:srgbClr val="151515"/>
                </a:solidFill>
                <a:latin typeface="Times New Roman"/>
                <a:ea typeface="Times New Roman"/>
                <a:cs typeface="Times New Roman"/>
              </a:defRPr>
            </a:lvl4pPr>
            <a:lvl5pPr algn="l">
              <a:defRPr sz="3300" b="0">
                <a:solidFill>
                  <a:srgbClr val="151515"/>
                </a:solidFill>
                <a:latin typeface="Times New Roman"/>
                <a:ea typeface="Times New Roman"/>
                <a:cs typeface="Times New Roman"/>
              </a:defRPr>
            </a:lvl5pPr>
            <a:lvl6pPr algn="l">
              <a:defRPr sz="3300" b="0">
                <a:solidFill>
                  <a:srgbClr val="151515"/>
                </a:solidFill>
                <a:latin typeface="Times New Roman"/>
                <a:ea typeface="Times New Roman"/>
                <a:cs typeface="Times New Roman"/>
              </a:defRPr>
            </a:lvl6pPr>
            <a:lvl7pPr algn="l">
              <a:defRPr sz="3300" b="0">
                <a:solidFill>
                  <a:srgbClr val="151515"/>
                </a:solidFill>
                <a:latin typeface="Times New Roman"/>
                <a:ea typeface="Times New Roman"/>
                <a:cs typeface="Times New Roman"/>
              </a:defRPr>
            </a:lvl7pPr>
            <a:lvl8pPr algn="l">
              <a:defRPr sz="3300" b="0">
                <a:solidFill>
                  <a:srgbClr val="151515"/>
                </a:solidFill>
                <a:latin typeface="Times New Roman"/>
                <a:ea typeface="Times New Roman"/>
                <a:cs typeface="Times New Roman"/>
              </a:defRPr>
            </a:lvl8pPr>
            <a:lvl9pPr algn="l">
              <a:defRPr sz="3300" b="0">
                <a:solidFill>
                  <a:srgbClr val="151515"/>
                </a:solidFill>
                <a:latin typeface="Times New Roman"/>
                <a:ea typeface="Times New Roman"/>
                <a:cs typeface="Times New Roman"/>
              </a:defRPr>
            </a:lvl9pPr>
          </a:lstStyle>
          <a:p xmlns:a="http://schemas.openxmlformats.org/drawingml/2006/main">
            <a:pPr algn="l">
              <a:lnSpc>
                <a:spcPct val="112000"/>
              </a:lnSpc>
              <a:buNone/>
              <a:defRPr sz="3300" b="0">
                <a:solidFill>
                  <a:srgbClr val="151515"/>
                </a:solidFill>
                <a:latin typeface="Times New Roman"/>
                <a:ea typeface="Times New Roman"/>
                <a:cs typeface="Times New Roman"/>
              </a:defRPr>
            </a:pPr>
            <a:r>
              <a:rPr sz="3300" b="0">
                <a:solidFill>
                  <a:srgbClr val="151515"/>
                </a:solidFill>
                <a:latin typeface="Times New Roman"/>
                <a:ea typeface="Times New Roman"/>
                <a:cs typeface="Times New Roman"/>
              </a:rPr>
              <a:t>Build and Execution</a:t>
            </a:r>
          </a:p>
        </p:txBody>
      </p:sp>
      <p:pic>
        <p:nvPicPr>
          <p:cNvPr id="3" name="">
            <a:extLst xmlns:a="http://schemas.openxmlformats.org/drawingml/2006/main">
              <a:ext uri="{FF2B5EF4-FFF2-40B4-BE49-F238E27FC236}">
                <a16:creationId xmlns:a16="http://schemas.microsoft.com/office/drawing/2014/main" id="{AE0E1937-F0D3-49B2-B61C-2937D9DE760D}"/>
              </a:ext>
            </a:extLst>
          </p:cNvPr>
          <p:cNvPicPr>
            <a:picLocks xmlns:a="http://schemas.openxmlformats.org/drawingml/2006/main" noChangeAspect="1"/>
          </p:cNvPicPr>
          <p:nvPr/>
        </p:nvPicPr>
        <p:blipFill>
          <a:blip xmlns:r="http://schemas.openxmlformats.org/officeDocument/2006/relationships" xmlns:a="http://schemas.openxmlformats.org/drawingml/2006/main" r:embed="Rd2ecb31655cb41a8"/>
          <a:stretch xmlns:a="http://schemas.openxmlformats.org/drawingml/2006/main"/>
        </p:blipFill>
        <p:spPr>
          <a:xfrm xmlns:a="http://schemas.openxmlformats.org/drawingml/2006/main">
            <a:off x="11458575" y="6238875"/>
            <a:ext cx="419100" cy="419100"/>
          </a:xfrm>
          <a:prstGeom xmlns:a="http://schemas.openxmlformats.org/drawingml/2006/main" prst="rect">
            <a:avLst/>
          </a:prstGeom>
        </p:spPr>
      </p:pic>
      <p:sp>
        <p:nvSpPr>
          <p:cNvPr id="4" name="text-12">
            <a:extLst xmlns:a="http://schemas.openxmlformats.org/drawingml/2006/main">
              <a:ext uri="{FF2B5EF4-FFF2-40B4-BE49-F238E27FC236}">
                <a16:creationId xmlns:a16="http://schemas.microsoft.com/office/drawing/2014/main" id="{E3BE2488-CA07-4DED-A137-26C5130EAD83}"/>
              </a:ext>
            </a:extLst>
          </p:cNvPr>
          <p:cNvSpPr>
            <a:spLocks xmlns:a="http://schemas.openxmlformats.org/drawingml/2006/main" noGrp="1"/>
          </p:cNvSpPr>
          <p:nvPr/>
        </p:nvSpPr>
        <p:spPr>
          <a:xfrm xmlns:a="http://schemas.openxmlformats.org/drawingml/2006/main">
            <a:off x="533400" y="64484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87644"/>
                </a:solidFill>
                <a:latin typeface="Times New Roman"/>
                <a:ea typeface="Times New Roman"/>
                <a:cs typeface="Times New Roman"/>
              </a:defRPr>
            </a:defPPr>
            <a:lvl1pPr algn="l">
              <a:defRPr sz="1275" b="0">
                <a:solidFill>
                  <a:srgbClr val="087644"/>
                </a:solidFill>
                <a:latin typeface="Times New Roman"/>
                <a:ea typeface="Times New Roman"/>
                <a:cs typeface="Times New Roman"/>
              </a:defRPr>
            </a:lvl1pPr>
            <a:lvl2pPr algn="l">
              <a:defRPr sz="1275" b="0">
                <a:solidFill>
                  <a:srgbClr val="087644"/>
                </a:solidFill>
                <a:latin typeface="Times New Roman"/>
                <a:ea typeface="Times New Roman"/>
                <a:cs typeface="Times New Roman"/>
              </a:defRPr>
            </a:lvl2pPr>
            <a:lvl3pPr algn="l">
              <a:defRPr sz="1275" b="0">
                <a:solidFill>
                  <a:srgbClr val="087644"/>
                </a:solidFill>
                <a:latin typeface="Times New Roman"/>
                <a:ea typeface="Times New Roman"/>
                <a:cs typeface="Times New Roman"/>
              </a:defRPr>
            </a:lvl3pPr>
            <a:lvl4pPr algn="l">
              <a:defRPr sz="1275" b="0">
                <a:solidFill>
                  <a:srgbClr val="087644"/>
                </a:solidFill>
                <a:latin typeface="Times New Roman"/>
                <a:ea typeface="Times New Roman"/>
                <a:cs typeface="Times New Roman"/>
              </a:defRPr>
            </a:lvl4pPr>
            <a:lvl5pPr algn="l">
              <a:defRPr sz="1275" b="0">
                <a:solidFill>
                  <a:srgbClr val="087644"/>
                </a:solidFill>
                <a:latin typeface="Times New Roman"/>
                <a:ea typeface="Times New Roman"/>
                <a:cs typeface="Times New Roman"/>
              </a:defRPr>
            </a:lvl5pPr>
            <a:lvl6pPr algn="l">
              <a:defRPr sz="1275" b="0">
                <a:solidFill>
                  <a:srgbClr val="087644"/>
                </a:solidFill>
                <a:latin typeface="Times New Roman"/>
                <a:ea typeface="Times New Roman"/>
                <a:cs typeface="Times New Roman"/>
              </a:defRPr>
            </a:lvl6pPr>
            <a:lvl7pPr algn="l">
              <a:defRPr sz="1275" b="0">
                <a:solidFill>
                  <a:srgbClr val="087644"/>
                </a:solidFill>
                <a:latin typeface="Times New Roman"/>
                <a:ea typeface="Times New Roman"/>
                <a:cs typeface="Times New Roman"/>
              </a:defRPr>
            </a:lvl7pPr>
            <a:lvl8pPr algn="l">
              <a:defRPr sz="1275" b="0">
                <a:solidFill>
                  <a:srgbClr val="087644"/>
                </a:solidFill>
                <a:latin typeface="Times New Roman"/>
                <a:ea typeface="Times New Roman"/>
                <a:cs typeface="Times New Roman"/>
              </a:defRPr>
            </a:lvl8pPr>
            <a:lvl9pPr algn="l">
              <a:defRPr sz="1275" b="0">
                <a:solidFill>
                  <a:srgbClr val="087644"/>
                </a:solidFill>
                <a:latin typeface="Times New Roman"/>
                <a:ea typeface="Times New Roman"/>
                <a:cs typeface="Times New Roman"/>
              </a:defRPr>
            </a:lvl9pPr>
          </a:lstStyle>
          <a:p xmlns:a="http://schemas.openxmlformats.org/drawingml/2006/main">
            <a:pPr algn="l">
              <a:lnSpc>
                <a:spcPct val="112000"/>
              </a:lnSpc>
              <a:buNone/>
              <a:defRPr sz="1275" b="0">
                <a:solidFill>
                  <a:srgbClr val="087644"/>
                </a:solidFill>
                <a:latin typeface="Times New Roman"/>
                <a:ea typeface="Times New Roman"/>
                <a:cs typeface="Times New Roman"/>
              </a:defRPr>
            </a:pPr>
            <a:r>
              <a:rPr sz="1275" b="0">
                <a:solidFill>
                  <a:srgbClr val="087644"/>
                </a:solidFill>
                <a:latin typeface="Times New Roman"/>
                <a:ea typeface="Times New Roman"/>
                <a:cs typeface="Times New Roman"/>
              </a:rPr>
              <a:t>03</a:t>
            </a:r>
          </a:p>
        </p:txBody>
      </p:sp>
      <p:sp>
        <p:nvSpPr>
          <p:cNvPr id="5" name="text-13">
            <a:extLst xmlns:a="http://schemas.openxmlformats.org/drawingml/2006/main">
              <a:ext uri="{FF2B5EF4-FFF2-40B4-BE49-F238E27FC236}">
                <a16:creationId xmlns:a16="http://schemas.microsoft.com/office/drawing/2014/main" id="{C3B3454F-AB42-4197-A37E-0540EB6C2952}"/>
              </a:ext>
            </a:extLst>
          </p:cNvPr>
          <p:cNvSpPr>
            <a:spLocks xmlns:a="http://schemas.openxmlformats.org/drawingml/2006/main" noGrp="1"/>
          </p:cNvSpPr>
          <p:nvPr/>
        </p:nvSpPr>
        <p:spPr>
          <a:xfrm xmlns:a="http://schemas.openxmlformats.org/drawingml/2006/main">
            <a:off x="533400" y="130492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515"/>
                </a:solidFill>
                <a:latin typeface="Times New Roman"/>
                <a:ea typeface="Times New Roman"/>
                <a:cs typeface="Times New Roman"/>
              </a:defRPr>
            </a:defPPr>
            <a:lvl1pPr algn="l">
              <a:defRPr sz="2175" b="0">
                <a:solidFill>
                  <a:srgbClr val="151515"/>
                </a:solidFill>
                <a:latin typeface="Times New Roman"/>
                <a:ea typeface="Times New Roman"/>
                <a:cs typeface="Times New Roman"/>
              </a:defRPr>
            </a:lvl1pPr>
            <a:lvl2pPr algn="l">
              <a:defRPr sz="2175" b="0">
                <a:solidFill>
                  <a:srgbClr val="151515"/>
                </a:solidFill>
                <a:latin typeface="Times New Roman"/>
                <a:ea typeface="Times New Roman"/>
                <a:cs typeface="Times New Roman"/>
              </a:defRPr>
            </a:lvl2pPr>
            <a:lvl3pPr algn="l">
              <a:defRPr sz="2175" b="0">
                <a:solidFill>
                  <a:srgbClr val="151515"/>
                </a:solidFill>
                <a:latin typeface="Times New Roman"/>
                <a:ea typeface="Times New Roman"/>
                <a:cs typeface="Times New Roman"/>
              </a:defRPr>
            </a:lvl3pPr>
            <a:lvl4pPr algn="l">
              <a:defRPr sz="2175" b="0">
                <a:solidFill>
                  <a:srgbClr val="151515"/>
                </a:solidFill>
                <a:latin typeface="Times New Roman"/>
                <a:ea typeface="Times New Roman"/>
                <a:cs typeface="Times New Roman"/>
              </a:defRPr>
            </a:lvl4pPr>
            <a:lvl5pPr algn="l">
              <a:defRPr sz="2175" b="0">
                <a:solidFill>
                  <a:srgbClr val="151515"/>
                </a:solidFill>
                <a:latin typeface="Times New Roman"/>
                <a:ea typeface="Times New Roman"/>
                <a:cs typeface="Times New Roman"/>
              </a:defRPr>
            </a:lvl5pPr>
            <a:lvl6pPr algn="l">
              <a:defRPr sz="2175" b="0">
                <a:solidFill>
                  <a:srgbClr val="151515"/>
                </a:solidFill>
                <a:latin typeface="Times New Roman"/>
                <a:ea typeface="Times New Roman"/>
                <a:cs typeface="Times New Roman"/>
              </a:defRPr>
            </a:lvl6pPr>
            <a:lvl7pPr algn="l">
              <a:defRPr sz="2175" b="0">
                <a:solidFill>
                  <a:srgbClr val="151515"/>
                </a:solidFill>
                <a:latin typeface="Times New Roman"/>
                <a:ea typeface="Times New Roman"/>
                <a:cs typeface="Times New Roman"/>
              </a:defRPr>
            </a:lvl7pPr>
            <a:lvl8pPr algn="l">
              <a:defRPr sz="2175" b="0">
                <a:solidFill>
                  <a:srgbClr val="151515"/>
                </a:solidFill>
                <a:latin typeface="Times New Roman"/>
                <a:ea typeface="Times New Roman"/>
                <a:cs typeface="Times New Roman"/>
              </a:defRPr>
            </a:lvl8pPr>
            <a:lvl9pPr algn="l">
              <a:defRPr sz="2175" b="0">
                <a:solidFill>
                  <a:srgbClr val="151515"/>
                </a:solidFill>
                <a:latin typeface="Times New Roman"/>
                <a:ea typeface="Times New Roman"/>
                <a:cs typeface="Times New Roman"/>
              </a:defRPr>
            </a:lvl9pPr>
          </a:lstStyle>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From the project root in Windows Command Prompt</a:t>
            </a:r>
          </a:p>
        </p:txBody>
      </p:sp>
      <p:sp>
        <p:nvSpPr>
          <p:cNvPr id="6" name="code-14">
            <a:extLst xmlns:a="http://schemas.openxmlformats.org/drawingml/2006/main">
              <a:ext uri="{FF2B5EF4-FFF2-40B4-BE49-F238E27FC236}">
                <a16:creationId xmlns:a16="http://schemas.microsoft.com/office/drawing/2014/main" id="{97F8FCE1-6DB0-46AF-8C40-A47F88CE4241}"/>
              </a:ext>
            </a:extLst>
          </p:cNvPr>
          <p:cNvSpPr>
            <a:spLocks xmlns:a="http://schemas.openxmlformats.org/drawingml/2006/main" noGrp="1"/>
          </p:cNvSpPr>
          <p:nvPr/>
        </p:nvSpPr>
        <p:spPr>
          <a:xfrm xmlns:a="http://schemas.openxmlformats.org/drawingml/2006/main">
            <a:off x="533400" y="1905000"/>
            <a:ext cx="11125200" cy="1428750"/>
          </a:xfrm>
          <a:prstGeom xmlns:a="http://schemas.openxmlformats.org/drawingml/2006/main" prst="rect">
            <a:avLst/>
          </a:prstGeom>
          <a:solidFill xmlns:a="http://schemas.openxmlformats.org/drawingml/2006/main">
            <a:srgbClr val="17211C"/>
          </a:solidFill>
          <a:ln xmlns:a="http://schemas.openxmlformats.org/drawingml/2006/main" w="0">
            <a:noFill/>
          </a:ln>
        </p:spPr>
        <p:txBody>
          <a:bodyPr xmlns:a="http://schemas.openxmlformats.org/drawingml/2006/main" wrap="square" lIns="152400" tIns="152400" rIns="152400" bIns="152400" anchor="t">
            <a:noAutofit/>
          </a:bodyPr>
          <a:lstStyle xmlns:a="http://schemas.openxmlformats.org/drawingml/2006/main">
            <a:defPPr algn="l">
              <a:defRPr sz="1950" b="0">
                <a:solidFill>
                  <a:srgbClr val="F4F4F4"/>
                </a:solidFill>
                <a:latin typeface="Consolas"/>
                <a:ea typeface="Consolas"/>
                <a:cs typeface="Consolas"/>
              </a:defRPr>
            </a:defPPr>
            <a:lvl1pPr algn="l">
              <a:defRPr sz="1950" b="0">
                <a:solidFill>
                  <a:srgbClr val="F4F4F4"/>
                </a:solidFill>
                <a:latin typeface="Consolas"/>
                <a:ea typeface="Consolas"/>
                <a:cs typeface="Consolas"/>
              </a:defRPr>
            </a:lvl1pPr>
            <a:lvl2pPr algn="l">
              <a:defRPr sz="1950" b="0">
                <a:solidFill>
                  <a:srgbClr val="F4F4F4"/>
                </a:solidFill>
                <a:latin typeface="Consolas"/>
                <a:ea typeface="Consolas"/>
                <a:cs typeface="Consolas"/>
              </a:defRPr>
            </a:lvl2pPr>
            <a:lvl3pPr algn="l">
              <a:defRPr sz="1950" b="0">
                <a:solidFill>
                  <a:srgbClr val="F4F4F4"/>
                </a:solidFill>
                <a:latin typeface="Consolas"/>
                <a:ea typeface="Consolas"/>
                <a:cs typeface="Consolas"/>
              </a:defRPr>
            </a:lvl3pPr>
            <a:lvl4pPr algn="l">
              <a:defRPr sz="1950" b="0">
                <a:solidFill>
                  <a:srgbClr val="F4F4F4"/>
                </a:solidFill>
                <a:latin typeface="Consolas"/>
                <a:ea typeface="Consolas"/>
                <a:cs typeface="Consolas"/>
              </a:defRPr>
            </a:lvl4pPr>
            <a:lvl5pPr algn="l">
              <a:defRPr sz="1950" b="0">
                <a:solidFill>
                  <a:srgbClr val="F4F4F4"/>
                </a:solidFill>
                <a:latin typeface="Consolas"/>
                <a:ea typeface="Consolas"/>
                <a:cs typeface="Consolas"/>
              </a:defRPr>
            </a:lvl5pPr>
            <a:lvl6pPr algn="l">
              <a:defRPr sz="1950" b="0">
                <a:solidFill>
                  <a:srgbClr val="F4F4F4"/>
                </a:solidFill>
                <a:latin typeface="Consolas"/>
                <a:ea typeface="Consolas"/>
                <a:cs typeface="Consolas"/>
              </a:defRPr>
            </a:lvl6pPr>
            <a:lvl7pPr algn="l">
              <a:defRPr sz="1950" b="0">
                <a:solidFill>
                  <a:srgbClr val="F4F4F4"/>
                </a:solidFill>
                <a:latin typeface="Consolas"/>
                <a:ea typeface="Consolas"/>
                <a:cs typeface="Consolas"/>
              </a:defRPr>
            </a:lvl7pPr>
            <a:lvl8pPr algn="l">
              <a:defRPr sz="1950" b="0">
                <a:solidFill>
                  <a:srgbClr val="F4F4F4"/>
                </a:solidFill>
                <a:latin typeface="Consolas"/>
                <a:ea typeface="Consolas"/>
                <a:cs typeface="Consolas"/>
              </a:defRPr>
            </a:lvl8pPr>
            <a:lvl9pPr algn="l">
              <a:defRPr sz="1950" b="0">
                <a:solidFill>
                  <a:srgbClr val="F4F4F4"/>
                </a:solidFill>
                <a:latin typeface="Consolas"/>
                <a:ea typeface="Consolas"/>
                <a:cs typeface="Consolas"/>
              </a:defRPr>
            </a:lvl9pPr>
          </a:lstStyle>
          <a:p xmlns:a="http://schemas.openxmlformats.org/drawingml/2006/main">
            <a:pPr algn="l">
              <a:lnSpc>
                <a:spcPct val="112000"/>
              </a:lnSpc>
              <a:buNone/>
              <a:defRPr sz="1950" b="0">
                <a:solidFill>
                  <a:srgbClr val="F4F4F4"/>
                </a:solidFill>
                <a:latin typeface="Consolas"/>
                <a:ea typeface="Consolas"/>
                <a:cs typeface="Consolas"/>
              </a:defRPr>
            </a:pPr>
            <a:r>
              <a:rPr sz="1950" b="0">
                <a:solidFill>
                  <a:srgbClr val="F4F4F4"/>
                </a:solidFill>
                <a:latin typeface="Consolas"/>
                <a:ea typeface="Consolas"/>
                <a:cs typeface="Consolas"/>
              </a:rPr>
              <a:t>g++ -std=c++17 -pthread -Iinclude ^</a:t>
            </a:r>
          </a:p>
          <a:p xmlns:a="http://schemas.openxmlformats.org/drawingml/2006/main">
            <a:pPr algn="l">
              <a:lnSpc>
                <a:spcPct val="112000"/>
              </a:lnSpc>
              <a:buNone/>
              <a:defRPr sz="1950" b="0">
                <a:solidFill>
                  <a:srgbClr val="F4F4F4"/>
                </a:solidFill>
                <a:latin typeface="Consolas"/>
                <a:ea typeface="Consolas"/>
                <a:cs typeface="Consolas"/>
              </a:defRPr>
            </a:pPr>
            <a:r>
              <a:rPr sz="1950" b="0">
                <a:solidFill>
                  <a:srgbClr val="F4F4F4"/>
                </a:solidFill>
                <a:latin typeface="Consolas"/>
                <a:ea typeface="Consolas"/>
                <a:cs typeface="Consolas"/>
              </a:rPr>
              <a:t>    src/main.cpp src/simulation.cpp ^</a:t>
            </a:r>
          </a:p>
          <a:p xmlns:a="http://schemas.openxmlformats.org/drawingml/2006/main">
            <a:pPr algn="l">
              <a:lnSpc>
                <a:spcPct val="112000"/>
              </a:lnSpc>
              <a:buNone/>
              <a:defRPr sz="1950" b="0">
                <a:solidFill>
                  <a:srgbClr val="F4F4F4"/>
                </a:solidFill>
                <a:latin typeface="Consolas"/>
                <a:ea typeface="Consolas"/>
                <a:cs typeface="Consolas"/>
              </a:defRPr>
            </a:pPr>
            <a:r>
              <a:rPr sz="1950" b="0">
                <a:solidFill>
                  <a:srgbClr val="F4F4F4"/>
                </a:solidFill>
                <a:latin typeface="Consolas"/>
                <a:ea typeface="Consolas"/>
                <a:cs typeface="Consolas"/>
              </a:rPr>
              <a:t>    -o dungeon_queue.exe</a:t>
            </a:r>
          </a:p>
        </p:txBody>
      </p:sp>
      <p:sp>
        <p:nvSpPr>
          <p:cNvPr id="7" name="code-15">
            <a:extLst xmlns:a="http://schemas.openxmlformats.org/drawingml/2006/main">
              <a:ext uri="{FF2B5EF4-FFF2-40B4-BE49-F238E27FC236}">
                <a16:creationId xmlns:a16="http://schemas.microsoft.com/office/drawing/2014/main" id="{3BCB84BE-E159-4DB1-B7AA-78370289EEDF}"/>
              </a:ext>
            </a:extLst>
          </p:cNvPr>
          <p:cNvSpPr>
            <a:spLocks xmlns:a="http://schemas.openxmlformats.org/drawingml/2006/main" noGrp="1"/>
          </p:cNvSpPr>
          <p:nvPr/>
        </p:nvSpPr>
        <p:spPr>
          <a:xfrm xmlns:a="http://schemas.openxmlformats.org/drawingml/2006/main">
            <a:off x="533400" y="3667125"/>
            <a:ext cx="6286500" cy="1428750"/>
          </a:xfrm>
          <a:prstGeom xmlns:a="http://schemas.openxmlformats.org/drawingml/2006/main" prst="rect">
            <a:avLst/>
          </a:prstGeom>
          <a:solidFill xmlns:a="http://schemas.openxmlformats.org/drawingml/2006/main">
            <a:srgbClr val="17211C"/>
          </a:solidFill>
          <a:ln xmlns:a="http://schemas.openxmlformats.org/drawingml/2006/main" w="0">
            <a:noFill/>
          </a:ln>
        </p:spPr>
        <p:txBody>
          <a:bodyPr xmlns:a="http://schemas.openxmlformats.org/drawingml/2006/main" wrap="square" lIns="152400" tIns="152400" rIns="152400" bIns="152400" anchor="t">
            <a:noAutofit/>
          </a:bodyPr>
          <a:lstStyle xmlns:a="http://schemas.openxmlformats.org/drawingml/2006/main">
            <a:defPPr algn="l">
              <a:defRPr sz="1950" b="0">
                <a:solidFill>
                  <a:srgbClr val="F4F4F4"/>
                </a:solidFill>
                <a:latin typeface="Consolas"/>
                <a:ea typeface="Consolas"/>
                <a:cs typeface="Consolas"/>
              </a:defRPr>
            </a:defPPr>
            <a:lvl1pPr algn="l">
              <a:defRPr sz="1950" b="0">
                <a:solidFill>
                  <a:srgbClr val="F4F4F4"/>
                </a:solidFill>
                <a:latin typeface="Consolas"/>
                <a:ea typeface="Consolas"/>
                <a:cs typeface="Consolas"/>
              </a:defRPr>
            </a:lvl1pPr>
            <a:lvl2pPr algn="l">
              <a:defRPr sz="1950" b="0">
                <a:solidFill>
                  <a:srgbClr val="F4F4F4"/>
                </a:solidFill>
                <a:latin typeface="Consolas"/>
                <a:ea typeface="Consolas"/>
                <a:cs typeface="Consolas"/>
              </a:defRPr>
            </a:lvl2pPr>
            <a:lvl3pPr algn="l">
              <a:defRPr sz="1950" b="0">
                <a:solidFill>
                  <a:srgbClr val="F4F4F4"/>
                </a:solidFill>
                <a:latin typeface="Consolas"/>
                <a:ea typeface="Consolas"/>
                <a:cs typeface="Consolas"/>
              </a:defRPr>
            </a:lvl3pPr>
            <a:lvl4pPr algn="l">
              <a:defRPr sz="1950" b="0">
                <a:solidFill>
                  <a:srgbClr val="F4F4F4"/>
                </a:solidFill>
                <a:latin typeface="Consolas"/>
                <a:ea typeface="Consolas"/>
                <a:cs typeface="Consolas"/>
              </a:defRPr>
            </a:lvl4pPr>
            <a:lvl5pPr algn="l">
              <a:defRPr sz="1950" b="0">
                <a:solidFill>
                  <a:srgbClr val="F4F4F4"/>
                </a:solidFill>
                <a:latin typeface="Consolas"/>
                <a:ea typeface="Consolas"/>
                <a:cs typeface="Consolas"/>
              </a:defRPr>
            </a:lvl5pPr>
            <a:lvl6pPr algn="l">
              <a:defRPr sz="1950" b="0">
                <a:solidFill>
                  <a:srgbClr val="F4F4F4"/>
                </a:solidFill>
                <a:latin typeface="Consolas"/>
                <a:ea typeface="Consolas"/>
                <a:cs typeface="Consolas"/>
              </a:defRPr>
            </a:lvl6pPr>
            <a:lvl7pPr algn="l">
              <a:defRPr sz="1950" b="0">
                <a:solidFill>
                  <a:srgbClr val="F4F4F4"/>
                </a:solidFill>
                <a:latin typeface="Consolas"/>
                <a:ea typeface="Consolas"/>
                <a:cs typeface="Consolas"/>
              </a:defRPr>
            </a:lvl7pPr>
            <a:lvl8pPr algn="l">
              <a:defRPr sz="1950" b="0">
                <a:solidFill>
                  <a:srgbClr val="F4F4F4"/>
                </a:solidFill>
                <a:latin typeface="Consolas"/>
                <a:ea typeface="Consolas"/>
                <a:cs typeface="Consolas"/>
              </a:defRPr>
            </a:lvl8pPr>
            <a:lvl9pPr algn="l">
              <a:defRPr sz="1950" b="0">
                <a:solidFill>
                  <a:srgbClr val="F4F4F4"/>
                </a:solidFill>
                <a:latin typeface="Consolas"/>
                <a:ea typeface="Consolas"/>
                <a:cs typeface="Consolas"/>
              </a:defRPr>
            </a:lvl9pPr>
          </a:lstStyle>
          <a:p xmlns:a="http://schemas.openxmlformats.org/drawingml/2006/main">
            <a:pPr algn="l">
              <a:lnSpc>
                <a:spcPct val="112000"/>
              </a:lnSpc>
              <a:buNone/>
              <a:defRPr sz="1950" b="0">
                <a:solidFill>
                  <a:srgbClr val="F4F4F4"/>
                </a:solidFill>
                <a:latin typeface="Consolas"/>
                <a:ea typeface="Consolas"/>
                <a:cs typeface="Consolas"/>
              </a:defRPr>
            </a:pPr>
            <a:r>
              <a:rPr sz="1950" b="0">
                <a:solidFill>
                  <a:srgbClr val="F4F4F4"/>
                </a:solidFill>
                <a:latin typeface="Consolas"/>
                <a:ea typeface="Consolas"/>
                <a:cs typeface="Consolas"/>
              </a:rPr>
              <a:t>dungeon_queue.exe</a:t>
            </a:r>
          </a:p>
          <a:p xmlns:a="http://schemas.openxmlformats.org/drawingml/2006/main">
            <a:r>
              <a:t/>
            </a:r>
          </a:p>
          <a:p xmlns:a="http://schemas.openxmlformats.org/drawingml/2006/main">
            <a:pPr algn="l">
              <a:lnSpc>
                <a:spcPct val="112000"/>
              </a:lnSpc>
              <a:buNone/>
              <a:defRPr sz="1950" b="0">
                <a:solidFill>
                  <a:srgbClr val="F4F4F4"/>
                </a:solidFill>
                <a:latin typeface="Consolas"/>
                <a:ea typeface="Consolas"/>
                <a:cs typeface="Consolas"/>
              </a:defRPr>
            </a:pPr>
            <a:r>
              <a:rPr sz="1950" b="0">
                <a:solidFill>
                  <a:srgbClr val="F4F4F4"/>
                </a:solidFill>
                <a:latin typeface="Consolas"/>
                <a:ea typeface="Consolas"/>
                <a:cs typeface="Consolas"/>
              </a:rPr>
              <a:t>2 4 3 10 1 1</a:t>
            </a:r>
          </a:p>
        </p:txBody>
      </p:sp>
      <p:sp>
        <p:nvSpPr>
          <p:cNvPr id="8" name="text-16">
            <a:extLst xmlns:a="http://schemas.openxmlformats.org/drawingml/2006/main">
              <a:ext uri="{FF2B5EF4-FFF2-40B4-BE49-F238E27FC236}">
                <a16:creationId xmlns:a16="http://schemas.microsoft.com/office/drawing/2014/main" id="{82C8B511-C5C2-4EC0-8DB9-E387BF626509}"/>
              </a:ext>
            </a:extLst>
          </p:cNvPr>
          <p:cNvSpPr>
            <a:spLocks xmlns:a="http://schemas.openxmlformats.org/drawingml/2006/main" noGrp="1"/>
          </p:cNvSpPr>
          <p:nvPr/>
        </p:nvSpPr>
        <p:spPr>
          <a:xfrm xmlns:a="http://schemas.openxmlformats.org/drawingml/2006/main">
            <a:off x="7239000" y="3762375"/>
            <a:ext cx="4286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51515"/>
                </a:solidFill>
                <a:latin typeface="Times New Roman"/>
                <a:ea typeface="Times New Roman"/>
                <a:cs typeface="Times New Roman"/>
              </a:defRPr>
            </a:defPPr>
            <a:lvl1pPr algn="l">
              <a:defRPr sz="2025" b="0">
                <a:solidFill>
                  <a:srgbClr val="151515"/>
                </a:solidFill>
                <a:latin typeface="Times New Roman"/>
                <a:ea typeface="Times New Roman"/>
                <a:cs typeface="Times New Roman"/>
              </a:defRPr>
            </a:lvl1pPr>
            <a:lvl2pPr algn="l">
              <a:defRPr sz="2025" b="0">
                <a:solidFill>
                  <a:srgbClr val="151515"/>
                </a:solidFill>
                <a:latin typeface="Times New Roman"/>
                <a:ea typeface="Times New Roman"/>
                <a:cs typeface="Times New Roman"/>
              </a:defRPr>
            </a:lvl2pPr>
            <a:lvl3pPr algn="l">
              <a:defRPr sz="2025" b="0">
                <a:solidFill>
                  <a:srgbClr val="151515"/>
                </a:solidFill>
                <a:latin typeface="Times New Roman"/>
                <a:ea typeface="Times New Roman"/>
                <a:cs typeface="Times New Roman"/>
              </a:defRPr>
            </a:lvl3pPr>
            <a:lvl4pPr algn="l">
              <a:defRPr sz="2025" b="0">
                <a:solidFill>
                  <a:srgbClr val="151515"/>
                </a:solidFill>
                <a:latin typeface="Times New Roman"/>
                <a:ea typeface="Times New Roman"/>
                <a:cs typeface="Times New Roman"/>
              </a:defRPr>
            </a:lvl4pPr>
            <a:lvl5pPr algn="l">
              <a:defRPr sz="2025" b="0">
                <a:solidFill>
                  <a:srgbClr val="151515"/>
                </a:solidFill>
                <a:latin typeface="Times New Roman"/>
                <a:ea typeface="Times New Roman"/>
                <a:cs typeface="Times New Roman"/>
              </a:defRPr>
            </a:lvl5pPr>
            <a:lvl6pPr algn="l">
              <a:defRPr sz="2025" b="0">
                <a:solidFill>
                  <a:srgbClr val="151515"/>
                </a:solidFill>
                <a:latin typeface="Times New Roman"/>
                <a:ea typeface="Times New Roman"/>
                <a:cs typeface="Times New Roman"/>
              </a:defRPr>
            </a:lvl6pPr>
            <a:lvl7pPr algn="l">
              <a:defRPr sz="2025" b="0">
                <a:solidFill>
                  <a:srgbClr val="151515"/>
                </a:solidFill>
                <a:latin typeface="Times New Roman"/>
                <a:ea typeface="Times New Roman"/>
                <a:cs typeface="Times New Roman"/>
              </a:defRPr>
            </a:lvl7pPr>
            <a:lvl8pPr algn="l">
              <a:defRPr sz="2025" b="0">
                <a:solidFill>
                  <a:srgbClr val="151515"/>
                </a:solidFill>
                <a:latin typeface="Times New Roman"/>
                <a:ea typeface="Times New Roman"/>
                <a:cs typeface="Times New Roman"/>
              </a:defRPr>
            </a:lvl8pPr>
            <a:lvl9pPr algn="l">
              <a:defRPr sz="2025" b="0">
                <a:solidFill>
                  <a:srgbClr val="151515"/>
                </a:solidFill>
                <a:latin typeface="Times New Roman"/>
                <a:ea typeface="Times New Roman"/>
                <a:cs typeface="Times New Roman"/>
              </a:defRPr>
            </a:lvl9pPr>
          </a:lstStyle>
          <a:p xmlns:a="http://schemas.openxmlformats.org/drawingml/2006/main">
            <a:pPr algn="l">
              <a:lnSpc>
                <a:spcPct val="112000"/>
              </a:lnSpc>
              <a:buNone/>
              <a:defRPr sz="2025" b="0">
                <a:solidFill>
                  <a:srgbClr val="151515"/>
                </a:solidFill>
                <a:latin typeface="Times New Roman"/>
                <a:ea typeface="Times New Roman"/>
                <a:cs typeface="Times New Roman"/>
              </a:defRPr>
            </a:pPr>
            <a:r>
              <a:rPr sz="2025" b="0">
                <a:solidFill>
                  <a:srgbClr val="151515"/>
                </a:solidFill>
                <a:latin typeface="Times New Roman"/>
                <a:ea typeface="Times New Roman"/>
                <a:cs typeface="Times New Roman"/>
              </a:rPr>
              <a:t>Use a modern GCC with C++17 support.</a:t>
            </a:r>
          </a:p>
          <a:p xmlns:a="http://schemas.openxmlformats.org/drawingml/2006/main">
            <a:pPr algn="l">
              <a:lnSpc>
                <a:spcPct val="112000"/>
              </a:lnSpc>
              <a:buNone/>
              <a:defRPr sz="2025" b="0">
                <a:solidFill>
                  <a:srgbClr val="151515"/>
                </a:solidFill>
                <a:latin typeface="Times New Roman"/>
                <a:ea typeface="Times New Roman"/>
                <a:cs typeface="Times New Roman"/>
              </a:defRPr>
            </a:pPr>
            <a:r>
              <a:rPr sz="2025" b="0">
                <a:solidFill>
                  <a:srgbClr val="151515"/>
                </a:solidFill>
                <a:latin typeface="Times New Roman"/>
                <a:ea typeface="Times New Roman"/>
                <a:cs typeface="Times New Roman"/>
              </a:rPr>
              <a:t>Compile both source files.</a:t>
            </a:r>
          </a:p>
          <a:p xmlns:a="http://schemas.openxmlformats.org/drawingml/2006/main">
            <a:pPr algn="l">
              <a:lnSpc>
                <a:spcPct val="112000"/>
              </a:lnSpc>
              <a:buNone/>
              <a:defRPr sz="2025" b="0">
                <a:solidFill>
                  <a:srgbClr val="151515"/>
                </a:solidFill>
                <a:latin typeface="Times New Roman"/>
                <a:ea typeface="Times New Roman"/>
                <a:cs typeface="Times New Roman"/>
              </a:defRPr>
            </a:pPr>
            <a:r>
              <a:rPr sz="2025" b="0">
                <a:solidFill>
                  <a:srgbClr val="151515"/>
                </a:solidFill>
                <a:latin typeface="Times New Roman"/>
                <a:ea typeface="Times New Roman"/>
                <a:cs typeface="Times New Roman"/>
              </a:rPr>
              <a:t>The executable goes in the project root.</a:t>
            </a:r>
          </a:p>
        </p:txBody>
      </p:sp>
      <p:sp>
        <p:nvSpPr>
          <p:cNvPr id="9" name="text-17">
            <a:extLst xmlns:a="http://schemas.openxmlformats.org/drawingml/2006/main">
              <a:ext uri="{FF2B5EF4-FFF2-40B4-BE49-F238E27FC236}">
                <a16:creationId xmlns:a16="http://schemas.microsoft.com/office/drawing/2014/main" id="{96552EE7-84B6-422F-B61C-AA17B8FD5DF0}"/>
              </a:ext>
            </a:extLst>
          </p:cNvPr>
          <p:cNvSpPr>
            <a:spLocks xmlns:a="http://schemas.openxmlformats.org/drawingml/2006/main" noGrp="1"/>
          </p:cNvSpPr>
          <p:nvPr/>
        </p:nvSpPr>
        <p:spPr>
          <a:xfrm xmlns:a="http://schemas.openxmlformats.org/drawingml/2006/main">
            <a:off x="533400" y="5429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515"/>
                </a:solidFill>
                <a:latin typeface="Times New Roman"/>
                <a:ea typeface="Times New Roman"/>
                <a:cs typeface="Times New Roman"/>
              </a:defRPr>
            </a:defPPr>
            <a:lvl1pPr algn="l">
              <a:defRPr sz="2175" b="0">
                <a:solidFill>
                  <a:srgbClr val="151515"/>
                </a:solidFill>
                <a:latin typeface="Times New Roman"/>
                <a:ea typeface="Times New Roman"/>
                <a:cs typeface="Times New Roman"/>
              </a:defRPr>
            </a:lvl1pPr>
            <a:lvl2pPr algn="l">
              <a:defRPr sz="2175" b="0">
                <a:solidFill>
                  <a:srgbClr val="151515"/>
                </a:solidFill>
                <a:latin typeface="Times New Roman"/>
                <a:ea typeface="Times New Roman"/>
                <a:cs typeface="Times New Roman"/>
              </a:defRPr>
            </a:lvl2pPr>
            <a:lvl3pPr algn="l">
              <a:defRPr sz="2175" b="0">
                <a:solidFill>
                  <a:srgbClr val="151515"/>
                </a:solidFill>
                <a:latin typeface="Times New Roman"/>
                <a:ea typeface="Times New Roman"/>
                <a:cs typeface="Times New Roman"/>
              </a:defRPr>
            </a:lvl3pPr>
            <a:lvl4pPr algn="l">
              <a:defRPr sz="2175" b="0">
                <a:solidFill>
                  <a:srgbClr val="151515"/>
                </a:solidFill>
                <a:latin typeface="Times New Roman"/>
                <a:ea typeface="Times New Roman"/>
                <a:cs typeface="Times New Roman"/>
              </a:defRPr>
            </a:lvl4pPr>
            <a:lvl5pPr algn="l">
              <a:defRPr sz="2175" b="0">
                <a:solidFill>
                  <a:srgbClr val="151515"/>
                </a:solidFill>
                <a:latin typeface="Times New Roman"/>
                <a:ea typeface="Times New Roman"/>
                <a:cs typeface="Times New Roman"/>
              </a:defRPr>
            </a:lvl5pPr>
            <a:lvl6pPr algn="l">
              <a:defRPr sz="2175" b="0">
                <a:solidFill>
                  <a:srgbClr val="151515"/>
                </a:solidFill>
                <a:latin typeface="Times New Roman"/>
                <a:ea typeface="Times New Roman"/>
                <a:cs typeface="Times New Roman"/>
              </a:defRPr>
            </a:lvl6pPr>
            <a:lvl7pPr algn="l">
              <a:defRPr sz="2175" b="0">
                <a:solidFill>
                  <a:srgbClr val="151515"/>
                </a:solidFill>
                <a:latin typeface="Times New Roman"/>
                <a:ea typeface="Times New Roman"/>
                <a:cs typeface="Times New Roman"/>
              </a:defRPr>
            </a:lvl7pPr>
            <a:lvl8pPr algn="l">
              <a:defRPr sz="2175" b="0">
                <a:solidFill>
                  <a:srgbClr val="151515"/>
                </a:solidFill>
                <a:latin typeface="Times New Roman"/>
                <a:ea typeface="Times New Roman"/>
                <a:cs typeface="Times New Roman"/>
              </a:defRPr>
            </a:lvl8pPr>
            <a:lvl9pPr algn="l">
              <a:defRPr sz="2175" b="0">
                <a:solidFill>
                  <a:srgbClr val="151515"/>
                </a:solidFill>
                <a:latin typeface="Times New Roman"/>
                <a:ea typeface="Times New Roman"/>
                <a:cs typeface="Times New Roman"/>
              </a:defRPr>
            </a:lvl9pPr>
          </a:lstStyle>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Input order: n  t  h  d  t1  t2</a:t>
            </a:r>
          </a:p>
        </p:txBody>
      </p:sp>
    </p:spTree>
    <p:extLst>
      <p:ext uri="{BB962C8B-B14F-4D97-AF65-F5344CB8AC3E}">
        <p14:creationId xmlns:p14="http://schemas.microsoft.com/office/powerpoint/2010/main" val="17436855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2086FF8-6BD8-45A9-8AF8-A3E541E7AC72}"/>
              </a:ext>
            </a:extLst>
          </p:cNvPr>
          <p:cNvSpPr>
            <a:spLocks xmlns:a="http://schemas.openxmlformats.org/drawingml/2006/main" noGrp="1"/>
          </p:cNvSpPr>
          <p:nvPr/>
        </p:nvSpPr>
        <p:spPr>
          <a:xfrm xmlns:a="http://schemas.openxmlformats.org/drawingml/2006/main">
            <a:off x="533400" y="361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51515"/>
                </a:solidFill>
                <a:latin typeface="Times New Roman"/>
                <a:ea typeface="Times New Roman"/>
                <a:cs typeface="Times New Roman"/>
              </a:defRPr>
            </a:defPPr>
            <a:lvl1pPr algn="l">
              <a:defRPr sz="3300" b="0">
                <a:solidFill>
                  <a:srgbClr val="151515"/>
                </a:solidFill>
                <a:latin typeface="Times New Roman"/>
                <a:ea typeface="Times New Roman"/>
                <a:cs typeface="Times New Roman"/>
              </a:defRPr>
            </a:lvl1pPr>
            <a:lvl2pPr algn="l">
              <a:defRPr sz="3300" b="0">
                <a:solidFill>
                  <a:srgbClr val="151515"/>
                </a:solidFill>
                <a:latin typeface="Times New Roman"/>
                <a:ea typeface="Times New Roman"/>
                <a:cs typeface="Times New Roman"/>
              </a:defRPr>
            </a:lvl2pPr>
            <a:lvl3pPr algn="l">
              <a:defRPr sz="3300" b="0">
                <a:solidFill>
                  <a:srgbClr val="151515"/>
                </a:solidFill>
                <a:latin typeface="Times New Roman"/>
                <a:ea typeface="Times New Roman"/>
                <a:cs typeface="Times New Roman"/>
              </a:defRPr>
            </a:lvl3pPr>
            <a:lvl4pPr algn="l">
              <a:defRPr sz="3300" b="0">
                <a:solidFill>
                  <a:srgbClr val="151515"/>
                </a:solidFill>
                <a:latin typeface="Times New Roman"/>
                <a:ea typeface="Times New Roman"/>
                <a:cs typeface="Times New Roman"/>
              </a:defRPr>
            </a:lvl4pPr>
            <a:lvl5pPr algn="l">
              <a:defRPr sz="3300" b="0">
                <a:solidFill>
                  <a:srgbClr val="151515"/>
                </a:solidFill>
                <a:latin typeface="Times New Roman"/>
                <a:ea typeface="Times New Roman"/>
                <a:cs typeface="Times New Roman"/>
              </a:defRPr>
            </a:lvl5pPr>
            <a:lvl6pPr algn="l">
              <a:defRPr sz="3300" b="0">
                <a:solidFill>
                  <a:srgbClr val="151515"/>
                </a:solidFill>
                <a:latin typeface="Times New Roman"/>
                <a:ea typeface="Times New Roman"/>
                <a:cs typeface="Times New Roman"/>
              </a:defRPr>
            </a:lvl6pPr>
            <a:lvl7pPr algn="l">
              <a:defRPr sz="3300" b="0">
                <a:solidFill>
                  <a:srgbClr val="151515"/>
                </a:solidFill>
                <a:latin typeface="Times New Roman"/>
                <a:ea typeface="Times New Roman"/>
                <a:cs typeface="Times New Roman"/>
              </a:defRPr>
            </a:lvl7pPr>
            <a:lvl8pPr algn="l">
              <a:defRPr sz="3300" b="0">
                <a:solidFill>
                  <a:srgbClr val="151515"/>
                </a:solidFill>
                <a:latin typeface="Times New Roman"/>
                <a:ea typeface="Times New Roman"/>
                <a:cs typeface="Times New Roman"/>
              </a:defRPr>
            </a:lvl8pPr>
            <a:lvl9pPr algn="l">
              <a:defRPr sz="3300" b="0">
                <a:solidFill>
                  <a:srgbClr val="151515"/>
                </a:solidFill>
                <a:latin typeface="Times New Roman"/>
                <a:ea typeface="Times New Roman"/>
                <a:cs typeface="Times New Roman"/>
              </a:defRPr>
            </a:lvl9pPr>
          </a:lstStyle>
          <a:p xmlns:a="http://schemas.openxmlformats.org/drawingml/2006/main">
            <a:pPr algn="l">
              <a:lnSpc>
                <a:spcPct val="112000"/>
              </a:lnSpc>
              <a:buNone/>
              <a:defRPr sz="3300" b="0">
                <a:solidFill>
                  <a:srgbClr val="151515"/>
                </a:solidFill>
                <a:latin typeface="Times New Roman"/>
                <a:ea typeface="Times New Roman"/>
                <a:cs typeface="Times New Roman"/>
              </a:defRPr>
            </a:pPr>
            <a:r>
              <a:rPr sz="3300" b="0">
                <a:solidFill>
                  <a:srgbClr val="151515"/>
                </a:solidFill>
                <a:latin typeface="Times New Roman"/>
                <a:ea typeface="Times New Roman"/>
                <a:cs typeface="Times New Roman"/>
              </a:rPr>
              <a:t>Project Structure</a:t>
            </a:r>
          </a:p>
        </p:txBody>
      </p:sp>
      <p:pic>
        <p:nvPicPr>
          <p:cNvPr id="3" name="">
            <a:extLst xmlns:a="http://schemas.openxmlformats.org/drawingml/2006/main">
              <a:ext uri="{FF2B5EF4-FFF2-40B4-BE49-F238E27FC236}">
                <a16:creationId xmlns:a16="http://schemas.microsoft.com/office/drawing/2014/main" id="{9E30495D-6745-4365-B746-846D8C61CBDD}"/>
              </a:ext>
            </a:extLst>
          </p:cNvPr>
          <p:cNvPicPr>
            <a:picLocks xmlns:a="http://schemas.openxmlformats.org/drawingml/2006/main" noChangeAspect="1"/>
          </p:cNvPicPr>
          <p:nvPr/>
        </p:nvPicPr>
        <p:blipFill>
          <a:blip xmlns:r="http://schemas.openxmlformats.org/officeDocument/2006/relationships" xmlns:a="http://schemas.openxmlformats.org/drawingml/2006/main" r:embed="R1382c70a5fb64fc9"/>
          <a:stretch xmlns:a="http://schemas.openxmlformats.org/drawingml/2006/main"/>
        </p:blipFill>
        <p:spPr>
          <a:xfrm xmlns:a="http://schemas.openxmlformats.org/drawingml/2006/main">
            <a:off x="11458575" y="6238875"/>
            <a:ext cx="419100" cy="419100"/>
          </a:xfrm>
          <a:prstGeom xmlns:a="http://schemas.openxmlformats.org/drawingml/2006/main" prst="rect">
            <a:avLst/>
          </a:prstGeom>
        </p:spPr>
      </p:pic>
      <p:sp>
        <p:nvSpPr>
          <p:cNvPr id="4" name="text-18">
            <a:extLst xmlns:a="http://schemas.openxmlformats.org/drawingml/2006/main">
              <a:ext uri="{FF2B5EF4-FFF2-40B4-BE49-F238E27FC236}">
                <a16:creationId xmlns:a16="http://schemas.microsoft.com/office/drawing/2014/main" id="{99389C80-D4F1-4866-9FC0-09A03B46F47D}"/>
              </a:ext>
            </a:extLst>
          </p:cNvPr>
          <p:cNvSpPr>
            <a:spLocks xmlns:a="http://schemas.openxmlformats.org/drawingml/2006/main" noGrp="1"/>
          </p:cNvSpPr>
          <p:nvPr/>
        </p:nvSpPr>
        <p:spPr>
          <a:xfrm xmlns:a="http://schemas.openxmlformats.org/drawingml/2006/main">
            <a:off x="533400" y="64484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87644"/>
                </a:solidFill>
                <a:latin typeface="Times New Roman"/>
                <a:ea typeface="Times New Roman"/>
                <a:cs typeface="Times New Roman"/>
              </a:defRPr>
            </a:defPPr>
            <a:lvl1pPr algn="l">
              <a:defRPr sz="1275" b="0">
                <a:solidFill>
                  <a:srgbClr val="087644"/>
                </a:solidFill>
                <a:latin typeface="Times New Roman"/>
                <a:ea typeface="Times New Roman"/>
                <a:cs typeface="Times New Roman"/>
              </a:defRPr>
            </a:lvl1pPr>
            <a:lvl2pPr algn="l">
              <a:defRPr sz="1275" b="0">
                <a:solidFill>
                  <a:srgbClr val="087644"/>
                </a:solidFill>
                <a:latin typeface="Times New Roman"/>
                <a:ea typeface="Times New Roman"/>
                <a:cs typeface="Times New Roman"/>
              </a:defRPr>
            </a:lvl2pPr>
            <a:lvl3pPr algn="l">
              <a:defRPr sz="1275" b="0">
                <a:solidFill>
                  <a:srgbClr val="087644"/>
                </a:solidFill>
                <a:latin typeface="Times New Roman"/>
                <a:ea typeface="Times New Roman"/>
                <a:cs typeface="Times New Roman"/>
              </a:defRPr>
            </a:lvl3pPr>
            <a:lvl4pPr algn="l">
              <a:defRPr sz="1275" b="0">
                <a:solidFill>
                  <a:srgbClr val="087644"/>
                </a:solidFill>
                <a:latin typeface="Times New Roman"/>
                <a:ea typeface="Times New Roman"/>
                <a:cs typeface="Times New Roman"/>
              </a:defRPr>
            </a:lvl4pPr>
            <a:lvl5pPr algn="l">
              <a:defRPr sz="1275" b="0">
                <a:solidFill>
                  <a:srgbClr val="087644"/>
                </a:solidFill>
                <a:latin typeface="Times New Roman"/>
                <a:ea typeface="Times New Roman"/>
                <a:cs typeface="Times New Roman"/>
              </a:defRPr>
            </a:lvl5pPr>
            <a:lvl6pPr algn="l">
              <a:defRPr sz="1275" b="0">
                <a:solidFill>
                  <a:srgbClr val="087644"/>
                </a:solidFill>
                <a:latin typeface="Times New Roman"/>
                <a:ea typeface="Times New Roman"/>
                <a:cs typeface="Times New Roman"/>
              </a:defRPr>
            </a:lvl6pPr>
            <a:lvl7pPr algn="l">
              <a:defRPr sz="1275" b="0">
                <a:solidFill>
                  <a:srgbClr val="087644"/>
                </a:solidFill>
                <a:latin typeface="Times New Roman"/>
                <a:ea typeface="Times New Roman"/>
                <a:cs typeface="Times New Roman"/>
              </a:defRPr>
            </a:lvl7pPr>
            <a:lvl8pPr algn="l">
              <a:defRPr sz="1275" b="0">
                <a:solidFill>
                  <a:srgbClr val="087644"/>
                </a:solidFill>
                <a:latin typeface="Times New Roman"/>
                <a:ea typeface="Times New Roman"/>
                <a:cs typeface="Times New Roman"/>
              </a:defRPr>
            </a:lvl8pPr>
            <a:lvl9pPr algn="l">
              <a:defRPr sz="1275" b="0">
                <a:solidFill>
                  <a:srgbClr val="087644"/>
                </a:solidFill>
                <a:latin typeface="Times New Roman"/>
                <a:ea typeface="Times New Roman"/>
                <a:cs typeface="Times New Roman"/>
              </a:defRPr>
            </a:lvl9pPr>
          </a:lstStyle>
          <a:p xmlns:a="http://schemas.openxmlformats.org/drawingml/2006/main">
            <a:pPr algn="l">
              <a:lnSpc>
                <a:spcPct val="112000"/>
              </a:lnSpc>
              <a:buNone/>
              <a:defRPr sz="1275" b="0">
                <a:solidFill>
                  <a:srgbClr val="087644"/>
                </a:solidFill>
                <a:latin typeface="Times New Roman"/>
                <a:ea typeface="Times New Roman"/>
                <a:cs typeface="Times New Roman"/>
              </a:defRPr>
            </a:pPr>
            <a:r>
              <a:rPr sz="1275" b="0">
                <a:solidFill>
                  <a:srgbClr val="087644"/>
                </a:solidFill>
                <a:latin typeface="Times New Roman"/>
                <a:ea typeface="Times New Roman"/>
                <a:cs typeface="Times New Roman"/>
              </a:rPr>
              <a:t>04</a:t>
            </a:r>
          </a:p>
        </p:txBody>
      </p:sp>
      <p:graphicFrame>
        <p:nvGraphicFramePr>
          <p:cNvPr id="5" name="">
            <a:extLst xmlns:a="http://schemas.openxmlformats.org/drawingml/2006/main">
              <a:ext uri="{FF2B5EF4-FFF2-40B4-BE49-F238E27FC236}">
                <a16:creationId xmlns:a16="http://schemas.microsoft.com/office/drawing/2014/main" id="{F5C18799-92BF-497F-8C0D-D0D2FD38EF94}"/>
              </a:ext>
            </a:extLst>
          </p:cNvPr>
          <p:cNvGraphicFramePr/>
          <p:nvPr/>
        </p:nvGraphicFramePr>
        <p:xfrm>
          <a:off xmlns:a="http://schemas.openxmlformats.org/drawingml/2006/main" x="533400" y="1314450"/>
          <a:ext xmlns:a="http://schemas.openxmlformats.org/drawingml/2006/main" cx="11125200" cy="4333875"/>
        </p:xfrm>
        <a:graphic xmlns:a="http://schemas.openxmlformats.org/drawingml/2006/main">
          <a:graphicData uri="http://schemas.openxmlformats.org/drawingml/2006/table">
            <a:tbl>
              <a:tblPr firstRow="0" bandRow="0"/>
              <a:tblGrid>
                <a:gridCol w="4495800"/>
                <a:gridCol w="6629400"/>
              </a:tblGrid>
              <a:tr h="619125">
                <a:tc>
                  <a:txBody>
                    <a:bodyPr wrap="square" lIns="133350" tIns="95250" rIns="133350" bIns="95250"/>
                    <a:lstStyle/>
                    <a:p>
                      <a:r>
                        <a:rPr sz="1875" b="1">
                          <a:solidFill>
                            <a:srgbClr val="087644"/>
                          </a:solidFill>
                          <a:latin typeface="Times New Roman"/>
                          <a:ea typeface="Times New Roman"/>
                          <a:cs typeface="Times New Roman"/>
                        </a:rPr>
                        <a:t>File or group</a:t>
                      </a:r>
                    </a:p>
                  </a:txBody>
                  <a:tcPr marL="91440" marR="91440" marT="45720" marB="45720" anchor="ctr">
                    <a:lnL w="6668">
                      <a:solidFill>
                        <a:srgbClr val="9EAAA3"/>
                      </a:solidFill>
                      <a:prstDash val="solid"/>
                    </a:lnL>
                    <a:lnR w="6668">
                      <a:solidFill>
                        <a:srgbClr val="9EAAA3"/>
                      </a:solidFill>
                      <a:prstDash val="solid"/>
                    </a:lnR>
                    <a:lnT w="6668">
                      <a:solidFill>
                        <a:srgbClr val="9EAAA3"/>
                      </a:solidFill>
                      <a:prstDash val="solid"/>
                    </a:lnT>
                    <a:lnB w="6668">
                      <a:solidFill>
                        <a:srgbClr val="9EAAA3"/>
                      </a:solidFill>
                      <a:prstDash val="solid"/>
                    </a:lnB>
                    <a:solidFill>
                      <a:srgbClr val="E7F0EA"/>
                    </a:solidFill>
                  </a:tcPr>
                </a:tc>
                <a:tc>
                  <a:txBody>
                    <a:bodyPr wrap="square" lIns="133350" tIns="95250" rIns="133350" bIns="95250"/>
                    <a:lstStyle/>
                    <a:p>
                      <a:r>
                        <a:rPr sz="1875" b="1">
                          <a:solidFill>
                            <a:srgbClr val="087644"/>
                          </a:solidFill>
                          <a:latin typeface="Times New Roman"/>
                          <a:ea typeface="Times New Roman"/>
                          <a:cs typeface="Times New Roman"/>
                        </a:rPr>
                        <a:t>Role</a:t>
                      </a:r>
                    </a:p>
                  </a:txBody>
                  <a:tcPr marL="91440" marR="91440" marT="45720" marB="45720" anchor="ctr">
                    <a:lnR w="6668">
                      <a:solidFill>
                        <a:srgbClr val="9EAAA3"/>
                      </a:solidFill>
                      <a:prstDash val="solid"/>
                    </a:lnR>
                    <a:lnT w="6668">
                      <a:solidFill>
                        <a:srgbClr val="9EAAA3"/>
                      </a:solidFill>
                      <a:prstDash val="solid"/>
                    </a:lnT>
                    <a:lnB w="6668">
                      <a:solidFill>
                        <a:srgbClr val="9EAAA3"/>
                      </a:solidFill>
                      <a:prstDash val="solid"/>
                    </a:lnB>
                    <a:solidFill>
                      <a:srgbClr val="E7F0EA"/>
                    </a:solidFill>
                  </a:tcPr>
                </a:tc>
              </a:tr>
              <a:tr h="619125">
                <a:tc>
                  <a:txBody>
                    <a:bodyPr wrap="square" lIns="133350" tIns="95250" rIns="133350" bIns="95250"/>
                    <a:lstStyle/>
                    <a:p>
                      <a:r>
                        <a:rPr sz="1725" b="0">
                          <a:solidFill>
                            <a:srgbClr val="151515"/>
                          </a:solidFill>
                          <a:latin typeface="Consolas"/>
                          <a:ea typeface="Consolas"/>
                          <a:cs typeface="Consolas"/>
                        </a:rPr>
                        <a:t>src/main.cpp</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1875" b="0">
                          <a:solidFill>
                            <a:srgbClr val="151515"/>
                          </a:solidFill>
                          <a:latin typeface="Times New Roman"/>
                          <a:ea typeface="Times New Roman"/>
                          <a:cs typeface="Times New Roman"/>
                        </a:rPr>
                        <a:t>Console input, simulation call, summary, errors</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r h="619125">
                <a:tc>
                  <a:txBody>
                    <a:bodyPr wrap="square" lIns="133350" tIns="95250" rIns="133350" bIns="95250"/>
                    <a:lstStyle/>
                    <a:p>
                      <a:r>
                        <a:rPr sz="1725" b="0">
                          <a:solidFill>
                            <a:srgbClr val="151515"/>
                          </a:solidFill>
                          <a:latin typeface="Consolas"/>
                          <a:ea typeface="Consolas"/>
                          <a:cs typeface="Consolas"/>
                        </a:rPr>
                        <a:t>src/simulation.cpp</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1875" b="0">
                          <a:solidFill>
                            <a:srgbClr val="151515"/>
                          </a:solidFill>
                          <a:latin typeface="Times New Roman"/>
                          <a:ea typeface="Times New Roman"/>
                          <a:cs typeface="Times New Roman"/>
                        </a:rPr>
                        <a:t>Party queue, workers, status, and output</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r h="619125">
                <a:tc>
                  <a:txBody>
                    <a:bodyPr wrap="square" lIns="133350" tIns="95250" rIns="133350" bIns="95250"/>
                    <a:lstStyle/>
                    <a:p>
                      <a:r>
                        <a:rPr sz="1725" b="0">
                          <a:solidFill>
                            <a:srgbClr val="151515"/>
                          </a:solidFill>
                          <a:latin typeface="Consolas"/>
                          <a:ea typeface="Consolas"/>
                          <a:cs typeface="Consolas"/>
                        </a:rPr>
                        <a:t>include/simulation.hpp</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1875" b="0">
                          <a:solidFill>
                            <a:srgbClr val="151515"/>
                          </a:solidFill>
                          <a:latin typeface="Times New Roman"/>
                          <a:ea typeface="Times New Roman"/>
                          <a:cs typeface="Times New Roman"/>
                        </a:rPr>
                        <a:t>Shared types and simulation interface</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r h="619125">
                <a:tc>
                  <a:txBody>
                    <a:bodyPr wrap="square" lIns="133350" tIns="95250" rIns="133350" bIns="95250"/>
                    <a:lstStyle/>
                    <a:p>
                      <a:r>
                        <a:rPr sz="1725" b="0">
                          <a:solidFill>
                            <a:srgbClr val="151515"/>
                          </a:solidFill>
                          <a:latin typeface="Consolas"/>
                          <a:ea typeface="Consolas"/>
                          <a:cs typeface="Consolas"/>
                        </a:rPr>
                        <a:t>include/counting_semaphore.hpp</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1875" b="0">
                          <a:solidFill>
                            <a:srgbClr val="151515"/>
                          </a:solidFill>
                          <a:latin typeface="Times New Roman"/>
                          <a:ea typeface="Times New Roman"/>
                          <a:cs typeface="Times New Roman"/>
                        </a:rPr>
                        <a:t>Custom C++17 counting semaphore</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r h="619125">
                <a:tc>
                  <a:txBody>
                    <a:bodyPr wrap="square" lIns="133350" tIns="95250" rIns="133350" bIns="95250"/>
                    <a:lstStyle/>
                    <a:p>
                      <a:r>
                        <a:rPr sz="1725" b="0">
                          <a:solidFill>
                            <a:srgbClr val="151515"/>
                          </a:solidFill>
                          <a:latin typeface="Consolas"/>
                          <a:ea typeface="Consolas"/>
                          <a:cs typeface="Consolas"/>
                        </a:rPr>
                        <a:t>tests/</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1875" b="0">
                          <a:solidFill>
                            <a:srgbClr val="151515"/>
                          </a:solidFill>
                          <a:latin typeface="Times New Roman"/>
                          <a:ea typeface="Times New Roman"/>
                          <a:cs typeface="Times New Roman"/>
                        </a:rPr>
                        <a:t>Simulation, semaphore, and CLI checks</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r h="619125">
                <a:tc>
                  <a:txBody>
                    <a:bodyPr wrap="square" lIns="133350" tIns="95250" rIns="133350" bIns="95250"/>
                    <a:lstStyle/>
                    <a:p>
                      <a:r>
                        <a:rPr sz="1725" b="0">
                          <a:solidFill>
                            <a:srgbClr val="151515"/>
                          </a:solidFill>
                          <a:latin typeface="Consolas"/>
                          <a:ea typeface="Consolas"/>
                          <a:cs typeface="Consolas"/>
                        </a:rPr>
                        <a:t>CMakeLists.txt / README.md</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1875" b="0">
                          <a:solidFill>
                            <a:srgbClr val="151515"/>
                          </a:solidFill>
                          <a:latin typeface="Times New Roman"/>
                          <a:ea typeface="Times New Roman"/>
                          <a:cs typeface="Times New Roman"/>
                        </a:rPr>
                        <a:t>Build setup and documentation</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bl>
          </a:graphicData>
        </a:graphic>
      </p:graphicFrame>
    </p:spTree>
    <p:extLst>
      <p:ext uri="{BB962C8B-B14F-4D97-AF65-F5344CB8AC3E}">
        <p14:creationId xmlns:p14="http://schemas.microsoft.com/office/powerpoint/2010/main" val="4308826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F3488D60-73FE-4BA7-98D4-1A18DA15D8A9}"/>
              </a:ext>
            </a:extLst>
          </p:cNvPr>
          <p:cNvSpPr>
            <a:spLocks xmlns:a="http://schemas.openxmlformats.org/drawingml/2006/main" noGrp="1"/>
          </p:cNvSpPr>
          <p:nvPr/>
        </p:nvSpPr>
        <p:spPr>
          <a:xfrm xmlns:a="http://schemas.openxmlformats.org/drawingml/2006/main">
            <a:off x="533400" y="361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51515"/>
                </a:solidFill>
                <a:latin typeface="Times New Roman"/>
                <a:ea typeface="Times New Roman"/>
                <a:cs typeface="Times New Roman"/>
              </a:defRPr>
            </a:defPPr>
            <a:lvl1pPr algn="l">
              <a:defRPr sz="3300" b="0">
                <a:solidFill>
                  <a:srgbClr val="151515"/>
                </a:solidFill>
                <a:latin typeface="Times New Roman"/>
                <a:ea typeface="Times New Roman"/>
                <a:cs typeface="Times New Roman"/>
              </a:defRPr>
            </a:lvl1pPr>
            <a:lvl2pPr algn="l">
              <a:defRPr sz="3300" b="0">
                <a:solidFill>
                  <a:srgbClr val="151515"/>
                </a:solidFill>
                <a:latin typeface="Times New Roman"/>
                <a:ea typeface="Times New Roman"/>
                <a:cs typeface="Times New Roman"/>
              </a:defRPr>
            </a:lvl2pPr>
            <a:lvl3pPr algn="l">
              <a:defRPr sz="3300" b="0">
                <a:solidFill>
                  <a:srgbClr val="151515"/>
                </a:solidFill>
                <a:latin typeface="Times New Roman"/>
                <a:ea typeface="Times New Roman"/>
                <a:cs typeface="Times New Roman"/>
              </a:defRPr>
            </a:lvl3pPr>
            <a:lvl4pPr algn="l">
              <a:defRPr sz="3300" b="0">
                <a:solidFill>
                  <a:srgbClr val="151515"/>
                </a:solidFill>
                <a:latin typeface="Times New Roman"/>
                <a:ea typeface="Times New Roman"/>
                <a:cs typeface="Times New Roman"/>
              </a:defRPr>
            </a:lvl4pPr>
            <a:lvl5pPr algn="l">
              <a:defRPr sz="3300" b="0">
                <a:solidFill>
                  <a:srgbClr val="151515"/>
                </a:solidFill>
                <a:latin typeface="Times New Roman"/>
                <a:ea typeface="Times New Roman"/>
                <a:cs typeface="Times New Roman"/>
              </a:defRPr>
            </a:lvl5pPr>
            <a:lvl6pPr algn="l">
              <a:defRPr sz="3300" b="0">
                <a:solidFill>
                  <a:srgbClr val="151515"/>
                </a:solidFill>
                <a:latin typeface="Times New Roman"/>
                <a:ea typeface="Times New Roman"/>
                <a:cs typeface="Times New Roman"/>
              </a:defRPr>
            </a:lvl6pPr>
            <a:lvl7pPr algn="l">
              <a:defRPr sz="3300" b="0">
                <a:solidFill>
                  <a:srgbClr val="151515"/>
                </a:solidFill>
                <a:latin typeface="Times New Roman"/>
                <a:ea typeface="Times New Roman"/>
                <a:cs typeface="Times New Roman"/>
              </a:defRPr>
            </a:lvl7pPr>
            <a:lvl8pPr algn="l">
              <a:defRPr sz="3300" b="0">
                <a:solidFill>
                  <a:srgbClr val="151515"/>
                </a:solidFill>
                <a:latin typeface="Times New Roman"/>
                <a:ea typeface="Times New Roman"/>
                <a:cs typeface="Times New Roman"/>
              </a:defRPr>
            </a:lvl8pPr>
            <a:lvl9pPr algn="l">
              <a:defRPr sz="3300" b="0">
                <a:solidFill>
                  <a:srgbClr val="151515"/>
                </a:solidFill>
                <a:latin typeface="Times New Roman"/>
                <a:ea typeface="Times New Roman"/>
                <a:cs typeface="Times New Roman"/>
              </a:defRPr>
            </a:lvl9pPr>
          </a:lstStyle>
          <a:p xmlns:a="http://schemas.openxmlformats.org/drawingml/2006/main">
            <a:pPr algn="l">
              <a:lnSpc>
                <a:spcPct val="112000"/>
              </a:lnSpc>
              <a:buNone/>
              <a:defRPr sz="3300" b="0">
                <a:solidFill>
                  <a:srgbClr val="151515"/>
                </a:solidFill>
                <a:latin typeface="Times New Roman"/>
                <a:ea typeface="Times New Roman"/>
                <a:cs typeface="Times New Roman"/>
              </a:defRPr>
            </a:pPr>
            <a:r>
              <a:rPr sz="3300" b="0">
                <a:solidFill>
                  <a:srgbClr val="151515"/>
                </a:solidFill>
                <a:latin typeface="Times New Roman"/>
                <a:ea typeface="Times New Roman"/>
                <a:cs typeface="Times New Roman"/>
              </a:rPr>
              <a:t>Party Formation</a:t>
            </a:r>
          </a:p>
        </p:txBody>
      </p:sp>
      <p:pic>
        <p:nvPicPr>
          <p:cNvPr id="3" name="">
            <a:extLst xmlns:a="http://schemas.openxmlformats.org/drawingml/2006/main">
              <a:ext uri="{FF2B5EF4-FFF2-40B4-BE49-F238E27FC236}">
                <a16:creationId xmlns:a16="http://schemas.microsoft.com/office/drawing/2014/main" id="{A928AF14-1873-4B04-8503-61A2097E0AC3}"/>
              </a:ext>
            </a:extLst>
          </p:cNvPr>
          <p:cNvPicPr>
            <a:picLocks xmlns:a="http://schemas.openxmlformats.org/drawingml/2006/main" noChangeAspect="1"/>
          </p:cNvPicPr>
          <p:nvPr/>
        </p:nvPicPr>
        <p:blipFill>
          <a:blip xmlns:r="http://schemas.openxmlformats.org/officeDocument/2006/relationships" xmlns:a="http://schemas.openxmlformats.org/drawingml/2006/main" r:embed="R59adb335482a44b5"/>
          <a:stretch xmlns:a="http://schemas.openxmlformats.org/drawingml/2006/main"/>
        </p:blipFill>
        <p:spPr>
          <a:xfrm xmlns:a="http://schemas.openxmlformats.org/drawingml/2006/main">
            <a:off x="11458575" y="6238875"/>
            <a:ext cx="419100" cy="419100"/>
          </a:xfrm>
          <a:prstGeom xmlns:a="http://schemas.openxmlformats.org/drawingml/2006/main" prst="rect">
            <a:avLst/>
          </a:prstGeom>
        </p:spPr>
      </p:pic>
      <p:sp>
        <p:nvSpPr>
          <p:cNvPr id="4" name="text-19">
            <a:extLst xmlns:a="http://schemas.openxmlformats.org/drawingml/2006/main">
              <a:ext uri="{FF2B5EF4-FFF2-40B4-BE49-F238E27FC236}">
                <a16:creationId xmlns:a16="http://schemas.microsoft.com/office/drawing/2014/main" id="{8D0EEC43-AED2-4DC2-B2D3-73B5E4DB1388}"/>
              </a:ext>
            </a:extLst>
          </p:cNvPr>
          <p:cNvSpPr>
            <a:spLocks xmlns:a="http://schemas.openxmlformats.org/drawingml/2006/main" noGrp="1"/>
          </p:cNvSpPr>
          <p:nvPr/>
        </p:nvSpPr>
        <p:spPr>
          <a:xfrm xmlns:a="http://schemas.openxmlformats.org/drawingml/2006/main">
            <a:off x="533400" y="64484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87644"/>
                </a:solidFill>
                <a:latin typeface="Times New Roman"/>
                <a:ea typeface="Times New Roman"/>
                <a:cs typeface="Times New Roman"/>
              </a:defRPr>
            </a:defPPr>
            <a:lvl1pPr algn="l">
              <a:defRPr sz="1275" b="0">
                <a:solidFill>
                  <a:srgbClr val="087644"/>
                </a:solidFill>
                <a:latin typeface="Times New Roman"/>
                <a:ea typeface="Times New Roman"/>
                <a:cs typeface="Times New Roman"/>
              </a:defRPr>
            </a:lvl1pPr>
            <a:lvl2pPr algn="l">
              <a:defRPr sz="1275" b="0">
                <a:solidFill>
                  <a:srgbClr val="087644"/>
                </a:solidFill>
                <a:latin typeface="Times New Roman"/>
                <a:ea typeface="Times New Roman"/>
                <a:cs typeface="Times New Roman"/>
              </a:defRPr>
            </a:lvl2pPr>
            <a:lvl3pPr algn="l">
              <a:defRPr sz="1275" b="0">
                <a:solidFill>
                  <a:srgbClr val="087644"/>
                </a:solidFill>
                <a:latin typeface="Times New Roman"/>
                <a:ea typeface="Times New Roman"/>
                <a:cs typeface="Times New Roman"/>
              </a:defRPr>
            </a:lvl3pPr>
            <a:lvl4pPr algn="l">
              <a:defRPr sz="1275" b="0">
                <a:solidFill>
                  <a:srgbClr val="087644"/>
                </a:solidFill>
                <a:latin typeface="Times New Roman"/>
                <a:ea typeface="Times New Roman"/>
                <a:cs typeface="Times New Roman"/>
              </a:defRPr>
            </a:lvl4pPr>
            <a:lvl5pPr algn="l">
              <a:defRPr sz="1275" b="0">
                <a:solidFill>
                  <a:srgbClr val="087644"/>
                </a:solidFill>
                <a:latin typeface="Times New Roman"/>
                <a:ea typeface="Times New Roman"/>
                <a:cs typeface="Times New Roman"/>
              </a:defRPr>
            </a:lvl5pPr>
            <a:lvl6pPr algn="l">
              <a:defRPr sz="1275" b="0">
                <a:solidFill>
                  <a:srgbClr val="087644"/>
                </a:solidFill>
                <a:latin typeface="Times New Roman"/>
                <a:ea typeface="Times New Roman"/>
                <a:cs typeface="Times New Roman"/>
              </a:defRPr>
            </a:lvl6pPr>
            <a:lvl7pPr algn="l">
              <a:defRPr sz="1275" b="0">
                <a:solidFill>
                  <a:srgbClr val="087644"/>
                </a:solidFill>
                <a:latin typeface="Times New Roman"/>
                <a:ea typeface="Times New Roman"/>
                <a:cs typeface="Times New Roman"/>
              </a:defRPr>
            </a:lvl7pPr>
            <a:lvl8pPr algn="l">
              <a:defRPr sz="1275" b="0">
                <a:solidFill>
                  <a:srgbClr val="087644"/>
                </a:solidFill>
                <a:latin typeface="Times New Roman"/>
                <a:ea typeface="Times New Roman"/>
                <a:cs typeface="Times New Roman"/>
              </a:defRPr>
            </a:lvl8pPr>
            <a:lvl9pPr algn="l">
              <a:defRPr sz="1275" b="0">
                <a:solidFill>
                  <a:srgbClr val="087644"/>
                </a:solidFill>
                <a:latin typeface="Times New Roman"/>
                <a:ea typeface="Times New Roman"/>
                <a:cs typeface="Times New Roman"/>
              </a:defRPr>
            </a:lvl9pPr>
          </a:lstStyle>
          <a:p xmlns:a="http://schemas.openxmlformats.org/drawingml/2006/main">
            <a:pPr algn="l">
              <a:lnSpc>
                <a:spcPct val="112000"/>
              </a:lnSpc>
              <a:buNone/>
              <a:defRPr sz="1275" b="0">
                <a:solidFill>
                  <a:srgbClr val="087644"/>
                </a:solidFill>
                <a:latin typeface="Times New Roman"/>
                <a:ea typeface="Times New Roman"/>
                <a:cs typeface="Times New Roman"/>
              </a:defRPr>
            </a:pPr>
            <a:r>
              <a:rPr sz="1275" b="0">
                <a:solidFill>
                  <a:srgbClr val="087644"/>
                </a:solidFill>
                <a:latin typeface="Times New Roman"/>
                <a:ea typeface="Times New Roman"/>
                <a:cs typeface="Times New Roman"/>
              </a:rPr>
              <a:t>05</a:t>
            </a:r>
          </a:p>
        </p:txBody>
      </p:sp>
      <p:sp>
        <p:nvSpPr>
          <p:cNvPr id="5" name="code-20">
            <a:extLst xmlns:a="http://schemas.openxmlformats.org/drawingml/2006/main">
              <a:ext uri="{FF2B5EF4-FFF2-40B4-BE49-F238E27FC236}">
                <a16:creationId xmlns:a16="http://schemas.microsoft.com/office/drawing/2014/main" id="{F41CA6CA-E498-4126-A50A-20D37E8E6103}"/>
              </a:ext>
            </a:extLst>
          </p:cNvPr>
          <p:cNvSpPr>
            <a:spLocks xmlns:a="http://schemas.openxmlformats.org/drawingml/2006/main" noGrp="1"/>
          </p:cNvSpPr>
          <p:nvPr/>
        </p:nvSpPr>
        <p:spPr>
          <a:xfrm xmlns:a="http://schemas.openxmlformats.org/drawingml/2006/main">
            <a:off x="533400" y="1314450"/>
            <a:ext cx="11125200" cy="695325"/>
          </a:xfrm>
          <a:prstGeom xmlns:a="http://schemas.openxmlformats.org/drawingml/2006/main" prst="rect">
            <a:avLst/>
          </a:prstGeom>
          <a:solidFill xmlns:a="http://schemas.openxmlformats.org/drawingml/2006/main">
            <a:srgbClr val="17211C"/>
          </a:solidFill>
          <a:ln xmlns:a="http://schemas.openxmlformats.org/drawingml/2006/main" w="0">
            <a:noFill/>
          </a:ln>
        </p:spPr>
        <p:txBody>
          <a:bodyPr xmlns:a="http://schemas.openxmlformats.org/drawingml/2006/main" wrap="square" lIns="152400" tIns="152400" rIns="152400" bIns="152400" anchor="t">
            <a:noAutofit/>
          </a:bodyPr>
          <a:lstStyle xmlns:a="http://schemas.openxmlformats.org/drawingml/2006/main">
            <a:defPPr algn="l">
              <a:defRPr sz="2250" b="0">
                <a:solidFill>
                  <a:srgbClr val="F4F4F4"/>
                </a:solidFill>
                <a:latin typeface="Consolas"/>
                <a:ea typeface="Consolas"/>
                <a:cs typeface="Consolas"/>
              </a:defRPr>
            </a:defPPr>
            <a:lvl1pPr algn="l">
              <a:defRPr sz="2250" b="0">
                <a:solidFill>
                  <a:srgbClr val="F4F4F4"/>
                </a:solidFill>
                <a:latin typeface="Consolas"/>
                <a:ea typeface="Consolas"/>
                <a:cs typeface="Consolas"/>
              </a:defRPr>
            </a:lvl1pPr>
            <a:lvl2pPr algn="l">
              <a:defRPr sz="2250" b="0">
                <a:solidFill>
                  <a:srgbClr val="F4F4F4"/>
                </a:solidFill>
                <a:latin typeface="Consolas"/>
                <a:ea typeface="Consolas"/>
                <a:cs typeface="Consolas"/>
              </a:defRPr>
            </a:lvl2pPr>
            <a:lvl3pPr algn="l">
              <a:defRPr sz="2250" b="0">
                <a:solidFill>
                  <a:srgbClr val="F4F4F4"/>
                </a:solidFill>
                <a:latin typeface="Consolas"/>
                <a:ea typeface="Consolas"/>
                <a:cs typeface="Consolas"/>
              </a:defRPr>
            </a:lvl3pPr>
            <a:lvl4pPr algn="l">
              <a:defRPr sz="2250" b="0">
                <a:solidFill>
                  <a:srgbClr val="F4F4F4"/>
                </a:solidFill>
                <a:latin typeface="Consolas"/>
                <a:ea typeface="Consolas"/>
                <a:cs typeface="Consolas"/>
              </a:defRPr>
            </a:lvl4pPr>
            <a:lvl5pPr algn="l">
              <a:defRPr sz="2250" b="0">
                <a:solidFill>
                  <a:srgbClr val="F4F4F4"/>
                </a:solidFill>
                <a:latin typeface="Consolas"/>
                <a:ea typeface="Consolas"/>
                <a:cs typeface="Consolas"/>
              </a:defRPr>
            </a:lvl5pPr>
            <a:lvl6pPr algn="l">
              <a:defRPr sz="2250" b="0">
                <a:solidFill>
                  <a:srgbClr val="F4F4F4"/>
                </a:solidFill>
                <a:latin typeface="Consolas"/>
                <a:ea typeface="Consolas"/>
                <a:cs typeface="Consolas"/>
              </a:defRPr>
            </a:lvl6pPr>
            <a:lvl7pPr algn="l">
              <a:defRPr sz="2250" b="0">
                <a:solidFill>
                  <a:srgbClr val="F4F4F4"/>
                </a:solidFill>
                <a:latin typeface="Consolas"/>
                <a:ea typeface="Consolas"/>
                <a:cs typeface="Consolas"/>
              </a:defRPr>
            </a:lvl7pPr>
            <a:lvl8pPr algn="l">
              <a:defRPr sz="2250" b="0">
                <a:solidFill>
                  <a:srgbClr val="F4F4F4"/>
                </a:solidFill>
                <a:latin typeface="Consolas"/>
                <a:ea typeface="Consolas"/>
                <a:cs typeface="Consolas"/>
              </a:defRPr>
            </a:lvl8pPr>
            <a:lvl9pPr algn="l">
              <a:defRPr sz="2250" b="0">
                <a:solidFill>
                  <a:srgbClr val="F4F4F4"/>
                </a:solidFill>
                <a:latin typeface="Consolas"/>
                <a:ea typeface="Consolas"/>
                <a:cs typeface="Consolas"/>
              </a:defRPr>
            </a:lvl9pPr>
          </a:lstStyle>
          <a:p xmlns:a="http://schemas.openxmlformats.org/drawingml/2006/main">
            <a:pPr algn="l">
              <a:lnSpc>
                <a:spcPct val="112000"/>
              </a:lnSpc>
              <a:buNone/>
              <a:defRPr sz="2250" b="0">
                <a:solidFill>
                  <a:srgbClr val="F4F4F4"/>
                </a:solidFill>
                <a:latin typeface="Consolas"/>
                <a:ea typeface="Consolas"/>
                <a:cs typeface="Consolas"/>
              </a:defRPr>
            </a:pPr>
            <a:r>
              <a:rPr sz="2250" b="0">
                <a:solidFill>
                  <a:srgbClr val="F4F4F4"/>
                </a:solidFill>
                <a:latin typeface="Consolas"/>
                <a:ea typeface="Consolas"/>
                <a:cs typeface="Consolas"/>
              </a:rPr>
              <a:t>party_count = min(t, h, d / 3)</a:t>
            </a:r>
          </a:p>
        </p:txBody>
      </p:sp>
      <p:graphicFrame>
        <p:nvGraphicFramePr>
          <p:cNvPr id="6" name="">
            <a:extLst xmlns:a="http://schemas.openxmlformats.org/drawingml/2006/main">
              <a:ext uri="{FF2B5EF4-FFF2-40B4-BE49-F238E27FC236}">
                <a16:creationId xmlns:a16="http://schemas.microsoft.com/office/drawing/2014/main" id="{3EEC00B9-3E3F-4483-A7F1-E0A1E455559E}"/>
              </a:ext>
            </a:extLst>
          </p:cNvPr>
          <p:cNvGraphicFramePr/>
          <p:nvPr/>
        </p:nvGraphicFramePr>
        <p:xfrm>
          <a:off xmlns:a="http://schemas.openxmlformats.org/drawingml/2006/main" x="533400" y="2400300"/>
          <a:ext xmlns:a="http://schemas.openxmlformats.org/drawingml/2006/main" cx="11125200" cy="2476500"/>
        </p:xfrm>
        <a:graphic xmlns:a="http://schemas.openxmlformats.org/drawingml/2006/main">
          <a:graphicData uri="http://schemas.openxmlformats.org/drawingml/2006/table">
            <a:tbl>
              <a:tblPr firstRow="0" bandRow="0"/>
              <a:tblGrid>
                <a:gridCol w="1381125"/>
                <a:gridCol w="1905000"/>
                <a:gridCol w="1905000"/>
                <a:gridCol w="5934075"/>
              </a:tblGrid>
              <a:tr h="619125">
                <a:tc>
                  <a:txBody>
                    <a:bodyPr wrap="square" lIns="133350" tIns="95250" rIns="133350" bIns="95250"/>
                    <a:lstStyle/>
                    <a:p>
                      <a:r>
                        <a:rPr sz="2175" b="1">
                          <a:solidFill>
                            <a:srgbClr val="087644"/>
                          </a:solidFill>
                          <a:latin typeface="Times New Roman"/>
                          <a:ea typeface="Times New Roman"/>
                          <a:cs typeface="Times New Roman"/>
                        </a:rPr>
                        <a:t>Party</a:t>
                      </a:r>
                    </a:p>
                  </a:txBody>
                  <a:tcPr marL="91440" marR="91440" marT="45720" marB="45720" anchor="ctr">
                    <a:lnL w="6668">
                      <a:solidFill>
                        <a:srgbClr val="9EAAA3"/>
                      </a:solidFill>
                      <a:prstDash val="solid"/>
                    </a:lnL>
                    <a:lnR w="6668">
                      <a:solidFill>
                        <a:srgbClr val="9EAAA3"/>
                      </a:solidFill>
                      <a:prstDash val="solid"/>
                    </a:lnR>
                    <a:lnT w="6668">
                      <a:solidFill>
                        <a:srgbClr val="9EAAA3"/>
                      </a:solidFill>
                      <a:prstDash val="solid"/>
                    </a:lnT>
                    <a:lnB w="6668">
                      <a:solidFill>
                        <a:srgbClr val="9EAAA3"/>
                      </a:solidFill>
                      <a:prstDash val="solid"/>
                    </a:lnB>
                    <a:solidFill>
                      <a:srgbClr val="E7F0EA"/>
                    </a:solidFill>
                  </a:tcPr>
                </a:tc>
                <a:tc>
                  <a:txBody>
                    <a:bodyPr wrap="square" lIns="133350" tIns="95250" rIns="133350" bIns="95250"/>
                    <a:lstStyle/>
                    <a:p>
                      <a:r>
                        <a:rPr sz="2175" b="1">
                          <a:solidFill>
                            <a:srgbClr val="087644"/>
                          </a:solidFill>
                          <a:latin typeface="Times New Roman"/>
                          <a:ea typeface="Times New Roman"/>
                          <a:cs typeface="Times New Roman"/>
                        </a:rPr>
                        <a:t>Tank</a:t>
                      </a:r>
                    </a:p>
                  </a:txBody>
                  <a:tcPr marL="91440" marR="91440" marT="45720" marB="45720" anchor="ctr">
                    <a:lnR w="6668">
                      <a:solidFill>
                        <a:srgbClr val="9EAAA3"/>
                      </a:solidFill>
                      <a:prstDash val="solid"/>
                    </a:lnR>
                    <a:lnT w="6668">
                      <a:solidFill>
                        <a:srgbClr val="9EAAA3"/>
                      </a:solidFill>
                      <a:prstDash val="solid"/>
                    </a:lnT>
                    <a:lnB w="6668">
                      <a:solidFill>
                        <a:srgbClr val="9EAAA3"/>
                      </a:solidFill>
                      <a:prstDash val="solid"/>
                    </a:lnB>
                    <a:solidFill>
                      <a:srgbClr val="E7F0EA"/>
                    </a:solidFill>
                  </a:tcPr>
                </a:tc>
                <a:tc>
                  <a:txBody>
                    <a:bodyPr wrap="square" lIns="133350" tIns="95250" rIns="133350" bIns="95250"/>
                    <a:lstStyle/>
                    <a:p>
                      <a:r>
                        <a:rPr sz="2175" b="1">
                          <a:solidFill>
                            <a:srgbClr val="087644"/>
                          </a:solidFill>
                          <a:latin typeface="Times New Roman"/>
                          <a:ea typeface="Times New Roman"/>
                          <a:cs typeface="Times New Roman"/>
                        </a:rPr>
                        <a:t>Healer</a:t>
                      </a:r>
                    </a:p>
                  </a:txBody>
                  <a:tcPr marL="91440" marR="91440" marT="45720" marB="45720" anchor="ctr">
                    <a:lnR w="6668">
                      <a:solidFill>
                        <a:srgbClr val="9EAAA3"/>
                      </a:solidFill>
                      <a:prstDash val="solid"/>
                    </a:lnR>
                    <a:lnT w="6668">
                      <a:solidFill>
                        <a:srgbClr val="9EAAA3"/>
                      </a:solidFill>
                      <a:prstDash val="solid"/>
                    </a:lnT>
                    <a:lnB w="6668">
                      <a:solidFill>
                        <a:srgbClr val="9EAAA3"/>
                      </a:solidFill>
                      <a:prstDash val="solid"/>
                    </a:lnB>
                    <a:solidFill>
                      <a:srgbClr val="E7F0EA"/>
                    </a:solidFill>
                  </a:tcPr>
                </a:tc>
                <a:tc>
                  <a:txBody>
                    <a:bodyPr wrap="square" lIns="133350" tIns="95250" rIns="133350" bIns="95250"/>
                    <a:lstStyle/>
                    <a:p>
                      <a:r>
                        <a:rPr sz="2175" b="1">
                          <a:solidFill>
                            <a:srgbClr val="087644"/>
                          </a:solidFill>
                          <a:latin typeface="Times New Roman"/>
                          <a:ea typeface="Times New Roman"/>
                          <a:cs typeface="Times New Roman"/>
                        </a:rPr>
                        <a:t>DPS</a:t>
                      </a:r>
                    </a:p>
                  </a:txBody>
                  <a:tcPr marL="91440" marR="91440" marT="45720" marB="45720" anchor="ctr">
                    <a:lnR w="6668">
                      <a:solidFill>
                        <a:srgbClr val="9EAAA3"/>
                      </a:solidFill>
                      <a:prstDash val="solid"/>
                    </a:lnR>
                    <a:lnT w="6668">
                      <a:solidFill>
                        <a:srgbClr val="9EAAA3"/>
                      </a:solidFill>
                      <a:prstDash val="solid"/>
                    </a:lnT>
                    <a:lnB w="6668">
                      <a:solidFill>
                        <a:srgbClr val="9EAAA3"/>
                      </a:solidFill>
                      <a:prstDash val="solid"/>
                    </a:lnB>
                    <a:solidFill>
                      <a:srgbClr val="E7F0EA"/>
                    </a:solidFill>
                  </a:tcPr>
                </a:tc>
              </a:tr>
              <a:tr h="619125">
                <a:tc>
                  <a:txBody>
                    <a:bodyPr wrap="square" lIns="133350" tIns="95250" rIns="133350" bIns="95250"/>
                    <a:lstStyle/>
                    <a:p>
                      <a:r>
                        <a:rPr sz="2175" b="0">
                          <a:solidFill>
                            <a:srgbClr val="151515"/>
                          </a:solidFill>
                          <a:latin typeface="Times New Roman"/>
                          <a:ea typeface="Times New Roman"/>
                          <a:cs typeface="Times New Roman"/>
                        </a:rPr>
                        <a:t>1</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2175" b="0">
                          <a:solidFill>
                            <a:srgbClr val="151515"/>
                          </a:solidFill>
                          <a:latin typeface="Times New Roman"/>
                          <a:ea typeface="Times New Roman"/>
                          <a:cs typeface="Times New Roman"/>
                        </a:rPr>
                        <a:t>T1</a:t>
                      </a:r>
                    </a:p>
                  </a:txBody>
                  <a:tcPr marL="91440" marR="91440" marT="45720" marB="45720" anchor="ctr">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2175" b="0">
                          <a:solidFill>
                            <a:srgbClr val="151515"/>
                          </a:solidFill>
                          <a:latin typeface="Times New Roman"/>
                          <a:ea typeface="Times New Roman"/>
                          <a:cs typeface="Times New Roman"/>
                        </a:rPr>
                        <a:t>H1</a:t>
                      </a:r>
                    </a:p>
                  </a:txBody>
                  <a:tcPr marL="91440" marR="91440" marT="45720" marB="45720" anchor="ctr">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2175" b="0">
                          <a:solidFill>
                            <a:srgbClr val="151515"/>
                          </a:solidFill>
                          <a:latin typeface="Times New Roman"/>
                          <a:ea typeface="Times New Roman"/>
                          <a:cs typeface="Times New Roman"/>
                        </a:rPr>
                        <a:t>D1, D2, D3</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r h="619125">
                <a:tc>
                  <a:txBody>
                    <a:bodyPr wrap="square" lIns="133350" tIns="95250" rIns="133350" bIns="95250"/>
                    <a:lstStyle/>
                    <a:p>
                      <a:r>
                        <a:rPr sz="2175" b="0">
                          <a:solidFill>
                            <a:srgbClr val="151515"/>
                          </a:solidFill>
                          <a:latin typeface="Times New Roman"/>
                          <a:ea typeface="Times New Roman"/>
                          <a:cs typeface="Times New Roman"/>
                        </a:rPr>
                        <a:t>2</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2175" b="0">
                          <a:solidFill>
                            <a:srgbClr val="151515"/>
                          </a:solidFill>
                          <a:latin typeface="Times New Roman"/>
                          <a:ea typeface="Times New Roman"/>
                          <a:cs typeface="Times New Roman"/>
                        </a:rPr>
                        <a:t>T2</a:t>
                      </a:r>
                    </a:p>
                  </a:txBody>
                  <a:tcPr marL="91440" marR="91440" marT="45720" marB="45720" anchor="ctr">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2175" b="0">
                          <a:solidFill>
                            <a:srgbClr val="151515"/>
                          </a:solidFill>
                          <a:latin typeface="Times New Roman"/>
                          <a:ea typeface="Times New Roman"/>
                          <a:cs typeface="Times New Roman"/>
                        </a:rPr>
                        <a:t>H2</a:t>
                      </a:r>
                    </a:p>
                  </a:txBody>
                  <a:tcPr marL="91440" marR="91440" marT="45720" marB="45720" anchor="ctr">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2175" b="0">
                          <a:solidFill>
                            <a:srgbClr val="151515"/>
                          </a:solidFill>
                          <a:latin typeface="Times New Roman"/>
                          <a:ea typeface="Times New Roman"/>
                          <a:cs typeface="Times New Roman"/>
                        </a:rPr>
                        <a:t>D4, D5, D6</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r h="619125">
                <a:tc>
                  <a:txBody>
                    <a:bodyPr wrap="square" lIns="133350" tIns="95250" rIns="133350" bIns="95250"/>
                    <a:lstStyle/>
                    <a:p>
                      <a:r>
                        <a:rPr sz="2175" b="0">
                          <a:solidFill>
                            <a:srgbClr val="151515"/>
                          </a:solidFill>
                          <a:latin typeface="Times New Roman"/>
                          <a:ea typeface="Times New Roman"/>
                          <a:cs typeface="Times New Roman"/>
                        </a:rPr>
                        <a:t>3</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2175" b="0">
                          <a:solidFill>
                            <a:srgbClr val="151515"/>
                          </a:solidFill>
                          <a:latin typeface="Times New Roman"/>
                          <a:ea typeface="Times New Roman"/>
                          <a:cs typeface="Times New Roman"/>
                        </a:rPr>
                        <a:t>T3</a:t>
                      </a:r>
                    </a:p>
                  </a:txBody>
                  <a:tcPr marL="91440" marR="91440" marT="45720" marB="45720" anchor="ctr">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2175" b="0">
                          <a:solidFill>
                            <a:srgbClr val="151515"/>
                          </a:solidFill>
                          <a:latin typeface="Times New Roman"/>
                          <a:ea typeface="Times New Roman"/>
                          <a:cs typeface="Times New Roman"/>
                        </a:rPr>
                        <a:t>H3</a:t>
                      </a:r>
                    </a:p>
                  </a:txBody>
                  <a:tcPr marL="91440" marR="91440" marT="45720" marB="45720" anchor="ctr">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2175" b="0">
                          <a:solidFill>
                            <a:srgbClr val="151515"/>
                          </a:solidFill>
                          <a:latin typeface="Times New Roman"/>
                          <a:ea typeface="Times New Roman"/>
                          <a:cs typeface="Times New Roman"/>
                        </a:rPr>
                        <a:t>D7, D8, D9</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bl>
          </a:graphicData>
        </a:graphic>
      </p:graphicFrame>
      <p:sp>
        <p:nvSpPr>
          <p:cNvPr id="7" name="text-21">
            <a:extLst xmlns:a="http://schemas.openxmlformats.org/drawingml/2006/main">
              <a:ext uri="{FF2B5EF4-FFF2-40B4-BE49-F238E27FC236}">
                <a16:creationId xmlns:a16="http://schemas.microsoft.com/office/drawing/2014/main" id="{7DD8F227-81E0-495D-88D2-17E3C47C6D59}"/>
              </a:ext>
            </a:extLst>
          </p:cNvPr>
          <p:cNvSpPr>
            <a:spLocks xmlns:a="http://schemas.openxmlformats.org/drawingml/2006/main" noGrp="1"/>
          </p:cNvSpPr>
          <p:nvPr/>
        </p:nvSpPr>
        <p:spPr>
          <a:xfrm xmlns:a="http://schemas.openxmlformats.org/drawingml/2006/main">
            <a:off x="533400" y="521970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515"/>
                </a:solidFill>
                <a:latin typeface="Times New Roman"/>
                <a:ea typeface="Times New Roman"/>
                <a:cs typeface="Times New Roman"/>
              </a:defRPr>
            </a:defPPr>
            <a:lvl1pPr algn="l">
              <a:defRPr sz="2175" b="0">
                <a:solidFill>
                  <a:srgbClr val="151515"/>
                </a:solidFill>
                <a:latin typeface="Times New Roman"/>
                <a:ea typeface="Times New Roman"/>
                <a:cs typeface="Times New Roman"/>
              </a:defRPr>
            </a:lvl1pPr>
            <a:lvl2pPr algn="l">
              <a:defRPr sz="2175" b="0">
                <a:solidFill>
                  <a:srgbClr val="151515"/>
                </a:solidFill>
                <a:latin typeface="Times New Roman"/>
                <a:ea typeface="Times New Roman"/>
                <a:cs typeface="Times New Roman"/>
              </a:defRPr>
            </a:lvl2pPr>
            <a:lvl3pPr algn="l">
              <a:defRPr sz="2175" b="0">
                <a:solidFill>
                  <a:srgbClr val="151515"/>
                </a:solidFill>
                <a:latin typeface="Times New Roman"/>
                <a:ea typeface="Times New Roman"/>
                <a:cs typeface="Times New Roman"/>
              </a:defRPr>
            </a:lvl3pPr>
            <a:lvl4pPr algn="l">
              <a:defRPr sz="2175" b="0">
                <a:solidFill>
                  <a:srgbClr val="151515"/>
                </a:solidFill>
                <a:latin typeface="Times New Roman"/>
                <a:ea typeface="Times New Roman"/>
                <a:cs typeface="Times New Roman"/>
              </a:defRPr>
            </a:lvl4pPr>
            <a:lvl5pPr algn="l">
              <a:defRPr sz="2175" b="0">
                <a:solidFill>
                  <a:srgbClr val="151515"/>
                </a:solidFill>
                <a:latin typeface="Times New Roman"/>
                <a:ea typeface="Times New Roman"/>
                <a:cs typeface="Times New Roman"/>
              </a:defRPr>
            </a:lvl5pPr>
            <a:lvl6pPr algn="l">
              <a:defRPr sz="2175" b="0">
                <a:solidFill>
                  <a:srgbClr val="151515"/>
                </a:solidFill>
                <a:latin typeface="Times New Roman"/>
                <a:ea typeface="Times New Roman"/>
                <a:cs typeface="Times New Roman"/>
              </a:defRPr>
            </a:lvl6pPr>
            <a:lvl7pPr algn="l">
              <a:defRPr sz="2175" b="0">
                <a:solidFill>
                  <a:srgbClr val="151515"/>
                </a:solidFill>
                <a:latin typeface="Times New Roman"/>
                <a:ea typeface="Times New Roman"/>
                <a:cs typeface="Times New Roman"/>
              </a:defRPr>
            </a:lvl7pPr>
            <a:lvl8pPr algn="l">
              <a:defRPr sz="2175" b="0">
                <a:solidFill>
                  <a:srgbClr val="151515"/>
                </a:solidFill>
                <a:latin typeface="Times New Roman"/>
                <a:ea typeface="Times New Roman"/>
                <a:cs typeface="Times New Roman"/>
              </a:defRPr>
            </a:lvl8pPr>
            <a:lvl9pPr algn="l">
              <a:defRPr sz="2175" b="0">
                <a:solidFill>
                  <a:srgbClr val="151515"/>
                </a:solidFill>
                <a:latin typeface="Times New Roman"/>
                <a:ea typeface="Times New Roman"/>
                <a:cs typeface="Times New Roman"/>
              </a:defRPr>
            </a:lvl9pPr>
          </a:lstStyle>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Example: t = 4, h = 3, d = 10</a:t>
            </a:r>
          </a:p>
        </p:txBody>
      </p:sp>
      <p:sp>
        <p:nvSpPr>
          <p:cNvPr id="8" name="text-22">
            <a:extLst xmlns:a="http://schemas.openxmlformats.org/drawingml/2006/main">
              <a:ext uri="{FF2B5EF4-FFF2-40B4-BE49-F238E27FC236}">
                <a16:creationId xmlns:a16="http://schemas.microsoft.com/office/drawing/2014/main" id="{DDA32F47-C78E-4DDC-B1C9-3300E96FF6CD}"/>
              </a:ext>
            </a:extLst>
          </p:cNvPr>
          <p:cNvSpPr>
            <a:spLocks xmlns:a="http://schemas.openxmlformats.org/drawingml/2006/main" noGrp="1"/>
          </p:cNvSpPr>
          <p:nvPr/>
        </p:nvSpPr>
        <p:spPr>
          <a:xfrm xmlns:a="http://schemas.openxmlformats.org/drawingml/2006/main">
            <a:off x="533400" y="565785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515"/>
                </a:solidFill>
                <a:latin typeface="Times New Roman"/>
                <a:ea typeface="Times New Roman"/>
                <a:cs typeface="Times New Roman"/>
              </a:defRPr>
            </a:defPPr>
            <a:lvl1pPr algn="l">
              <a:defRPr sz="2175" b="0">
                <a:solidFill>
                  <a:srgbClr val="151515"/>
                </a:solidFill>
                <a:latin typeface="Times New Roman"/>
                <a:ea typeface="Times New Roman"/>
                <a:cs typeface="Times New Roman"/>
              </a:defRPr>
            </a:lvl1pPr>
            <a:lvl2pPr algn="l">
              <a:defRPr sz="2175" b="0">
                <a:solidFill>
                  <a:srgbClr val="151515"/>
                </a:solidFill>
                <a:latin typeface="Times New Roman"/>
                <a:ea typeface="Times New Roman"/>
                <a:cs typeface="Times New Roman"/>
              </a:defRPr>
            </a:lvl2pPr>
            <a:lvl3pPr algn="l">
              <a:defRPr sz="2175" b="0">
                <a:solidFill>
                  <a:srgbClr val="151515"/>
                </a:solidFill>
                <a:latin typeface="Times New Roman"/>
                <a:ea typeface="Times New Roman"/>
                <a:cs typeface="Times New Roman"/>
              </a:defRPr>
            </a:lvl3pPr>
            <a:lvl4pPr algn="l">
              <a:defRPr sz="2175" b="0">
                <a:solidFill>
                  <a:srgbClr val="151515"/>
                </a:solidFill>
                <a:latin typeface="Times New Roman"/>
                <a:ea typeface="Times New Roman"/>
                <a:cs typeface="Times New Roman"/>
              </a:defRPr>
            </a:lvl4pPr>
            <a:lvl5pPr algn="l">
              <a:defRPr sz="2175" b="0">
                <a:solidFill>
                  <a:srgbClr val="151515"/>
                </a:solidFill>
                <a:latin typeface="Times New Roman"/>
                <a:ea typeface="Times New Roman"/>
                <a:cs typeface="Times New Roman"/>
              </a:defRPr>
            </a:lvl5pPr>
            <a:lvl6pPr algn="l">
              <a:defRPr sz="2175" b="0">
                <a:solidFill>
                  <a:srgbClr val="151515"/>
                </a:solidFill>
                <a:latin typeface="Times New Roman"/>
                <a:ea typeface="Times New Roman"/>
                <a:cs typeface="Times New Roman"/>
              </a:defRPr>
            </a:lvl6pPr>
            <a:lvl7pPr algn="l">
              <a:defRPr sz="2175" b="0">
                <a:solidFill>
                  <a:srgbClr val="151515"/>
                </a:solidFill>
                <a:latin typeface="Times New Roman"/>
                <a:ea typeface="Times New Roman"/>
                <a:cs typeface="Times New Roman"/>
              </a:defRPr>
            </a:lvl7pPr>
            <a:lvl8pPr algn="l">
              <a:defRPr sz="2175" b="0">
                <a:solidFill>
                  <a:srgbClr val="151515"/>
                </a:solidFill>
                <a:latin typeface="Times New Roman"/>
                <a:ea typeface="Times New Roman"/>
                <a:cs typeface="Times New Roman"/>
              </a:defRPr>
            </a:lvl8pPr>
            <a:lvl9pPr algn="l">
              <a:defRPr sz="2175" b="0">
                <a:solidFill>
                  <a:srgbClr val="151515"/>
                </a:solidFill>
                <a:latin typeface="Times New Roman"/>
                <a:ea typeface="Times New Roman"/>
                <a:cs typeface="Times New Roman"/>
              </a:defRPr>
            </a:lvl9pPr>
          </a:lstStyle>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3 complete parties. Leftovers: 1 tank, 0 healers, 1 DPS.</a:t>
            </a:r>
          </a:p>
        </p:txBody>
      </p:sp>
    </p:spTree>
    <p:extLst>
      <p:ext uri="{BB962C8B-B14F-4D97-AF65-F5344CB8AC3E}">
        <p14:creationId xmlns:p14="http://schemas.microsoft.com/office/powerpoint/2010/main" val="16918753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458BEF86-04F2-4059-B956-B7CDBF6724DE}"/>
              </a:ext>
            </a:extLst>
          </p:cNvPr>
          <p:cNvSpPr>
            <a:spLocks xmlns:a="http://schemas.openxmlformats.org/drawingml/2006/main" noGrp="1"/>
          </p:cNvSpPr>
          <p:nvPr/>
        </p:nvSpPr>
        <p:spPr>
          <a:xfrm xmlns:a="http://schemas.openxmlformats.org/drawingml/2006/main">
            <a:off x="533400" y="361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51515"/>
                </a:solidFill>
                <a:latin typeface="Times New Roman"/>
                <a:ea typeface="Times New Roman"/>
                <a:cs typeface="Times New Roman"/>
              </a:defRPr>
            </a:defPPr>
            <a:lvl1pPr algn="l">
              <a:defRPr sz="3300" b="0">
                <a:solidFill>
                  <a:srgbClr val="151515"/>
                </a:solidFill>
                <a:latin typeface="Times New Roman"/>
                <a:ea typeface="Times New Roman"/>
                <a:cs typeface="Times New Roman"/>
              </a:defRPr>
            </a:lvl1pPr>
            <a:lvl2pPr algn="l">
              <a:defRPr sz="3300" b="0">
                <a:solidFill>
                  <a:srgbClr val="151515"/>
                </a:solidFill>
                <a:latin typeface="Times New Roman"/>
                <a:ea typeface="Times New Roman"/>
                <a:cs typeface="Times New Roman"/>
              </a:defRPr>
            </a:lvl2pPr>
            <a:lvl3pPr algn="l">
              <a:defRPr sz="3300" b="0">
                <a:solidFill>
                  <a:srgbClr val="151515"/>
                </a:solidFill>
                <a:latin typeface="Times New Roman"/>
                <a:ea typeface="Times New Roman"/>
                <a:cs typeface="Times New Roman"/>
              </a:defRPr>
            </a:lvl3pPr>
            <a:lvl4pPr algn="l">
              <a:defRPr sz="3300" b="0">
                <a:solidFill>
                  <a:srgbClr val="151515"/>
                </a:solidFill>
                <a:latin typeface="Times New Roman"/>
                <a:ea typeface="Times New Roman"/>
                <a:cs typeface="Times New Roman"/>
              </a:defRPr>
            </a:lvl4pPr>
            <a:lvl5pPr algn="l">
              <a:defRPr sz="3300" b="0">
                <a:solidFill>
                  <a:srgbClr val="151515"/>
                </a:solidFill>
                <a:latin typeface="Times New Roman"/>
                <a:ea typeface="Times New Roman"/>
                <a:cs typeface="Times New Roman"/>
              </a:defRPr>
            </a:lvl5pPr>
            <a:lvl6pPr algn="l">
              <a:defRPr sz="3300" b="0">
                <a:solidFill>
                  <a:srgbClr val="151515"/>
                </a:solidFill>
                <a:latin typeface="Times New Roman"/>
                <a:ea typeface="Times New Roman"/>
                <a:cs typeface="Times New Roman"/>
              </a:defRPr>
            </a:lvl6pPr>
            <a:lvl7pPr algn="l">
              <a:defRPr sz="3300" b="0">
                <a:solidFill>
                  <a:srgbClr val="151515"/>
                </a:solidFill>
                <a:latin typeface="Times New Roman"/>
                <a:ea typeface="Times New Roman"/>
                <a:cs typeface="Times New Roman"/>
              </a:defRPr>
            </a:lvl7pPr>
            <a:lvl8pPr algn="l">
              <a:defRPr sz="3300" b="0">
                <a:solidFill>
                  <a:srgbClr val="151515"/>
                </a:solidFill>
                <a:latin typeface="Times New Roman"/>
                <a:ea typeface="Times New Roman"/>
                <a:cs typeface="Times New Roman"/>
              </a:defRPr>
            </a:lvl8pPr>
            <a:lvl9pPr algn="l">
              <a:defRPr sz="3300" b="0">
                <a:solidFill>
                  <a:srgbClr val="151515"/>
                </a:solidFill>
                <a:latin typeface="Times New Roman"/>
                <a:ea typeface="Times New Roman"/>
                <a:cs typeface="Times New Roman"/>
              </a:defRPr>
            </a:lvl9pPr>
          </a:lstStyle>
          <a:p xmlns:a="http://schemas.openxmlformats.org/drawingml/2006/main">
            <a:pPr algn="l">
              <a:lnSpc>
                <a:spcPct val="112000"/>
              </a:lnSpc>
              <a:buNone/>
              <a:defRPr sz="3300" b="0">
                <a:solidFill>
                  <a:srgbClr val="151515"/>
                </a:solidFill>
                <a:latin typeface="Times New Roman"/>
                <a:ea typeface="Times New Roman"/>
                <a:cs typeface="Times New Roman"/>
              </a:defRPr>
            </a:pPr>
            <a:r>
              <a:rPr sz="3300" b="0">
                <a:solidFill>
                  <a:srgbClr val="151515"/>
                </a:solidFill>
                <a:latin typeface="Times New Roman"/>
                <a:ea typeface="Times New Roman"/>
                <a:cs typeface="Times New Roman"/>
              </a:rPr>
              <a:t>Worker Execution</a:t>
            </a:r>
          </a:p>
        </p:txBody>
      </p:sp>
      <p:pic>
        <p:nvPicPr>
          <p:cNvPr id="3" name="">
            <a:extLst xmlns:a="http://schemas.openxmlformats.org/drawingml/2006/main">
              <a:ext uri="{FF2B5EF4-FFF2-40B4-BE49-F238E27FC236}">
                <a16:creationId xmlns:a16="http://schemas.microsoft.com/office/drawing/2014/main" id="{F02EF6B8-4AC9-4FE5-AA7A-BDE44BF6F8D1}"/>
              </a:ext>
            </a:extLst>
          </p:cNvPr>
          <p:cNvPicPr>
            <a:picLocks xmlns:a="http://schemas.openxmlformats.org/drawingml/2006/main" noChangeAspect="1"/>
          </p:cNvPicPr>
          <p:nvPr/>
        </p:nvPicPr>
        <p:blipFill>
          <a:blip xmlns:r="http://schemas.openxmlformats.org/officeDocument/2006/relationships" xmlns:a="http://schemas.openxmlformats.org/drawingml/2006/main" r:embed="Rd7824546c31b48bf"/>
          <a:stretch xmlns:a="http://schemas.openxmlformats.org/drawingml/2006/main"/>
        </p:blipFill>
        <p:spPr>
          <a:xfrm xmlns:a="http://schemas.openxmlformats.org/drawingml/2006/main">
            <a:off x="11458575" y="6238875"/>
            <a:ext cx="419100" cy="419100"/>
          </a:xfrm>
          <a:prstGeom xmlns:a="http://schemas.openxmlformats.org/drawingml/2006/main" prst="rect">
            <a:avLst/>
          </a:prstGeom>
        </p:spPr>
      </p:pic>
      <p:sp>
        <p:nvSpPr>
          <p:cNvPr id="4" name="text-23">
            <a:extLst xmlns:a="http://schemas.openxmlformats.org/drawingml/2006/main">
              <a:ext uri="{FF2B5EF4-FFF2-40B4-BE49-F238E27FC236}">
                <a16:creationId xmlns:a16="http://schemas.microsoft.com/office/drawing/2014/main" id="{E0186858-0B19-4EF4-93E3-6EAEDEC57869}"/>
              </a:ext>
            </a:extLst>
          </p:cNvPr>
          <p:cNvSpPr>
            <a:spLocks xmlns:a="http://schemas.openxmlformats.org/drawingml/2006/main" noGrp="1"/>
          </p:cNvSpPr>
          <p:nvPr/>
        </p:nvSpPr>
        <p:spPr>
          <a:xfrm xmlns:a="http://schemas.openxmlformats.org/drawingml/2006/main">
            <a:off x="533400" y="64484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87644"/>
                </a:solidFill>
                <a:latin typeface="Times New Roman"/>
                <a:ea typeface="Times New Roman"/>
                <a:cs typeface="Times New Roman"/>
              </a:defRPr>
            </a:defPPr>
            <a:lvl1pPr algn="l">
              <a:defRPr sz="1275" b="0">
                <a:solidFill>
                  <a:srgbClr val="087644"/>
                </a:solidFill>
                <a:latin typeface="Times New Roman"/>
                <a:ea typeface="Times New Roman"/>
                <a:cs typeface="Times New Roman"/>
              </a:defRPr>
            </a:lvl1pPr>
            <a:lvl2pPr algn="l">
              <a:defRPr sz="1275" b="0">
                <a:solidFill>
                  <a:srgbClr val="087644"/>
                </a:solidFill>
                <a:latin typeface="Times New Roman"/>
                <a:ea typeface="Times New Roman"/>
                <a:cs typeface="Times New Roman"/>
              </a:defRPr>
            </a:lvl2pPr>
            <a:lvl3pPr algn="l">
              <a:defRPr sz="1275" b="0">
                <a:solidFill>
                  <a:srgbClr val="087644"/>
                </a:solidFill>
                <a:latin typeface="Times New Roman"/>
                <a:ea typeface="Times New Roman"/>
                <a:cs typeface="Times New Roman"/>
              </a:defRPr>
            </a:lvl3pPr>
            <a:lvl4pPr algn="l">
              <a:defRPr sz="1275" b="0">
                <a:solidFill>
                  <a:srgbClr val="087644"/>
                </a:solidFill>
                <a:latin typeface="Times New Roman"/>
                <a:ea typeface="Times New Roman"/>
                <a:cs typeface="Times New Roman"/>
              </a:defRPr>
            </a:lvl4pPr>
            <a:lvl5pPr algn="l">
              <a:defRPr sz="1275" b="0">
                <a:solidFill>
                  <a:srgbClr val="087644"/>
                </a:solidFill>
                <a:latin typeface="Times New Roman"/>
                <a:ea typeface="Times New Roman"/>
                <a:cs typeface="Times New Roman"/>
              </a:defRPr>
            </a:lvl5pPr>
            <a:lvl6pPr algn="l">
              <a:defRPr sz="1275" b="0">
                <a:solidFill>
                  <a:srgbClr val="087644"/>
                </a:solidFill>
                <a:latin typeface="Times New Roman"/>
                <a:ea typeface="Times New Roman"/>
                <a:cs typeface="Times New Roman"/>
              </a:defRPr>
            </a:lvl6pPr>
            <a:lvl7pPr algn="l">
              <a:defRPr sz="1275" b="0">
                <a:solidFill>
                  <a:srgbClr val="087644"/>
                </a:solidFill>
                <a:latin typeface="Times New Roman"/>
                <a:ea typeface="Times New Roman"/>
                <a:cs typeface="Times New Roman"/>
              </a:defRPr>
            </a:lvl7pPr>
            <a:lvl8pPr algn="l">
              <a:defRPr sz="1275" b="0">
                <a:solidFill>
                  <a:srgbClr val="087644"/>
                </a:solidFill>
                <a:latin typeface="Times New Roman"/>
                <a:ea typeface="Times New Roman"/>
                <a:cs typeface="Times New Roman"/>
              </a:defRPr>
            </a:lvl8pPr>
            <a:lvl9pPr algn="l">
              <a:defRPr sz="1275" b="0">
                <a:solidFill>
                  <a:srgbClr val="087644"/>
                </a:solidFill>
                <a:latin typeface="Times New Roman"/>
                <a:ea typeface="Times New Roman"/>
                <a:cs typeface="Times New Roman"/>
              </a:defRPr>
            </a:lvl9pPr>
          </a:lstStyle>
          <a:p xmlns:a="http://schemas.openxmlformats.org/drawingml/2006/main">
            <a:pPr algn="l">
              <a:lnSpc>
                <a:spcPct val="112000"/>
              </a:lnSpc>
              <a:buNone/>
              <a:defRPr sz="1275" b="0">
                <a:solidFill>
                  <a:srgbClr val="087644"/>
                </a:solidFill>
                <a:latin typeface="Times New Roman"/>
                <a:ea typeface="Times New Roman"/>
                <a:cs typeface="Times New Roman"/>
              </a:defRPr>
            </a:pPr>
            <a:r>
              <a:rPr sz="1275" b="0">
                <a:solidFill>
                  <a:srgbClr val="087644"/>
                </a:solidFill>
                <a:latin typeface="Times New Roman"/>
                <a:ea typeface="Times New Roman"/>
                <a:cs typeface="Times New Roman"/>
              </a:rPr>
              <a:t>06</a:t>
            </a:r>
          </a:p>
        </p:txBody>
      </p:sp>
      <p:sp>
        <p:nvSpPr>
          <p:cNvPr id="5" name="text-24">
            <a:extLst xmlns:a="http://schemas.openxmlformats.org/drawingml/2006/main">
              <a:ext uri="{FF2B5EF4-FFF2-40B4-BE49-F238E27FC236}">
                <a16:creationId xmlns:a16="http://schemas.microsoft.com/office/drawing/2014/main" id="{0DD0FE66-CE1D-4A7A-9965-D9A44C825E42}"/>
              </a:ext>
            </a:extLst>
          </p:cNvPr>
          <p:cNvSpPr>
            <a:spLocks xmlns:a="http://schemas.openxmlformats.org/drawingml/2006/main" noGrp="1"/>
          </p:cNvSpPr>
          <p:nvPr/>
        </p:nvSpPr>
        <p:spPr>
          <a:xfrm xmlns:a="http://schemas.openxmlformats.org/drawingml/2006/main">
            <a:off x="533400" y="133350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Before workers start</a:t>
            </a:r>
          </a:p>
        </p:txBody>
      </p:sp>
      <p:sp>
        <p:nvSpPr>
          <p:cNvPr id="6" name="text-25">
            <a:extLst xmlns:a="http://schemas.openxmlformats.org/drawingml/2006/main">
              <a:ext uri="{FF2B5EF4-FFF2-40B4-BE49-F238E27FC236}">
                <a16:creationId xmlns:a16="http://schemas.microsoft.com/office/drawing/2014/main" id="{2AC771CE-5BBF-4206-8FFD-4597C4B55324}"/>
              </a:ext>
            </a:extLst>
          </p:cNvPr>
          <p:cNvSpPr>
            <a:spLocks xmlns:a="http://schemas.openxmlformats.org/drawingml/2006/main" noGrp="1"/>
          </p:cNvSpPr>
          <p:nvPr/>
        </p:nvSpPr>
        <p:spPr>
          <a:xfrm xmlns:a="http://schemas.openxmlformats.org/drawingml/2006/main">
            <a:off x="533400" y="1828800"/>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515"/>
                </a:solidFill>
                <a:latin typeface="Times New Roman"/>
                <a:ea typeface="Times New Roman"/>
                <a:cs typeface="Times New Roman"/>
              </a:defRPr>
            </a:defPPr>
            <a:lvl1pPr algn="l">
              <a:defRPr sz="2175" b="0">
                <a:solidFill>
                  <a:srgbClr val="151515"/>
                </a:solidFill>
                <a:latin typeface="Times New Roman"/>
                <a:ea typeface="Times New Roman"/>
                <a:cs typeface="Times New Roman"/>
              </a:defRPr>
            </a:lvl1pPr>
            <a:lvl2pPr algn="l">
              <a:defRPr sz="2175" b="0">
                <a:solidFill>
                  <a:srgbClr val="151515"/>
                </a:solidFill>
                <a:latin typeface="Times New Roman"/>
                <a:ea typeface="Times New Roman"/>
                <a:cs typeface="Times New Roman"/>
              </a:defRPr>
            </a:lvl2pPr>
            <a:lvl3pPr algn="l">
              <a:defRPr sz="2175" b="0">
                <a:solidFill>
                  <a:srgbClr val="151515"/>
                </a:solidFill>
                <a:latin typeface="Times New Roman"/>
                <a:ea typeface="Times New Roman"/>
                <a:cs typeface="Times New Roman"/>
              </a:defRPr>
            </a:lvl3pPr>
            <a:lvl4pPr algn="l">
              <a:defRPr sz="2175" b="0">
                <a:solidFill>
                  <a:srgbClr val="151515"/>
                </a:solidFill>
                <a:latin typeface="Times New Roman"/>
                <a:ea typeface="Times New Roman"/>
                <a:cs typeface="Times New Roman"/>
              </a:defRPr>
            </a:lvl4pPr>
            <a:lvl5pPr algn="l">
              <a:defRPr sz="2175" b="0">
                <a:solidFill>
                  <a:srgbClr val="151515"/>
                </a:solidFill>
                <a:latin typeface="Times New Roman"/>
                <a:ea typeface="Times New Roman"/>
                <a:cs typeface="Times New Roman"/>
              </a:defRPr>
            </a:lvl5pPr>
            <a:lvl6pPr algn="l">
              <a:defRPr sz="2175" b="0">
                <a:solidFill>
                  <a:srgbClr val="151515"/>
                </a:solidFill>
                <a:latin typeface="Times New Roman"/>
                <a:ea typeface="Times New Roman"/>
                <a:cs typeface="Times New Roman"/>
              </a:defRPr>
            </a:lvl6pPr>
            <a:lvl7pPr algn="l">
              <a:defRPr sz="2175" b="0">
                <a:solidFill>
                  <a:srgbClr val="151515"/>
                </a:solidFill>
                <a:latin typeface="Times New Roman"/>
                <a:ea typeface="Times New Roman"/>
                <a:cs typeface="Times New Roman"/>
              </a:defRPr>
            </a:lvl7pPr>
            <a:lvl8pPr algn="l">
              <a:defRPr sz="2175" b="0">
                <a:solidFill>
                  <a:srgbClr val="151515"/>
                </a:solidFill>
                <a:latin typeface="Times New Roman"/>
                <a:ea typeface="Times New Roman"/>
                <a:cs typeface="Times New Roman"/>
              </a:defRPr>
            </a:lvl8pPr>
            <a:lvl9pPr algn="l">
              <a:defRPr sz="2175" b="0">
                <a:solidFill>
                  <a:srgbClr val="151515"/>
                </a:solidFill>
                <a:latin typeface="Times New Roman"/>
                <a:ea typeface="Times New Roman"/>
                <a:cs typeface="Times New Roman"/>
              </a:defRPr>
            </a:lvl9pPr>
          </a:lstStyle>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Form complete parties</a:t>
            </a:r>
          </a:p>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Append n shutdown markers</a:t>
            </a:r>
          </a:p>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Publish one permit per queue item</a:t>
            </a:r>
          </a:p>
        </p:txBody>
      </p:sp>
      <p:sp>
        <p:nvSpPr>
          <p:cNvPr id="7" name="text-26">
            <a:extLst xmlns:a="http://schemas.openxmlformats.org/drawingml/2006/main">
              <a:ext uri="{FF2B5EF4-FFF2-40B4-BE49-F238E27FC236}">
                <a16:creationId xmlns:a16="http://schemas.microsoft.com/office/drawing/2014/main" id="{F19718D7-5871-42E6-A54A-36F6358C600A}"/>
              </a:ext>
            </a:extLst>
          </p:cNvPr>
          <p:cNvSpPr>
            <a:spLocks xmlns:a="http://schemas.openxmlformats.org/drawingml/2006/main" noGrp="1"/>
          </p:cNvSpPr>
          <p:nvPr/>
        </p:nvSpPr>
        <p:spPr>
          <a:xfrm xmlns:a="http://schemas.openxmlformats.org/drawingml/2006/main">
            <a:off x="533400" y="37909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One worker per instance</a:t>
            </a:r>
          </a:p>
        </p:txBody>
      </p:sp>
      <p:sp>
        <p:nvSpPr>
          <p:cNvPr id="8" name="text-27">
            <a:extLst xmlns:a="http://schemas.openxmlformats.org/drawingml/2006/main">
              <a:ext uri="{FF2B5EF4-FFF2-40B4-BE49-F238E27FC236}">
                <a16:creationId xmlns:a16="http://schemas.microsoft.com/office/drawing/2014/main" id="{23018E53-D80E-43D3-ABD4-7246E4C1FF1E}"/>
              </a:ext>
            </a:extLst>
          </p:cNvPr>
          <p:cNvSpPr>
            <a:spLocks xmlns:a="http://schemas.openxmlformats.org/drawingml/2006/main" noGrp="1"/>
          </p:cNvSpPr>
          <p:nvPr/>
        </p:nvSpPr>
        <p:spPr>
          <a:xfrm xmlns:a="http://schemas.openxmlformats.org/drawingml/2006/main">
            <a:off x="533400" y="428625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515"/>
                </a:solidFill>
                <a:latin typeface="Times New Roman"/>
                <a:ea typeface="Times New Roman"/>
                <a:cs typeface="Times New Roman"/>
              </a:defRPr>
            </a:defPPr>
            <a:lvl1pPr algn="l">
              <a:defRPr sz="2175" b="0">
                <a:solidFill>
                  <a:srgbClr val="151515"/>
                </a:solidFill>
                <a:latin typeface="Times New Roman"/>
                <a:ea typeface="Times New Roman"/>
                <a:cs typeface="Times New Roman"/>
              </a:defRPr>
            </a:lvl1pPr>
            <a:lvl2pPr algn="l">
              <a:defRPr sz="2175" b="0">
                <a:solidFill>
                  <a:srgbClr val="151515"/>
                </a:solidFill>
                <a:latin typeface="Times New Roman"/>
                <a:ea typeface="Times New Roman"/>
                <a:cs typeface="Times New Roman"/>
              </a:defRPr>
            </a:lvl2pPr>
            <a:lvl3pPr algn="l">
              <a:defRPr sz="2175" b="0">
                <a:solidFill>
                  <a:srgbClr val="151515"/>
                </a:solidFill>
                <a:latin typeface="Times New Roman"/>
                <a:ea typeface="Times New Roman"/>
                <a:cs typeface="Times New Roman"/>
              </a:defRPr>
            </a:lvl3pPr>
            <a:lvl4pPr algn="l">
              <a:defRPr sz="2175" b="0">
                <a:solidFill>
                  <a:srgbClr val="151515"/>
                </a:solidFill>
                <a:latin typeface="Times New Roman"/>
                <a:ea typeface="Times New Roman"/>
                <a:cs typeface="Times New Roman"/>
              </a:defRPr>
            </a:lvl4pPr>
            <a:lvl5pPr algn="l">
              <a:defRPr sz="2175" b="0">
                <a:solidFill>
                  <a:srgbClr val="151515"/>
                </a:solidFill>
                <a:latin typeface="Times New Roman"/>
                <a:ea typeface="Times New Roman"/>
                <a:cs typeface="Times New Roman"/>
              </a:defRPr>
            </a:lvl5pPr>
            <a:lvl6pPr algn="l">
              <a:defRPr sz="2175" b="0">
                <a:solidFill>
                  <a:srgbClr val="151515"/>
                </a:solidFill>
                <a:latin typeface="Times New Roman"/>
                <a:ea typeface="Times New Roman"/>
                <a:cs typeface="Times New Roman"/>
              </a:defRPr>
            </a:lvl6pPr>
            <a:lvl7pPr algn="l">
              <a:defRPr sz="2175" b="0">
                <a:solidFill>
                  <a:srgbClr val="151515"/>
                </a:solidFill>
                <a:latin typeface="Times New Roman"/>
                <a:ea typeface="Times New Roman"/>
                <a:cs typeface="Times New Roman"/>
              </a:defRPr>
            </a:lvl7pPr>
            <a:lvl8pPr algn="l">
              <a:defRPr sz="2175" b="0">
                <a:solidFill>
                  <a:srgbClr val="151515"/>
                </a:solidFill>
                <a:latin typeface="Times New Roman"/>
                <a:ea typeface="Times New Roman"/>
                <a:cs typeface="Times New Roman"/>
              </a:defRPr>
            </a:lvl8pPr>
            <a:lvl9pPr algn="l">
              <a:defRPr sz="2175" b="0">
                <a:solidFill>
                  <a:srgbClr val="151515"/>
                </a:solidFill>
                <a:latin typeface="Times New Roman"/>
                <a:ea typeface="Times New Roman"/>
                <a:cs typeface="Times New Roman"/>
              </a:defRPr>
            </a:lvl9pPr>
          </a:lstStyle>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The n workers enforce the limit.</a:t>
            </a:r>
          </a:p>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Each worker runs one party at a time.</a:t>
            </a:r>
          </a:p>
        </p:txBody>
      </p:sp>
      <p:sp>
        <p:nvSpPr>
          <p:cNvPr id="9" name="code-28">
            <a:extLst xmlns:a="http://schemas.openxmlformats.org/drawingml/2006/main">
              <a:ext uri="{FF2B5EF4-FFF2-40B4-BE49-F238E27FC236}">
                <a16:creationId xmlns:a16="http://schemas.microsoft.com/office/drawing/2014/main" id="{11919B70-88DD-43B2-BB72-C45EF993C7CC}"/>
              </a:ext>
            </a:extLst>
          </p:cNvPr>
          <p:cNvSpPr>
            <a:spLocks xmlns:a="http://schemas.openxmlformats.org/drawingml/2006/main" noGrp="1"/>
          </p:cNvSpPr>
          <p:nvPr/>
        </p:nvSpPr>
        <p:spPr>
          <a:xfrm xmlns:a="http://schemas.openxmlformats.org/drawingml/2006/main">
            <a:off x="5810250" y="1333500"/>
            <a:ext cx="5848350" cy="3619500"/>
          </a:xfrm>
          <a:prstGeom xmlns:a="http://schemas.openxmlformats.org/drawingml/2006/main" prst="rect">
            <a:avLst/>
          </a:prstGeom>
          <a:solidFill xmlns:a="http://schemas.openxmlformats.org/drawingml/2006/main">
            <a:srgbClr val="17211C"/>
          </a:solidFill>
          <a:ln xmlns:a="http://schemas.openxmlformats.org/drawingml/2006/main" w="0">
            <a:noFill/>
          </a:ln>
        </p:spPr>
        <p:txBody>
          <a:bodyPr xmlns:a="http://schemas.openxmlformats.org/drawingml/2006/main" wrap="square" lIns="152400" tIns="152400" rIns="152400" bIns="152400" anchor="t">
            <a:noAutofit/>
          </a:bodyPr>
          <a:lstStyle xmlns:a="http://schemas.openxmlformats.org/drawingml/2006/main">
            <a:defPPr algn="l">
              <a:defRPr sz="1950" b="0">
                <a:solidFill>
                  <a:srgbClr val="F4F4F4"/>
                </a:solidFill>
                <a:latin typeface="Consolas"/>
                <a:ea typeface="Consolas"/>
                <a:cs typeface="Consolas"/>
              </a:defRPr>
            </a:defPPr>
            <a:lvl1pPr algn="l">
              <a:defRPr sz="1950" b="0">
                <a:solidFill>
                  <a:srgbClr val="F4F4F4"/>
                </a:solidFill>
                <a:latin typeface="Consolas"/>
                <a:ea typeface="Consolas"/>
                <a:cs typeface="Consolas"/>
              </a:defRPr>
            </a:lvl1pPr>
            <a:lvl2pPr algn="l">
              <a:defRPr sz="1950" b="0">
                <a:solidFill>
                  <a:srgbClr val="F4F4F4"/>
                </a:solidFill>
                <a:latin typeface="Consolas"/>
                <a:ea typeface="Consolas"/>
                <a:cs typeface="Consolas"/>
              </a:defRPr>
            </a:lvl2pPr>
            <a:lvl3pPr algn="l">
              <a:defRPr sz="1950" b="0">
                <a:solidFill>
                  <a:srgbClr val="F4F4F4"/>
                </a:solidFill>
                <a:latin typeface="Consolas"/>
                <a:ea typeface="Consolas"/>
                <a:cs typeface="Consolas"/>
              </a:defRPr>
            </a:lvl3pPr>
            <a:lvl4pPr algn="l">
              <a:defRPr sz="1950" b="0">
                <a:solidFill>
                  <a:srgbClr val="F4F4F4"/>
                </a:solidFill>
                <a:latin typeface="Consolas"/>
                <a:ea typeface="Consolas"/>
                <a:cs typeface="Consolas"/>
              </a:defRPr>
            </a:lvl4pPr>
            <a:lvl5pPr algn="l">
              <a:defRPr sz="1950" b="0">
                <a:solidFill>
                  <a:srgbClr val="F4F4F4"/>
                </a:solidFill>
                <a:latin typeface="Consolas"/>
                <a:ea typeface="Consolas"/>
                <a:cs typeface="Consolas"/>
              </a:defRPr>
            </a:lvl5pPr>
            <a:lvl6pPr algn="l">
              <a:defRPr sz="1950" b="0">
                <a:solidFill>
                  <a:srgbClr val="F4F4F4"/>
                </a:solidFill>
                <a:latin typeface="Consolas"/>
                <a:ea typeface="Consolas"/>
                <a:cs typeface="Consolas"/>
              </a:defRPr>
            </a:lvl6pPr>
            <a:lvl7pPr algn="l">
              <a:defRPr sz="1950" b="0">
                <a:solidFill>
                  <a:srgbClr val="F4F4F4"/>
                </a:solidFill>
                <a:latin typeface="Consolas"/>
                <a:ea typeface="Consolas"/>
                <a:cs typeface="Consolas"/>
              </a:defRPr>
            </a:lvl7pPr>
            <a:lvl8pPr algn="l">
              <a:defRPr sz="1950" b="0">
                <a:solidFill>
                  <a:srgbClr val="F4F4F4"/>
                </a:solidFill>
                <a:latin typeface="Consolas"/>
                <a:ea typeface="Consolas"/>
                <a:cs typeface="Consolas"/>
              </a:defRPr>
            </a:lvl8pPr>
            <a:lvl9pPr algn="l">
              <a:defRPr sz="1950" b="0">
                <a:solidFill>
                  <a:srgbClr val="F4F4F4"/>
                </a:solidFill>
                <a:latin typeface="Consolas"/>
                <a:ea typeface="Consolas"/>
                <a:cs typeface="Consolas"/>
              </a:defRPr>
            </a:lvl9pPr>
          </a:lstStyle>
          <a:p xmlns:a="http://schemas.openxmlformats.org/drawingml/2006/main">
            <a:pPr algn="l">
              <a:lnSpc>
                <a:spcPct val="112000"/>
              </a:lnSpc>
              <a:buNone/>
              <a:defRPr sz="1950" b="0">
                <a:solidFill>
                  <a:srgbClr val="F4F4F4"/>
                </a:solidFill>
                <a:latin typeface="Consolas"/>
                <a:ea typeface="Consolas"/>
                <a:cs typeface="Consolas"/>
              </a:defRPr>
            </a:pPr>
            <a:r>
              <a:rPr sz="1950" b="0">
                <a:solidFill>
                  <a:srgbClr val="F4F4F4"/>
                </a:solidFill>
                <a:latin typeface="Consolas"/>
                <a:ea typeface="Consolas"/>
                <a:cs typeface="Consolas"/>
              </a:rPr>
              <a:t>1. Acquire a job permit</a:t>
            </a:r>
          </a:p>
          <a:p xmlns:a="http://schemas.openxmlformats.org/drawingml/2006/main">
            <a:pPr algn="l">
              <a:lnSpc>
                <a:spcPct val="112000"/>
              </a:lnSpc>
              <a:buNone/>
              <a:defRPr sz="1950" b="0">
                <a:solidFill>
                  <a:srgbClr val="F4F4F4"/>
                </a:solidFill>
                <a:latin typeface="Consolas"/>
                <a:ea typeface="Consolas"/>
                <a:cs typeface="Consolas"/>
              </a:defRPr>
            </a:pPr>
            <a:r>
              <a:rPr sz="1950" b="0">
                <a:solidFill>
                  <a:srgbClr val="F4F4F4"/>
                </a:solidFill>
                <a:latin typeface="Consolas"/>
                <a:ea typeface="Consolas"/>
                <a:cs typeface="Consolas"/>
              </a:rPr>
              <a:t>2. Remove the FIFO job</a:t>
            </a:r>
          </a:p>
          <a:p xmlns:a="http://schemas.openxmlformats.org/drawingml/2006/main">
            <a:pPr algn="l">
              <a:lnSpc>
                <a:spcPct val="112000"/>
              </a:lnSpc>
              <a:buNone/>
              <a:defRPr sz="1950" b="0">
                <a:solidFill>
                  <a:srgbClr val="F4F4F4"/>
                </a:solidFill>
                <a:latin typeface="Consolas"/>
                <a:ea typeface="Consolas"/>
                <a:cs typeface="Consolas"/>
              </a:defRPr>
            </a:pPr>
            <a:r>
              <a:rPr sz="1950" b="0">
                <a:solidFill>
                  <a:srgbClr val="F4F4F4"/>
                </a:solidFill>
                <a:latin typeface="Consolas"/>
                <a:ea typeface="Consolas"/>
                <a:cs typeface="Consolas"/>
              </a:rPr>
              <a:t>3. Exit if it is a marker</a:t>
            </a:r>
          </a:p>
          <a:p xmlns:a="http://schemas.openxmlformats.org/drawingml/2006/main">
            <a:pPr algn="l">
              <a:lnSpc>
                <a:spcPct val="112000"/>
              </a:lnSpc>
              <a:buNone/>
              <a:defRPr sz="1950" b="0">
                <a:solidFill>
                  <a:srgbClr val="F4F4F4"/>
                </a:solidFill>
                <a:latin typeface="Consolas"/>
                <a:ea typeface="Consolas"/>
                <a:cs typeface="Consolas"/>
              </a:defRPr>
            </a:pPr>
            <a:r>
              <a:rPr sz="1950" b="0">
                <a:solidFill>
                  <a:srgbClr val="F4F4F4"/>
                </a:solidFill>
                <a:latin typeface="Consolas"/>
                <a:ea typeface="Consolas"/>
                <a:cs typeface="Consolas"/>
              </a:rPr>
              <a:t>4. Mark instance active</a:t>
            </a:r>
          </a:p>
          <a:p xmlns:a="http://schemas.openxmlformats.org/drawingml/2006/main">
            <a:pPr algn="l">
              <a:lnSpc>
                <a:spcPct val="112000"/>
              </a:lnSpc>
              <a:buNone/>
              <a:defRPr sz="1950" b="0">
                <a:solidFill>
                  <a:srgbClr val="F4F4F4"/>
                </a:solidFill>
                <a:latin typeface="Consolas"/>
                <a:ea typeface="Consolas"/>
                <a:cs typeface="Consolas"/>
              </a:defRPr>
            </a:pPr>
            <a:r>
              <a:rPr sz="1950" b="0">
                <a:solidFill>
                  <a:srgbClr val="F4F4F4"/>
                </a:solidFill>
                <a:latin typeface="Consolas"/>
                <a:ea typeface="Consolas"/>
                <a:cs typeface="Consolas"/>
              </a:rPr>
              <a:t>5. Sleep for dungeon duration</a:t>
            </a:r>
          </a:p>
          <a:p xmlns:a="http://schemas.openxmlformats.org/drawingml/2006/main">
            <a:pPr algn="l">
              <a:lnSpc>
                <a:spcPct val="112000"/>
              </a:lnSpc>
              <a:buNone/>
              <a:defRPr sz="1950" b="0">
                <a:solidFill>
                  <a:srgbClr val="F4F4F4"/>
                </a:solidFill>
                <a:latin typeface="Consolas"/>
                <a:ea typeface="Consolas"/>
                <a:cs typeface="Consolas"/>
              </a:defRPr>
            </a:pPr>
            <a:r>
              <a:rPr sz="1950" b="0">
                <a:solidFill>
                  <a:srgbClr val="F4F4F4"/>
                </a:solidFill>
                <a:latin typeface="Consolas"/>
                <a:ea typeface="Consolas"/>
                <a:cs typeface="Consolas"/>
              </a:rPr>
              <a:t>6. Record completion</a:t>
            </a:r>
          </a:p>
          <a:p xmlns:a="http://schemas.openxmlformats.org/drawingml/2006/main">
            <a:pPr algn="l">
              <a:lnSpc>
                <a:spcPct val="112000"/>
              </a:lnSpc>
              <a:buNone/>
              <a:defRPr sz="1950" b="0">
                <a:solidFill>
                  <a:srgbClr val="F4F4F4"/>
                </a:solidFill>
                <a:latin typeface="Consolas"/>
                <a:ea typeface="Consolas"/>
                <a:cs typeface="Consolas"/>
              </a:defRPr>
            </a:pPr>
            <a:r>
              <a:rPr sz="1950" b="0">
                <a:solidFill>
                  <a:srgbClr val="F4F4F4"/>
                </a:solidFill>
                <a:latin typeface="Consolas"/>
                <a:ea typeface="Consolas"/>
                <a:cs typeface="Consolas"/>
              </a:rPr>
              <a:t>7. Repeat</a:t>
            </a:r>
          </a:p>
        </p:txBody>
      </p:sp>
      <p:sp>
        <p:nvSpPr>
          <p:cNvPr id="10" name="text-29">
            <a:extLst xmlns:a="http://schemas.openxmlformats.org/drawingml/2006/main">
              <a:ext uri="{FF2B5EF4-FFF2-40B4-BE49-F238E27FC236}">
                <a16:creationId xmlns:a16="http://schemas.microsoft.com/office/drawing/2014/main" id="{749F8D5F-2136-4107-93DF-9381C2D64EBA}"/>
              </a:ext>
            </a:extLst>
          </p:cNvPr>
          <p:cNvSpPr>
            <a:spLocks xmlns:a="http://schemas.openxmlformats.org/drawingml/2006/main" noGrp="1"/>
          </p:cNvSpPr>
          <p:nvPr/>
        </p:nvSpPr>
        <p:spPr>
          <a:xfrm xmlns:a="http://schemas.openxmlformats.org/drawingml/2006/main">
            <a:off x="5810250" y="5257800"/>
            <a:ext cx="5848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1515"/>
                </a:solidFill>
                <a:latin typeface="Times New Roman"/>
                <a:ea typeface="Times New Roman"/>
                <a:cs typeface="Times New Roman"/>
              </a:defRPr>
            </a:defPPr>
            <a:lvl1pPr algn="l">
              <a:defRPr sz="2100" b="0">
                <a:solidFill>
                  <a:srgbClr val="151515"/>
                </a:solidFill>
                <a:latin typeface="Times New Roman"/>
                <a:ea typeface="Times New Roman"/>
                <a:cs typeface="Times New Roman"/>
              </a:defRPr>
            </a:lvl1pPr>
            <a:lvl2pPr algn="l">
              <a:defRPr sz="2100" b="0">
                <a:solidFill>
                  <a:srgbClr val="151515"/>
                </a:solidFill>
                <a:latin typeface="Times New Roman"/>
                <a:ea typeface="Times New Roman"/>
                <a:cs typeface="Times New Roman"/>
              </a:defRPr>
            </a:lvl2pPr>
            <a:lvl3pPr algn="l">
              <a:defRPr sz="2100" b="0">
                <a:solidFill>
                  <a:srgbClr val="151515"/>
                </a:solidFill>
                <a:latin typeface="Times New Roman"/>
                <a:ea typeface="Times New Roman"/>
                <a:cs typeface="Times New Roman"/>
              </a:defRPr>
            </a:lvl3pPr>
            <a:lvl4pPr algn="l">
              <a:defRPr sz="2100" b="0">
                <a:solidFill>
                  <a:srgbClr val="151515"/>
                </a:solidFill>
                <a:latin typeface="Times New Roman"/>
                <a:ea typeface="Times New Roman"/>
                <a:cs typeface="Times New Roman"/>
              </a:defRPr>
            </a:lvl4pPr>
            <a:lvl5pPr algn="l">
              <a:defRPr sz="2100" b="0">
                <a:solidFill>
                  <a:srgbClr val="151515"/>
                </a:solidFill>
                <a:latin typeface="Times New Roman"/>
                <a:ea typeface="Times New Roman"/>
                <a:cs typeface="Times New Roman"/>
              </a:defRPr>
            </a:lvl5pPr>
            <a:lvl6pPr algn="l">
              <a:defRPr sz="2100" b="0">
                <a:solidFill>
                  <a:srgbClr val="151515"/>
                </a:solidFill>
                <a:latin typeface="Times New Roman"/>
                <a:ea typeface="Times New Roman"/>
                <a:cs typeface="Times New Roman"/>
              </a:defRPr>
            </a:lvl6pPr>
            <a:lvl7pPr algn="l">
              <a:defRPr sz="2100" b="0">
                <a:solidFill>
                  <a:srgbClr val="151515"/>
                </a:solidFill>
                <a:latin typeface="Times New Roman"/>
                <a:ea typeface="Times New Roman"/>
                <a:cs typeface="Times New Roman"/>
              </a:defRPr>
            </a:lvl7pPr>
            <a:lvl8pPr algn="l">
              <a:defRPr sz="2100" b="0">
                <a:solidFill>
                  <a:srgbClr val="151515"/>
                </a:solidFill>
                <a:latin typeface="Times New Roman"/>
                <a:ea typeface="Times New Roman"/>
                <a:cs typeface="Times New Roman"/>
              </a:defRPr>
            </a:lvl8pPr>
            <a:lvl9pPr algn="l">
              <a:defRPr sz="2100" b="0">
                <a:solidFill>
                  <a:srgbClr val="151515"/>
                </a:solidFill>
                <a:latin typeface="Times New Roman"/>
                <a:ea typeface="Times New Roman"/>
                <a:cs typeface="Times New Roman"/>
              </a:defRPr>
            </a:lvl9pPr>
          </a:lstStyle>
          <a:p xmlns:a="http://schemas.openxmlformats.org/drawingml/2006/main">
            <a:pPr algn="l">
              <a:lnSpc>
                <a:spcPct val="112000"/>
              </a:lnSpc>
              <a:buNone/>
              <a:defRPr sz="2100" b="0">
                <a:solidFill>
                  <a:srgbClr val="151515"/>
                </a:solidFill>
                <a:latin typeface="Times New Roman"/>
                <a:ea typeface="Times New Roman"/>
                <a:cs typeface="Times New Roman"/>
              </a:defRPr>
            </a:pPr>
            <a:r>
              <a:rPr sz="2100" b="0">
                <a:solidFill>
                  <a:srgbClr val="151515"/>
                </a:solidFill>
                <a:latin typeface="Times New Roman"/>
                <a:ea typeface="Times New Roman"/>
                <a:cs typeface="Times New Roman"/>
              </a:rPr>
              <a:t>Dungeon sleep holds no application mutex.</a:t>
            </a:r>
          </a:p>
        </p:txBody>
      </p:sp>
    </p:spTree>
    <p:extLst>
      <p:ext uri="{BB962C8B-B14F-4D97-AF65-F5344CB8AC3E}">
        <p14:creationId xmlns:p14="http://schemas.microsoft.com/office/powerpoint/2010/main" val="73814135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2BF83E5E-59D8-4946-BE54-89C8C271F3C9}"/>
              </a:ext>
            </a:extLst>
          </p:cNvPr>
          <p:cNvSpPr>
            <a:spLocks xmlns:a="http://schemas.openxmlformats.org/drawingml/2006/main" noGrp="1"/>
          </p:cNvSpPr>
          <p:nvPr/>
        </p:nvSpPr>
        <p:spPr>
          <a:xfrm xmlns:a="http://schemas.openxmlformats.org/drawingml/2006/main">
            <a:off x="533400" y="361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51515"/>
                </a:solidFill>
                <a:latin typeface="Times New Roman"/>
                <a:ea typeface="Times New Roman"/>
                <a:cs typeface="Times New Roman"/>
              </a:defRPr>
            </a:defPPr>
            <a:lvl1pPr algn="l">
              <a:defRPr sz="3300" b="0">
                <a:solidFill>
                  <a:srgbClr val="151515"/>
                </a:solidFill>
                <a:latin typeface="Times New Roman"/>
                <a:ea typeface="Times New Roman"/>
                <a:cs typeface="Times New Roman"/>
              </a:defRPr>
            </a:lvl1pPr>
            <a:lvl2pPr algn="l">
              <a:defRPr sz="3300" b="0">
                <a:solidFill>
                  <a:srgbClr val="151515"/>
                </a:solidFill>
                <a:latin typeface="Times New Roman"/>
                <a:ea typeface="Times New Roman"/>
                <a:cs typeface="Times New Roman"/>
              </a:defRPr>
            </a:lvl2pPr>
            <a:lvl3pPr algn="l">
              <a:defRPr sz="3300" b="0">
                <a:solidFill>
                  <a:srgbClr val="151515"/>
                </a:solidFill>
                <a:latin typeface="Times New Roman"/>
                <a:ea typeface="Times New Roman"/>
                <a:cs typeface="Times New Roman"/>
              </a:defRPr>
            </a:lvl3pPr>
            <a:lvl4pPr algn="l">
              <a:defRPr sz="3300" b="0">
                <a:solidFill>
                  <a:srgbClr val="151515"/>
                </a:solidFill>
                <a:latin typeface="Times New Roman"/>
                <a:ea typeface="Times New Roman"/>
                <a:cs typeface="Times New Roman"/>
              </a:defRPr>
            </a:lvl4pPr>
            <a:lvl5pPr algn="l">
              <a:defRPr sz="3300" b="0">
                <a:solidFill>
                  <a:srgbClr val="151515"/>
                </a:solidFill>
                <a:latin typeface="Times New Roman"/>
                <a:ea typeface="Times New Roman"/>
                <a:cs typeface="Times New Roman"/>
              </a:defRPr>
            </a:lvl5pPr>
            <a:lvl6pPr algn="l">
              <a:defRPr sz="3300" b="0">
                <a:solidFill>
                  <a:srgbClr val="151515"/>
                </a:solidFill>
                <a:latin typeface="Times New Roman"/>
                <a:ea typeface="Times New Roman"/>
                <a:cs typeface="Times New Roman"/>
              </a:defRPr>
            </a:lvl6pPr>
            <a:lvl7pPr algn="l">
              <a:defRPr sz="3300" b="0">
                <a:solidFill>
                  <a:srgbClr val="151515"/>
                </a:solidFill>
                <a:latin typeface="Times New Roman"/>
                <a:ea typeface="Times New Roman"/>
                <a:cs typeface="Times New Roman"/>
              </a:defRPr>
            </a:lvl7pPr>
            <a:lvl8pPr algn="l">
              <a:defRPr sz="3300" b="0">
                <a:solidFill>
                  <a:srgbClr val="151515"/>
                </a:solidFill>
                <a:latin typeface="Times New Roman"/>
                <a:ea typeface="Times New Roman"/>
                <a:cs typeface="Times New Roman"/>
              </a:defRPr>
            </a:lvl8pPr>
            <a:lvl9pPr algn="l">
              <a:defRPr sz="3300" b="0">
                <a:solidFill>
                  <a:srgbClr val="151515"/>
                </a:solidFill>
                <a:latin typeface="Times New Roman"/>
                <a:ea typeface="Times New Roman"/>
                <a:cs typeface="Times New Roman"/>
              </a:defRPr>
            </a:lvl9pPr>
          </a:lstStyle>
          <a:p xmlns:a="http://schemas.openxmlformats.org/drawingml/2006/main">
            <a:pPr algn="l">
              <a:lnSpc>
                <a:spcPct val="112000"/>
              </a:lnSpc>
              <a:buNone/>
              <a:defRPr sz="3300" b="0">
                <a:solidFill>
                  <a:srgbClr val="151515"/>
                </a:solidFill>
                <a:latin typeface="Times New Roman"/>
                <a:ea typeface="Times New Roman"/>
                <a:cs typeface="Times New Roman"/>
              </a:defRPr>
            </a:pPr>
            <a:r>
              <a:rPr sz="3300" b="0">
                <a:solidFill>
                  <a:srgbClr val="151515"/>
                </a:solidFill>
                <a:latin typeface="Times New Roman"/>
                <a:ea typeface="Times New Roman"/>
                <a:cs typeface="Times New Roman"/>
              </a:rPr>
              <a:t>Synchronization Mechanisms</a:t>
            </a:r>
          </a:p>
        </p:txBody>
      </p:sp>
      <p:pic>
        <p:nvPicPr>
          <p:cNvPr id="3" name="">
            <a:extLst xmlns:a="http://schemas.openxmlformats.org/drawingml/2006/main">
              <a:ext uri="{FF2B5EF4-FFF2-40B4-BE49-F238E27FC236}">
                <a16:creationId xmlns:a16="http://schemas.microsoft.com/office/drawing/2014/main" id="{6AEEB71F-E5E8-456F-8BA5-441869B43460}"/>
              </a:ext>
            </a:extLst>
          </p:cNvPr>
          <p:cNvPicPr>
            <a:picLocks xmlns:a="http://schemas.openxmlformats.org/drawingml/2006/main" noChangeAspect="1"/>
          </p:cNvPicPr>
          <p:nvPr/>
        </p:nvPicPr>
        <p:blipFill>
          <a:blip xmlns:r="http://schemas.openxmlformats.org/officeDocument/2006/relationships" xmlns:a="http://schemas.openxmlformats.org/drawingml/2006/main" r:embed="R6f78efd6c49a474e"/>
          <a:stretch xmlns:a="http://schemas.openxmlformats.org/drawingml/2006/main"/>
        </p:blipFill>
        <p:spPr>
          <a:xfrm xmlns:a="http://schemas.openxmlformats.org/drawingml/2006/main">
            <a:off x="11458575" y="6238875"/>
            <a:ext cx="419100" cy="419100"/>
          </a:xfrm>
          <a:prstGeom xmlns:a="http://schemas.openxmlformats.org/drawingml/2006/main" prst="rect">
            <a:avLst/>
          </a:prstGeom>
        </p:spPr>
      </p:pic>
      <p:sp>
        <p:nvSpPr>
          <p:cNvPr id="4" name="text-30">
            <a:extLst xmlns:a="http://schemas.openxmlformats.org/drawingml/2006/main">
              <a:ext uri="{FF2B5EF4-FFF2-40B4-BE49-F238E27FC236}">
                <a16:creationId xmlns:a16="http://schemas.microsoft.com/office/drawing/2014/main" id="{ADA53F20-A6E8-4C45-B6AB-A3FA716DB06A}"/>
              </a:ext>
            </a:extLst>
          </p:cNvPr>
          <p:cNvSpPr>
            <a:spLocks xmlns:a="http://schemas.openxmlformats.org/drawingml/2006/main" noGrp="1"/>
          </p:cNvSpPr>
          <p:nvPr/>
        </p:nvSpPr>
        <p:spPr>
          <a:xfrm xmlns:a="http://schemas.openxmlformats.org/drawingml/2006/main">
            <a:off x="533400" y="64484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87644"/>
                </a:solidFill>
                <a:latin typeface="Times New Roman"/>
                <a:ea typeface="Times New Roman"/>
                <a:cs typeface="Times New Roman"/>
              </a:defRPr>
            </a:defPPr>
            <a:lvl1pPr algn="l">
              <a:defRPr sz="1275" b="0">
                <a:solidFill>
                  <a:srgbClr val="087644"/>
                </a:solidFill>
                <a:latin typeface="Times New Roman"/>
                <a:ea typeface="Times New Roman"/>
                <a:cs typeface="Times New Roman"/>
              </a:defRPr>
            </a:lvl1pPr>
            <a:lvl2pPr algn="l">
              <a:defRPr sz="1275" b="0">
                <a:solidFill>
                  <a:srgbClr val="087644"/>
                </a:solidFill>
                <a:latin typeface="Times New Roman"/>
                <a:ea typeface="Times New Roman"/>
                <a:cs typeface="Times New Roman"/>
              </a:defRPr>
            </a:lvl2pPr>
            <a:lvl3pPr algn="l">
              <a:defRPr sz="1275" b="0">
                <a:solidFill>
                  <a:srgbClr val="087644"/>
                </a:solidFill>
                <a:latin typeface="Times New Roman"/>
                <a:ea typeface="Times New Roman"/>
                <a:cs typeface="Times New Roman"/>
              </a:defRPr>
            </a:lvl3pPr>
            <a:lvl4pPr algn="l">
              <a:defRPr sz="1275" b="0">
                <a:solidFill>
                  <a:srgbClr val="087644"/>
                </a:solidFill>
                <a:latin typeface="Times New Roman"/>
                <a:ea typeface="Times New Roman"/>
                <a:cs typeface="Times New Roman"/>
              </a:defRPr>
            </a:lvl4pPr>
            <a:lvl5pPr algn="l">
              <a:defRPr sz="1275" b="0">
                <a:solidFill>
                  <a:srgbClr val="087644"/>
                </a:solidFill>
                <a:latin typeface="Times New Roman"/>
                <a:ea typeface="Times New Roman"/>
                <a:cs typeface="Times New Roman"/>
              </a:defRPr>
            </a:lvl5pPr>
            <a:lvl6pPr algn="l">
              <a:defRPr sz="1275" b="0">
                <a:solidFill>
                  <a:srgbClr val="087644"/>
                </a:solidFill>
                <a:latin typeface="Times New Roman"/>
                <a:ea typeface="Times New Roman"/>
                <a:cs typeface="Times New Roman"/>
              </a:defRPr>
            </a:lvl6pPr>
            <a:lvl7pPr algn="l">
              <a:defRPr sz="1275" b="0">
                <a:solidFill>
                  <a:srgbClr val="087644"/>
                </a:solidFill>
                <a:latin typeface="Times New Roman"/>
                <a:ea typeface="Times New Roman"/>
                <a:cs typeface="Times New Roman"/>
              </a:defRPr>
            </a:lvl7pPr>
            <a:lvl8pPr algn="l">
              <a:defRPr sz="1275" b="0">
                <a:solidFill>
                  <a:srgbClr val="087644"/>
                </a:solidFill>
                <a:latin typeface="Times New Roman"/>
                <a:ea typeface="Times New Roman"/>
                <a:cs typeface="Times New Roman"/>
              </a:defRPr>
            </a:lvl8pPr>
            <a:lvl9pPr algn="l">
              <a:defRPr sz="1275" b="0">
                <a:solidFill>
                  <a:srgbClr val="087644"/>
                </a:solidFill>
                <a:latin typeface="Times New Roman"/>
                <a:ea typeface="Times New Roman"/>
                <a:cs typeface="Times New Roman"/>
              </a:defRPr>
            </a:lvl9pPr>
          </a:lstStyle>
          <a:p xmlns:a="http://schemas.openxmlformats.org/drawingml/2006/main">
            <a:pPr algn="l">
              <a:lnSpc>
                <a:spcPct val="112000"/>
              </a:lnSpc>
              <a:buNone/>
              <a:defRPr sz="1275" b="0">
                <a:solidFill>
                  <a:srgbClr val="087644"/>
                </a:solidFill>
                <a:latin typeface="Times New Roman"/>
                <a:ea typeface="Times New Roman"/>
                <a:cs typeface="Times New Roman"/>
              </a:defRPr>
            </a:pPr>
            <a:r>
              <a:rPr sz="1275" b="0">
                <a:solidFill>
                  <a:srgbClr val="087644"/>
                </a:solidFill>
                <a:latin typeface="Times New Roman"/>
                <a:ea typeface="Times New Roman"/>
                <a:cs typeface="Times New Roman"/>
              </a:rPr>
              <a:t>07</a:t>
            </a:r>
          </a:p>
        </p:txBody>
      </p:sp>
      <p:graphicFrame>
        <p:nvGraphicFramePr>
          <p:cNvPr id="5" name="">
            <a:extLst xmlns:a="http://schemas.openxmlformats.org/drawingml/2006/main">
              <a:ext uri="{FF2B5EF4-FFF2-40B4-BE49-F238E27FC236}">
                <a16:creationId xmlns:a16="http://schemas.microsoft.com/office/drawing/2014/main" id="{FE2D0C17-194B-4969-9FE3-2C64C4F1D48B}"/>
              </a:ext>
            </a:extLst>
          </p:cNvPr>
          <p:cNvGraphicFramePr/>
          <p:nvPr/>
        </p:nvGraphicFramePr>
        <p:xfrm>
          <a:off xmlns:a="http://schemas.openxmlformats.org/drawingml/2006/main" x="533400" y="1314450"/>
          <a:ext xmlns:a="http://schemas.openxmlformats.org/drawingml/2006/main" cx="11125200" cy="4333875"/>
        </p:xfrm>
        <a:graphic xmlns:a="http://schemas.openxmlformats.org/drawingml/2006/main">
          <a:graphicData uri="http://schemas.openxmlformats.org/drawingml/2006/table">
            <a:tbl>
              <a:tblPr firstRow="0" bandRow="0"/>
              <a:tblGrid>
                <a:gridCol w="3810000"/>
                <a:gridCol w="7315200"/>
              </a:tblGrid>
              <a:tr h="619125">
                <a:tc>
                  <a:txBody>
                    <a:bodyPr wrap="square" lIns="133350" tIns="95250" rIns="133350" bIns="95250"/>
                    <a:lstStyle/>
                    <a:p>
                      <a:r>
                        <a:rPr sz="1950" b="1">
                          <a:solidFill>
                            <a:srgbClr val="087644"/>
                          </a:solidFill>
                          <a:latin typeface="Times New Roman"/>
                          <a:ea typeface="Times New Roman"/>
                          <a:cs typeface="Times New Roman"/>
                        </a:rPr>
                        <a:t>Mechanism</a:t>
                      </a:r>
                    </a:p>
                  </a:txBody>
                  <a:tcPr marL="91440" marR="91440" marT="45720" marB="45720" anchor="ctr">
                    <a:lnL w="6668">
                      <a:solidFill>
                        <a:srgbClr val="9EAAA3"/>
                      </a:solidFill>
                      <a:prstDash val="solid"/>
                    </a:lnL>
                    <a:lnR w="6668">
                      <a:solidFill>
                        <a:srgbClr val="9EAAA3"/>
                      </a:solidFill>
                      <a:prstDash val="solid"/>
                    </a:lnR>
                    <a:lnT w="6668">
                      <a:solidFill>
                        <a:srgbClr val="9EAAA3"/>
                      </a:solidFill>
                      <a:prstDash val="solid"/>
                    </a:lnT>
                    <a:lnB w="6668">
                      <a:solidFill>
                        <a:srgbClr val="9EAAA3"/>
                      </a:solidFill>
                      <a:prstDash val="solid"/>
                    </a:lnB>
                    <a:solidFill>
                      <a:srgbClr val="E7F0EA"/>
                    </a:solidFill>
                  </a:tcPr>
                </a:tc>
                <a:tc>
                  <a:txBody>
                    <a:bodyPr wrap="square" lIns="133350" tIns="95250" rIns="133350" bIns="95250"/>
                    <a:lstStyle/>
                    <a:p>
                      <a:r>
                        <a:rPr sz="1950" b="1">
                          <a:solidFill>
                            <a:srgbClr val="087644"/>
                          </a:solidFill>
                          <a:latin typeface="Times New Roman"/>
                          <a:ea typeface="Times New Roman"/>
                          <a:cs typeface="Times New Roman"/>
                        </a:rPr>
                        <a:t>Responsibility</a:t>
                      </a:r>
                    </a:p>
                  </a:txBody>
                  <a:tcPr marL="91440" marR="91440" marT="45720" marB="45720" anchor="ctr">
                    <a:lnR w="6668">
                      <a:solidFill>
                        <a:srgbClr val="9EAAA3"/>
                      </a:solidFill>
                      <a:prstDash val="solid"/>
                    </a:lnR>
                    <a:lnT w="6668">
                      <a:solidFill>
                        <a:srgbClr val="9EAAA3"/>
                      </a:solidFill>
                      <a:prstDash val="solid"/>
                    </a:lnT>
                    <a:lnB w="6668">
                      <a:solidFill>
                        <a:srgbClr val="9EAAA3"/>
                      </a:solidFill>
                      <a:prstDash val="solid"/>
                    </a:lnB>
                    <a:solidFill>
                      <a:srgbClr val="E7F0EA"/>
                    </a:solidFill>
                  </a:tcPr>
                </a:tc>
              </a:tr>
              <a:tr h="619125">
                <a:tc>
                  <a:txBody>
                    <a:bodyPr wrap="square" lIns="133350" tIns="95250" rIns="133350" bIns="95250"/>
                    <a:lstStyle/>
                    <a:p>
                      <a:r>
                        <a:rPr sz="1950" b="0">
                          <a:solidFill>
                            <a:srgbClr val="151515"/>
                          </a:solidFill>
                          <a:latin typeface="Times New Roman"/>
                          <a:ea typeface="Times New Roman"/>
                          <a:cs typeface="Times New Roman"/>
                        </a:rPr>
                        <a:t>CountingSemaphore</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1950" b="0">
                          <a:solidFill>
                            <a:srgbClr val="151515"/>
                          </a:solidFill>
                          <a:latin typeface="Times New Roman"/>
                          <a:ea typeface="Times New Roman"/>
                          <a:cs typeface="Times New Roman"/>
                        </a:rPr>
                        <a:t>One permit per queued party or shutdown marker</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r h="619125">
                <a:tc>
                  <a:txBody>
                    <a:bodyPr wrap="square" lIns="133350" tIns="95250" rIns="133350" bIns="95250"/>
                    <a:lstStyle/>
                    <a:p>
                      <a:r>
                        <a:rPr sz="1950" b="0">
                          <a:solidFill>
                            <a:srgbClr val="151515"/>
                          </a:solidFill>
                          <a:latin typeface="Times New Roman"/>
                          <a:ea typeface="Times New Roman"/>
                          <a:cs typeface="Times New Roman"/>
                        </a:rPr>
                        <a:t>std::condition_variable</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1950" b="0">
                          <a:solidFill>
                            <a:srgbClr val="151515"/>
                          </a:solidFill>
                          <a:latin typeface="Times New Roman"/>
                          <a:ea typeface="Times New Roman"/>
                          <a:cs typeface="Times New Roman"/>
                        </a:rPr>
                        <a:t>Block acquire() until a permit is available</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r h="619125">
                <a:tc>
                  <a:txBody>
                    <a:bodyPr wrap="square" lIns="133350" tIns="95250" rIns="133350" bIns="95250"/>
                    <a:lstStyle/>
                    <a:p>
                      <a:r>
                        <a:rPr sz="1950" b="0">
                          <a:solidFill>
                            <a:srgbClr val="151515"/>
                          </a:solidFill>
                          <a:latin typeface="Times New Roman"/>
                          <a:ea typeface="Times New Roman"/>
                          <a:cs typeface="Times New Roman"/>
                        </a:rPr>
                        <a:t>queue_mutex</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1950" b="0">
                          <a:solidFill>
                            <a:srgbClr val="151515"/>
                          </a:solidFill>
                          <a:latin typeface="Times New Roman"/>
                          <a:ea typeface="Times New Roman"/>
                          <a:cs typeface="Times New Roman"/>
                        </a:rPr>
                        <a:t>Make queue removal exclusive</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r h="619125">
                <a:tc>
                  <a:txBody>
                    <a:bodyPr wrap="square" lIns="133350" tIns="95250" rIns="133350" bIns="95250"/>
                    <a:lstStyle/>
                    <a:p>
                      <a:r>
                        <a:rPr sz="1950" b="0">
                          <a:solidFill>
                            <a:srgbClr val="151515"/>
                          </a:solidFill>
                          <a:latin typeface="Times New Roman"/>
                          <a:ea typeface="Times New Roman"/>
                          <a:cs typeface="Times New Roman"/>
                        </a:rPr>
                        <a:t>status_mutex</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1950" b="0">
                          <a:solidFill>
                            <a:srgbClr val="151515"/>
                          </a:solidFill>
                          <a:latin typeface="Times New Roman"/>
                          <a:ea typeface="Times New Roman"/>
                          <a:cs typeface="Times New Roman"/>
                        </a:rPr>
                        <a:t>Keep state, statistics, and output coherent</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r h="619125">
                <a:tc>
                  <a:txBody>
                    <a:bodyPr wrap="square" lIns="133350" tIns="95250" rIns="133350" bIns="95250"/>
                    <a:lstStyle/>
                    <a:p>
                      <a:r>
                        <a:rPr sz="1950" b="0">
                          <a:solidFill>
                            <a:srgbClr val="151515"/>
                          </a:solidFill>
                          <a:latin typeface="Times New Roman"/>
                          <a:ea typeface="Times New Roman"/>
                          <a:cs typeface="Times New Roman"/>
                        </a:rPr>
                        <a:t>RAII lock guards</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1950" b="0">
                          <a:solidFill>
                            <a:srgbClr val="151515"/>
                          </a:solidFill>
                          <a:latin typeface="Times New Roman"/>
                          <a:ea typeface="Times New Roman"/>
                          <a:cs typeface="Times New Roman"/>
                        </a:rPr>
                        <a:t>Release mutexes when a scope exits</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r h="619125">
                <a:tc>
                  <a:txBody>
                    <a:bodyPr wrap="square" lIns="133350" tIns="95250" rIns="133350" bIns="95250"/>
                    <a:lstStyle/>
                    <a:p>
                      <a:r>
                        <a:rPr sz="1950" b="0">
                          <a:solidFill>
                            <a:srgbClr val="151515"/>
                          </a:solidFill>
                          <a:latin typeface="Times New Roman"/>
                          <a:ea typeface="Times New Roman"/>
                          <a:cs typeface="Times New Roman"/>
                        </a:rPr>
                        <a:t>std::thread::join()</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1950" b="0">
                          <a:solidFill>
                            <a:srgbClr val="151515"/>
                          </a:solidFill>
                          <a:latin typeface="Times New Roman"/>
                          <a:ea typeface="Times New Roman"/>
                          <a:cs typeface="Times New Roman"/>
                        </a:rPr>
                        <a:t>Wait for all workers before final reporting</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bl>
          </a:graphicData>
        </a:graphic>
      </p:graphicFrame>
    </p:spTree>
    <p:extLst>
      <p:ext uri="{BB962C8B-B14F-4D97-AF65-F5344CB8AC3E}">
        <p14:creationId xmlns:p14="http://schemas.microsoft.com/office/powerpoint/2010/main" val="2475121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89F3FB08-8352-413B-AC78-1A5B20C20EC3}"/>
              </a:ext>
            </a:extLst>
          </p:cNvPr>
          <p:cNvSpPr>
            <a:spLocks xmlns:a="http://schemas.openxmlformats.org/drawingml/2006/main" noGrp="1"/>
          </p:cNvSpPr>
          <p:nvPr/>
        </p:nvSpPr>
        <p:spPr>
          <a:xfrm xmlns:a="http://schemas.openxmlformats.org/drawingml/2006/main">
            <a:off x="533400" y="361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51515"/>
                </a:solidFill>
                <a:latin typeface="Times New Roman"/>
                <a:ea typeface="Times New Roman"/>
                <a:cs typeface="Times New Roman"/>
              </a:defRPr>
            </a:defPPr>
            <a:lvl1pPr algn="l">
              <a:defRPr sz="3300" b="0">
                <a:solidFill>
                  <a:srgbClr val="151515"/>
                </a:solidFill>
                <a:latin typeface="Times New Roman"/>
                <a:ea typeface="Times New Roman"/>
                <a:cs typeface="Times New Roman"/>
              </a:defRPr>
            </a:lvl1pPr>
            <a:lvl2pPr algn="l">
              <a:defRPr sz="3300" b="0">
                <a:solidFill>
                  <a:srgbClr val="151515"/>
                </a:solidFill>
                <a:latin typeface="Times New Roman"/>
                <a:ea typeface="Times New Roman"/>
                <a:cs typeface="Times New Roman"/>
              </a:defRPr>
            </a:lvl2pPr>
            <a:lvl3pPr algn="l">
              <a:defRPr sz="3300" b="0">
                <a:solidFill>
                  <a:srgbClr val="151515"/>
                </a:solidFill>
                <a:latin typeface="Times New Roman"/>
                <a:ea typeface="Times New Roman"/>
                <a:cs typeface="Times New Roman"/>
              </a:defRPr>
            </a:lvl3pPr>
            <a:lvl4pPr algn="l">
              <a:defRPr sz="3300" b="0">
                <a:solidFill>
                  <a:srgbClr val="151515"/>
                </a:solidFill>
                <a:latin typeface="Times New Roman"/>
                <a:ea typeface="Times New Roman"/>
                <a:cs typeface="Times New Roman"/>
              </a:defRPr>
            </a:lvl4pPr>
            <a:lvl5pPr algn="l">
              <a:defRPr sz="3300" b="0">
                <a:solidFill>
                  <a:srgbClr val="151515"/>
                </a:solidFill>
                <a:latin typeface="Times New Roman"/>
                <a:ea typeface="Times New Roman"/>
                <a:cs typeface="Times New Roman"/>
              </a:defRPr>
            </a:lvl5pPr>
            <a:lvl6pPr algn="l">
              <a:defRPr sz="3300" b="0">
                <a:solidFill>
                  <a:srgbClr val="151515"/>
                </a:solidFill>
                <a:latin typeface="Times New Roman"/>
                <a:ea typeface="Times New Roman"/>
                <a:cs typeface="Times New Roman"/>
              </a:defRPr>
            </a:lvl6pPr>
            <a:lvl7pPr algn="l">
              <a:defRPr sz="3300" b="0">
                <a:solidFill>
                  <a:srgbClr val="151515"/>
                </a:solidFill>
                <a:latin typeface="Times New Roman"/>
                <a:ea typeface="Times New Roman"/>
                <a:cs typeface="Times New Roman"/>
              </a:defRPr>
            </a:lvl7pPr>
            <a:lvl8pPr algn="l">
              <a:defRPr sz="3300" b="0">
                <a:solidFill>
                  <a:srgbClr val="151515"/>
                </a:solidFill>
                <a:latin typeface="Times New Roman"/>
                <a:ea typeface="Times New Roman"/>
                <a:cs typeface="Times New Roman"/>
              </a:defRPr>
            </a:lvl8pPr>
            <a:lvl9pPr algn="l">
              <a:defRPr sz="3300" b="0">
                <a:solidFill>
                  <a:srgbClr val="151515"/>
                </a:solidFill>
                <a:latin typeface="Times New Roman"/>
                <a:ea typeface="Times New Roman"/>
                <a:cs typeface="Times New Roman"/>
              </a:defRPr>
            </a:lvl9pPr>
          </a:lstStyle>
          <a:p xmlns:a="http://schemas.openxmlformats.org/drawingml/2006/main">
            <a:pPr algn="l">
              <a:lnSpc>
                <a:spcPct val="112000"/>
              </a:lnSpc>
              <a:buNone/>
              <a:defRPr sz="3300" b="0">
                <a:solidFill>
                  <a:srgbClr val="151515"/>
                </a:solidFill>
                <a:latin typeface="Times New Roman"/>
                <a:ea typeface="Times New Roman"/>
                <a:cs typeface="Times New Roman"/>
              </a:defRPr>
            </a:pPr>
            <a:r>
              <a:rPr sz="3300" b="0">
                <a:solidFill>
                  <a:srgbClr val="151515"/>
                </a:solidFill>
                <a:latin typeface="Times New Roman"/>
                <a:ea typeface="Times New Roman"/>
                <a:cs typeface="Times New Roman"/>
              </a:rPr>
              <a:t>Custom Counting Semaphore</a:t>
            </a:r>
          </a:p>
        </p:txBody>
      </p:sp>
      <p:pic>
        <p:nvPicPr>
          <p:cNvPr id="3" name="">
            <a:extLst xmlns:a="http://schemas.openxmlformats.org/drawingml/2006/main">
              <a:ext uri="{FF2B5EF4-FFF2-40B4-BE49-F238E27FC236}">
                <a16:creationId xmlns:a16="http://schemas.microsoft.com/office/drawing/2014/main" id="{B4591599-168C-415C-B8B4-F43AC5129ED1}"/>
              </a:ext>
            </a:extLst>
          </p:cNvPr>
          <p:cNvPicPr>
            <a:picLocks xmlns:a="http://schemas.openxmlformats.org/drawingml/2006/main" noChangeAspect="1"/>
          </p:cNvPicPr>
          <p:nvPr/>
        </p:nvPicPr>
        <p:blipFill>
          <a:blip xmlns:r="http://schemas.openxmlformats.org/officeDocument/2006/relationships" xmlns:a="http://schemas.openxmlformats.org/drawingml/2006/main" r:embed="R3350f4f982bc4278"/>
          <a:stretch xmlns:a="http://schemas.openxmlformats.org/drawingml/2006/main"/>
        </p:blipFill>
        <p:spPr>
          <a:xfrm xmlns:a="http://schemas.openxmlformats.org/drawingml/2006/main">
            <a:off x="11458575" y="6238875"/>
            <a:ext cx="419100" cy="419100"/>
          </a:xfrm>
          <a:prstGeom xmlns:a="http://schemas.openxmlformats.org/drawingml/2006/main" prst="rect">
            <a:avLst/>
          </a:prstGeom>
        </p:spPr>
      </p:pic>
      <p:sp>
        <p:nvSpPr>
          <p:cNvPr id="4" name="text-31">
            <a:extLst xmlns:a="http://schemas.openxmlformats.org/drawingml/2006/main">
              <a:ext uri="{FF2B5EF4-FFF2-40B4-BE49-F238E27FC236}">
                <a16:creationId xmlns:a16="http://schemas.microsoft.com/office/drawing/2014/main" id="{5FA9E4CF-BCE4-4D28-8B10-B98589D35860}"/>
              </a:ext>
            </a:extLst>
          </p:cNvPr>
          <p:cNvSpPr>
            <a:spLocks xmlns:a="http://schemas.openxmlformats.org/drawingml/2006/main" noGrp="1"/>
          </p:cNvSpPr>
          <p:nvPr/>
        </p:nvSpPr>
        <p:spPr>
          <a:xfrm xmlns:a="http://schemas.openxmlformats.org/drawingml/2006/main">
            <a:off x="533400" y="64484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87644"/>
                </a:solidFill>
                <a:latin typeface="Times New Roman"/>
                <a:ea typeface="Times New Roman"/>
                <a:cs typeface="Times New Roman"/>
              </a:defRPr>
            </a:defPPr>
            <a:lvl1pPr algn="l">
              <a:defRPr sz="1275" b="0">
                <a:solidFill>
                  <a:srgbClr val="087644"/>
                </a:solidFill>
                <a:latin typeface="Times New Roman"/>
                <a:ea typeface="Times New Roman"/>
                <a:cs typeface="Times New Roman"/>
              </a:defRPr>
            </a:lvl1pPr>
            <a:lvl2pPr algn="l">
              <a:defRPr sz="1275" b="0">
                <a:solidFill>
                  <a:srgbClr val="087644"/>
                </a:solidFill>
                <a:latin typeface="Times New Roman"/>
                <a:ea typeface="Times New Roman"/>
                <a:cs typeface="Times New Roman"/>
              </a:defRPr>
            </a:lvl2pPr>
            <a:lvl3pPr algn="l">
              <a:defRPr sz="1275" b="0">
                <a:solidFill>
                  <a:srgbClr val="087644"/>
                </a:solidFill>
                <a:latin typeface="Times New Roman"/>
                <a:ea typeface="Times New Roman"/>
                <a:cs typeface="Times New Roman"/>
              </a:defRPr>
            </a:lvl3pPr>
            <a:lvl4pPr algn="l">
              <a:defRPr sz="1275" b="0">
                <a:solidFill>
                  <a:srgbClr val="087644"/>
                </a:solidFill>
                <a:latin typeface="Times New Roman"/>
                <a:ea typeface="Times New Roman"/>
                <a:cs typeface="Times New Roman"/>
              </a:defRPr>
            </a:lvl4pPr>
            <a:lvl5pPr algn="l">
              <a:defRPr sz="1275" b="0">
                <a:solidFill>
                  <a:srgbClr val="087644"/>
                </a:solidFill>
                <a:latin typeface="Times New Roman"/>
                <a:ea typeface="Times New Roman"/>
                <a:cs typeface="Times New Roman"/>
              </a:defRPr>
            </a:lvl5pPr>
            <a:lvl6pPr algn="l">
              <a:defRPr sz="1275" b="0">
                <a:solidFill>
                  <a:srgbClr val="087644"/>
                </a:solidFill>
                <a:latin typeface="Times New Roman"/>
                <a:ea typeface="Times New Roman"/>
                <a:cs typeface="Times New Roman"/>
              </a:defRPr>
            </a:lvl6pPr>
            <a:lvl7pPr algn="l">
              <a:defRPr sz="1275" b="0">
                <a:solidFill>
                  <a:srgbClr val="087644"/>
                </a:solidFill>
                <a:latin typeface="Times New Roman"/>
                <a:ea typeface="Times New Roman"/>
                <a:cs typeface="Times New Roman"/>
              </a:defRPr>
            </a:lvl7pPr>
            <a:lvl8pPr algn="l">
              <a:defRPr sz="1275" b="0">
                <a:solidFill>
                  <a:srgbClr val="087644"/>
                </a:solidFill>
                <a:latin typeface="Times New Roman"/>
                <a:ea typeface="Times New Roman"/>
                <a:cs typeface="Times New Roman"/>
              </a:defRPr>
            </a:lvl8pPr>
            <a:lvl9pPr algn="l">
              <a:defRPr sz="1275" b="0">
                <a:solidFill>
                  <a:srgbClr val="087644"/>
                </a:solidFill>
                <a:latin typeface="Times New Roman"/>
                <a:ea typeface="Times New Roman"/>
                <a:cs typeface="Times New Roman"/>
              </a:defRPr>
            </a:lvl9pPr>
          </a:lstStyle>
          <a:p xmlns:a="http://schemas.openxmlformats.org/drawingml/2006/main">
            <a:pPr algn="l">
              <a:lnSpc>
                <a:spcPct val="112000"/>
              </a:lnSpc>
              <a:buNone/>
              <a:defRPr sz="1275" b="0">
                <a:solidFill>
                  <a:srgbClr val="087644"/>
                </a:solidFill>
                <a:latin typeface="Times New Roman"/>
                <a:ea typeface="Times New Roman"/>
                <a:cs typeface="Times New Roman"/>
              </a:defRPr>
            </a:pPr>
            <a:r>
              <a:rPr sz="1275" b="0">
                <a:solidFill>
                  <a:srgbClr val="087644"/>
                </a:solidFill>
                <a:latin typeface="Times New Roman"/>
                <a:ea typeface="Times New Roman"/>
                <a:cs typeface="Times New Roman"/>
              </a:rPr>
              <a:t>08</a:t>
            </a:r>
          </a:p>
        </p:txBody>
      </p:sp>
      <p:sp>
        <p:nvSpPr>
          <p:cNvPr id="5" name="text-32">
            <a:extLst xmlns:a="http://schemas.openxmlformats.org/drawingml/2006/main">
              <a:ext uri="{FF2B5EF4-FFF2-40B4-BE49-F238E27FC236}">
                <a16:creationId xmlns:a16="http://schemas.microsoft.com/office/drawing/2014/main" id="{B9B15B87-DA19-4A53-8F2D-BD3CDDB12551}"/>
              </a:ext>
            </a:extLst>
          </p:cNvPr>
          <p:cNvSpPr>
            <a:spLocks xmlns:a="http://schemas.openxmlformats.org/drawingml/2006/main" noGrp="1"/>
          </p:cNvSpPr>
          <p:nvPr/>
        </p:nvSpPr>
        <p:spPr>
          <a:xfrm xmlns:a="http://schemas.openxmlformats.org/drawingml/2006/main">
            <a:off x="533400" y="130492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acquire()</a:t>
            </a:r>
          </a:p>
        </p:txBody>
      </p:sp>
      <p:sp>
        <p:nvSpPr>
          <p:cNvPr id="6" name="code-33">
            <a:extLst xmlns:a="http://schemas.openxmlformats.org/drawingml/2006/main">
              <a:ext uri="{FF2B5EF4-FFF2-40B4-BE49-F238E27FC236}">
                <a16:creationId xmlns:a16="http://schemas.microsoft.com/office/drawing/2014/main" id="{A1222C37-3645-45BB-A7DF-6DEDDDF697C8}"/>
              </a:ext>
            </a:extLst>
          </p:cNvPr>
          <p:cNvSpPr>
            <a:spLocks xmlns:a="http://schemas.openxmlformats.org/drawingml/2006/main" noGrp="1"/>
          </p:cNvSpPr>
          <p:nvPr/>
        </p:nvSpPr>
        <p:spPr>
          <a:xfrm xmlns:a="http://schemas.openxmlformats.org/drawingml/2006/main">
            <a:off x="533400" y="1762125"/>
            <a:ext cx="5286375" cy="2771775"/>
          </a:xfrm>
          <a:prstGeom xmlns:a="http://schemas.openxmlformats.org/drawingml/2006/main" prst="rect">
            <a:avLst/>
          </a:prstGeom>
          <a:solidFill xmlns:a="http://schemas.openxmlformats.org/drawingml/2006/main">
            <a:srgbClr val="17211C"/>
          </a:solidFill>
          <a:ln xmlns:a="http://schemas.openxmlformats.org/drawingml/2006/main" w="0">
            <a:noFill/>
          </a:ln>
        </p:spPr>
        <p:txBody>
          <a:bodyPr xmlns:a="http://schemas.openxmlformats.org/drawingml/2006/main" wrap="square" lIns="152400" tIns="152400" rIns="152400" bIns="152400" anchor="t">
            <a:noAutofit/>
          </a:bodyPr>
          <a:lstStyle xmlns:a="http://schemas.openxmlformats.org/drawingml/2006/main">
            <a:defPPr algn="l">
              <a:defRPr sz="1613" b="0">
                <a:solidFill>
                  <a:srgbClr val="F4F4F4"/>
                </a:solidFill>
                <a:latin typeface="Consolas"/>
                <a:ea typeface="Consolas"/>
                <a:cs typeface="Consolas"/>
              </a:defRPr>
            </a:defPPr>
            <a:lvl1pPr algn="l">
              <a:defRPr sz="1613" b="0">
                <a:solidFill>
                  <a:srgbClr val="F4F4F4"/>
                </a:solidFill>
                <a:latin typeface="Consolas"/>
                <a:ea typeface="Consolas"/>
                <a:cs typeface="Consolas"/>
              </a:defRPr>
            </a:lvl1pPr>
            <a:lvl2pPr algn="l">
              <a:defRPr sz="1613" b="0">
                <a:solidFill>
                  <a:srgbClr val="F4F4F4"/>
                </a:solidFill>
                <a:latin typeface="Consolas"/>
                <a:ea typeface="Consolas"/>
                <a:cs typeface="Consolas"/>
              </a:defRPr>
            </a:lvl2pPr>
            <a:lvl3pPr algn="l">
              <a:defRPr sz="1613" b="0">
                <a:solidFill>
                  <a:srgbClr val="F4F4F4"/>
                </a:solidFill>
                <a:latin typeface="Consolas"/>
                <a:ea typeface="Consolas"/>
                <a:cs typeface="Consolas"/>
              </a:defRPr>
            </a:lvl3pPr>
            <a:lvl4pPr algn="l">
              <a:defRPr sz="1613" b="0">
                <a:solidFill>
                  <a:srgbClr val="F4F4F4"/>
                </a:solidFill>
                <a:latin typeface="Consolas"/>
                <a:ea typeface="Consolas"/>
                <a:cs typeface="Consolas"/>
              </a:defRPr>
            </a:lvl4pPr>
            <a:lvl5pPr algn="l">
              <a:defRPr sz="1613" b="0">
                <a:solidFill>
                  <a:srgbClr val="F4F4F4"/>
                </a:solidFill>
                <a:latin typeface="Consolas"/>
                <a:ea typeface="Consolas"/>
                <a:cs typeface="Consolas"/>
              </a:defRPr>
            </a:lvl5pPr>
            <a:lvl6pPr algn="l">
              <a:defRPr sz="1613" b="0">
                <a:solidFill>
                  <a:srgbClr val="F4F4F4"/>
                </a:solidFill>
                <a:latin typeface="Consolas"/>
                <a:ea typeface="Consolas"/>
                <a:cs typeface="Consolas"/>
              </a:defRPr>
            </a:lvl6pPr>
            <a:lvl7pPr algn="l">
              <a:defRPr sz="1613" b="0">
                <a:solidFill>
                  <a:srgbClr val="F4F4F4"/>
                </a:solidFill>
                <a:latin typeface="Consolas"/>
                <a:ea typeface="Consolas"/>
                <a:cs typeface="Consolas"/>
              </a:defRPr>
            </a:lvl7pPr>
            <a:lvl8pPr algn="l">
              <a:defRPr sz="1613" b="0">
                <a:solidFill>
                  <a:srgbClr val="F4F4F4"/>
                </a:solidFill>
                <a:latin typeface="Consolas"/>
                <a:ea typeface="Consolas"/>
                <a:cs typeface="Consolas"/>
              </a:defRPr>
            </a:lvl8pPr>
            <a:lvl9pPr algn="l">
              <a:defRPr sz="1613" b="0">
                <a:solidFill>
                  <a:srgbClr val="F4F4F4"/>
                </a:solidFill>
                <a:latin typeface="Consolas"/>
                <a:ea typeface="Consolas"/>
                <a:cs typeface="Consolas"/>
              </a:defRPr>
            </a:lvl9pPr>
          </a:lstStyle>
          <a:p xmlns:a="http://schemas.openxmlformats.org/drawingml/2006/main">
            <a:pPr algn="l">
              <a:lnSpc>
                <a:spcPct val="112000"/>
              </a:lnSpc>
              <a:buNone/>
              <a:defRPr sz="1613" b="0">
                <a:solidFill>
                  <a:srgbClr val="F4F4F4"/>
                </a:solidFill>
                <a:latin typeface="Consolas"/>
                <a:ea typeface="Consolas"/>
                <a:cs typeface="Consolas"/>
              </a:defRPr>
            </a:pPr>
            <a:r>
              <a:rPr sz="1613" b="0">
                <a:solidFill>
                  <a:srgbClr val="F4F4F4"/>
                </a:solidFill>
                <a:latin typeface="Consolas"/>
                <a:ea typeface="Consolas"/>
                <a:cs typeface="Consolas"/>
              </a:rPr>
              <a:t>void acquire() {</a:t>
            </a:r>
          </a:p>
          <a:p xmlns:a="http://schemas.openxmlformats.org/drawingml/2006/main">
            <a:pPr algn="l">
              <a:lnSpc>
                <a:spcPct val="112000"/>
              </a:lnSpc>
              <a:buNone/>
              <a:defRPr sz="1613" b="0">
                <a:solidFill>
                  <a:srgbClr val="F4F4F4"/>
                </a:solidFill>
                <a:latin typeface="Consolas"/>
                <a:ea typeface="Consolas"/>
                <a:cs typeface="Consolas"/>
              </a:defRPr>
            </a:pPr>
            <a:r>
              <a:rPr sz="1613" b="0">
                <a:solidFill>
                  <a:srgbClr val="F4F4F4"/>
                </a:solidFill>
                <a:latin typeface="Consolas"/>
                <a:ea typeface="Consolas"/>
                <a:cs typeface="Consolas"/>
              </a:rPr>
              <a:t>    std::unique_lock&lt;std::mutex&gt;</a:t>
            </a:r>
          </a:p>
          <a:p xmlns:a="http://schemas.openxmlformats.org/drawingml/2006/main">
            <a:pPr algn="l">
              <a:lnSpc>
                <a:spcPct val="112000"/>
              </a:lnSpc>
              <a:buNone/>
              <a:defRPr sz="1613" b="0">
                <a:solidFill>
                  <a:srgbClr val="F4F4F4"/>
                </a:solidFill>
                <a:latin typeface="Consolas"/>
                <a:ea typeface="Consolas"/>
                <a:cs typeface="Consolas"/>
              </a:defRPr>
            </a:pPr>
            <a:r>
              <a:rPr sz="1613" b="0">
                <a:solidFill>
                  <a:srgbClr val="F4F4F4"/>
                </a:solidFill>
                <a:latin typeface="Consolas"/>
                <a:ea typeface="Consolas"/>
                <a:cs typeface="Consolas"/>
              </a:rPr>
              <a:t>        lock(mutex_);</a:t>
            </a:r>
          </a:p>
          <a:p xmlns:a="http://schemas.openxmlformats.org/drawingml/2006/main">
            <a:pPr algn="l">
              <a:lnSpc>
                <a:spcPct val="112000"/>
              </a:lnSpc>
              <a:buNone/>
              <a:defRPr sz="1613" b="0">
                <a:solidFill>
                  <a:srgbClr val="F4F4F4"/>
                </a:solidFill>
                <a:latin typeface="Consolas"/>
                <a:ea typeface="Consolas"/>
                <a:cs typeface="Consolas"/>
              </a:defRPr>
            </a:pPr>
            <a:r>
              <a:rPr sz="1613" b="0">
                <a:solidFill>
                  <a:srgbClr val="F4F4F4"/>
                </a:solidFill>
                <a:latin typeface="Consolas"/>
                <a:ea typeface="Consolas"/>
                <a:cs typeface="Consolas"/>
              </a:rPr>
              <a:t>    available_.wait(lock, [this] {</a:t>
            </a:r>
          </a:p>
          <a:p xmlns:a="http://schemas.openxmlformats.org/drawingml/2006/main">
            <a:pPr algn="l">
              <a:lnSpc>
                <a:spcPct val="112000"/>
              </a:lnSpc>
              <a:buNone/>
              <a:defRPr sz="1613" b="0">
                <a:solidFill>
                  <a:srgbClr val="F4F4F4"/>
                </a:solidFill>
                <a:latin typeface="Consolas"/>
                <a:ea typeface="Consolas"/>
                <a:cs typeface="Consolas"/>
              </a:defRPr>
            </a:pPr>
            <a:r>
              <a:rPr sz="1613" b="0">
                <a:solidFill>
                  <a:srgbClr val="F4F4F4"/>
                </a:solidFill>
                <a:latin typeface="Consolas"/>
                <a:ea typeface="Consolas"/>
                <a:cs typeface="Consolas"/>
              </a:rPr>
              <a:t>        return permits_ != 0;</a:t>
            </a:r>
          </a:p>
          <a:p xmlns:a="http://schemas.openxmlformats.org/drawingml/2006/main">
            <a:pPr algn="l">
              <a:lnSpc>
                <a:spcPct val="112000"/>
              </a:lnSpc>
              <a:buNone/>
              <a:defRPr sz="1613" b="0">
                <a:solidFill>
                  <a:srgbClr val="F4F4F4"/>
                </a:solidFill>
                <a:latin typeface="Consolas"/>
                <a:ea typeface="Consolas"/>
                <a:cs typeface="Consolas"/>
              </a:defRPr>
            </a:pPr>
            <a:r>
              <a:rPr sz="1613" b="0">
                <a:solidFill>
                  <a:srgbClr val="F4F4F4"/>
                </a:solidFill>
                <a:latin typeface="Consolas"/>
                <a:ea typeface="Consolas"/>
                <a:cs typeface="Consolas"/>
              </a:rPr>
              <a:t>    });</a:t>
            </a:r>
          </a:p>
          <a:p xmlns:a="http://schemas.openxmlformats.org/drawingml/2006/main">
            <a:pPr algn="l">
              <a:lnSpc>
                <a:spcPct val="112000"/>
              </a:lnSpc>
              <a:buNone/>
              <a:defRPr sz="1613" b="0">
                <a:solidFill>
                  <a:srgbClr val="F4F4F4"/>
                </a:solidFill>
                <a:latin typeface="Consolas"/>
                <a:ea typeface="Consolas"/>
                <a:cs typeface="Consolas"/>
              </a:defRPr>
            </a:pPr>
            <a:r>
              <a:rPr sz="1613" b="0">
                <a:solidFill>
                  <a:srgbClr val="F4F4F4"/>
                </a:solidFill>
                <a:latin typeface="Consolas"/>
                <a:ea typeface="Consolas"/>
                <a:cs typeface="Consolas"/>
              </a:rPr>
              <a:t>    --permits_;</a:t>
            </a:r>
          </a:p>
          <a:p xmlns:a="http://schemas.openxmlformats.org/drawingml/2006/main">
            <a:pPr algn="l">
              <a:lnSpc>
                <a:spcPct val="112000"/>
              </a:lnSpc>
              <a:buNone/>
              <a:defRPr sz="1613" b="0">
                <a:solidFill>
                  <a:srgbClr val="F4F4F4"/>
                </a:solidFill>
                <a:latin typeface="Consolas"/>
                <a:ea typeface="Consolas"/>
                <a:cs typeface="Consolas"/>
              </a:defRPr>
            </a:pPr>
            <a:r>
              <a:rPr sz="1613" b="0">
                <a:solidFill>
                  <a:srgbClr val="F4F4F4"/>
                </a:solidFill>
                <a:latin typeface="Consolas"/>
                <a:ea typeface="Consolas"/>
                <a:cs typeface="Consolas"/>
              </a:rPr>
              <a:t>}</a:t>
            </a:r>
          </a:p>
        </p:txBody>
      </p:sp>
      <p:sp>
        <p:nvSpPr>
          <p:cNvPr id="7" name="text-34">
            <a:extLst xmlns:a="http://schemas.openxmlformats.org/drawingml/2006/main">
              <a:ext uri="{FF2B5EF4-FFF2-40B4-BE49-F238E27FC236}">
                <a16:creationId xmlns:a16="http://schemas.microsoft.com/office/drawing/2014/main" id="{009CAEC4-8A87-4687-AF06-3B3DB164BAEC}"/>
              </a:ext>
            </a:extLst>
          </p:cNvPr>
          <p:cNvSpPr>
            <a:spLocks xmlns:a="http://schemas.openxmlformats.org/drawingml/2006/main" noGrp="1"/>
          </p:cNvSpPr>
          <p:nvPr/>
        </p:nvSpPr>
        <p:spPr>
          <a:xfrm xmlns:a="http://schemas.openxmlformats.org/drawingml/2006/main">
            <a:off x="6238875" y="130492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release() excerpt</a:t>
            </a:r>
          </a:p>
        </p:txBody>
      </p:sp>
      <p:sp>
        <p:nvSpPr>
          <p:cNvPr id="8" name="code-35">
            <a:extLst xmlns:a="http://schemas.openxmlformats.org/drawingml/2006/main">
              <a:ext uri="{FF2B5EF4-FFF2-40B4-BE49-F238E27FC236}">
                <a16:creationId xmlns:a16="http://schemas.microsoft.com/office/drawing/2014/main" id="{5D9598BC-8BB8-41CB-9783-A75495AC6771}"/>
              </a:ext>
            </a:extLst>
          </p:cNvPr>
          <p:cNvSpPr>
            <a:spLocks xmlns:a="http://schemas.openxmlformats.org/drawingml/2006/main" noGrp="1"/>
          </p:cNvSpPr>
          <p:nvPr/>
        </p:nvSpPr>
        <p:spPr>
          <a:xfrm xmlns:a="http://schemas.openxmlformats.org/drawingml/2006/main">
            <a:off x="6238875" y="1762125"/>
            <a:ext cx="5419725" cy="3333750"/>
          </a:xfrm>
          <a:prstGeom xmlns:a="http://schemas.openxmlformats.org/drawingml/2006/main" prst="rect">
            <a:avLst/>
          </a:prstGeom>
          <a:solidFill xmlns:a="http://schemas.openxmlformats.org/drawingml/2006/main">
            <a:srgbClr val="17211C"/>
          </a:solidFill>
          <a:ln xmlns:a="http://schemas.openxmlformats.org/drawingml/2006/main" w="0">
            <a:noFill/>
          </a:ln>
        </p:spPr>
        <p:txBody>
          <a:bodyPr xmlns:a="http://schemas.openxmlformats.org/drawingml/2006/main" wrap="square" lIns="152400" tIns="152400" rIns="152400" bIns="152400" anchor="t">
            <a:noAutofit/>
          </a:bodyPr>
          <a:lstStyle xmlns:a="http://schemas.openxmlformats.org/drawingml/2006/main">
            <a:defPPr algn="l">
              <a:defRPr sz="1613" b="0">
                <a:solidFill>
                  <a:srgbClr val="F4F4F4"/>
                </a:solidFill>
                <a:latin typeface="Consolas"/>
                <a:ea typeface="Consolas"/>
                <a:cs typeface="Consolas"/>
              </a:defRPr>
            </a:defPPr>
            <a:lvl1pPr algn="l">
              <a:defRPr sz="1613" b="0">
                <a:solidFill>
                  <a:srgbClr val="F4F4F4"/>
                </a:solidFill>
                <a:latin typeface="Consolas"/>
                <a:ea typeface="Consolas"/>
                <a:cs typeface="Consolas"/>
              </a:defRPr>
            </a:lvl1pPr>
            <a:lvl2pPr algn="l">
              <a:defRPr sz="1613" b="0">
                <a:solidFill>
                  <a:srgbClr val="F4F4F4"/>
                </a:solidFill>
                <a:latin typeface="Consolas"/>
                <a:ea typeface="Consolas"/>
                <a:cs typeface="Consolas"/>
              </a:defRPr>
            </a:lvl2pPr>
            <a:lvl3pPr algn="l">
              <a:defRPr sz="1613" b="0">
                <a:solidFill>
                  <a:srgbClr val="F4F4F4"/>
                </a:solidFill>
                <a:latin typeface="Consolas"/>
                <a:ea typeface="Consolas"/>
                <a:cs typeface="Consolas"/>
              </a:defRPr>
            </a:lvl3pPr>
            <a:lvl4pPr algn="l">
              <a:defRPr sz="1613" b="0">
                <a:solidFill>
                  <a:srgbClr val="F4F4F4"/>
                </a:solidFill>
                <a:latin typeface="Consolas"/>
                <a:ea typeface="Consolas"/>
                <a:cs typeface="Consolas"/>
              </a:defRPr>
            </a:lvl4pPr>
            <a:lvl5pPr algn="l">
              <a:defRPr sz="1613" b="0">
                <a:solidFill>
                  <a:srgbClr val="F4F4F4"/>
                </a:solidFill>
                <a:latin typeface="Consolas"/>
                <a:ea typeface="Consolas"/>
                <a:cs typeface="Consolas"/>
              </a:defRPr>
            </a:lvl5pPr>
            <a:lvl6pPr algn="l">
              <a:defRPr sz="1613" b="0">
                <a:solidFill>
                  <a:srgbClr val="F4F4F4"/>
                </a:solidFill>
                <a:latin typeface="Consolas"/>
                <a:ea typeface="Consolas"/>
                <a:cs typeface="Consolas"/>
              </a:defRPr>
            </a:lvl6pPr>
            <a:lvl7pPr algn="l">
              <a:defRPr sz="1613" b="0">
                <a:solidFill>
                  <a:srgbClr val="F4F4F4"/>
                </a:solidFill>
                <a:latin typeface="Consolas"/>
                <a:ea typeface="Consolas"/>
                <a:cs typeface="Consolas"/>
              </a:defRPr>
            </a:lvl7pPr>
            <a:lvl8pPr algn="l">
              <a:defRPr sz="1613" b="0">
                <a:solidFill>
                  <a:srgbClr val="F4F4F4"/>
                </a:solidFill>
                <a:latin typeface="Consolas"/>
                <a:ea typeface="Consolas"/>
                <a:cs typeface="Consolas"/>
              </a:defRPr>
            </a:lvl8pPr>
            <a:lvl9pPr algn="l">
              <a:defRPr sz="1613" b="0">
                <a:solidFill>
                  <a:srgbClr val="F4F4F4"/>
                </a:solidFill>
                <a:latin typeface="Consolas"/>
                <a:ea typeface="Consolas"/>
                <a:cs typeface="Consolas"/>
              </a:defRPr>
            </a:lvl9pPr>
          </a:lstStyle>
          <a:p xmlns:a="http://schemas.openxmlformats.org/drawingml/2006/main">
            <a:pPr algn="l">
              <a:lnSpc>
                <a:spcPct val="112000"/>
              </a:lnSpc>
              <a:buNone/>
              <a:defRPr sz="1613" b="0">
                <a:solidFill>
                  <a:srgbClr val="F4F4F4"/>
                </a:solidFill>
                <a:latin typeface="Consolas"/>
                <a:ea typeface="Consolas"/>
                <a:cs typeface="Consolas"/>
              </a:defRPr>
            </a:pPr>
            <a:r>
              <a:rPr sz="1613" b="0">
                <a:solidFill>
                  <a:srgbClr val="F4F4F4"/>
                </a:solidFill>
                <a:latin typeface="Consolas"/>
                <a:ea typeface="Consolas"/>
                <a:cs typeface="Consolas"/>
              </a:rPr>
              <a:t>{</a:t>
            </a:r>
          </a:p>
          <a:p xmlns:a="http://schemas.openxmlformats.org/drawingml/2006/main">
            <a:pPr algn="l">
              <a:lnSpc>
                <a:spcPct val="112000"/>
              </a:lnSpc>
              <a:buNone/>
              <a:defRPr sz="1613" b="0">
                <a:solidFill>
                  <a:srgbClr val="F4F4F4"/>
                </a:solidFill>
                <a:latin typeface="Consolas"/>
                <a:ea typeface="Consolas"/>
                <a:cs typeface="Consolas"/>
              </a:defRPr>
            </a:pPr>
            <a:r>
              <a:rPr sz="1613" b="0">
                <a:solidFill>
                  <a:srgbClr val="F4F4F4"/>
                </a:solidFill>
                <a:latin typeface="Consolas"/>
                <a:ea typeface="Consolas"/>
                <a:cs typeface="Consolas"/>
              </a:rPr>
              <a:t>    std::lock_guard&lt;std::mutex&gt;</a:t>
            </a:r>
          </a:p>
          <a:p xmlns:a="http://schemas.openxmlformats.org/drawingml/2006/main">
            <a:pPr algn="l">
              <a:lnSpc>
                <a:spcPct val="112000"/>
              </a:lnSpc>
              <a:buNone/>
              <a:defRPr sz="1613" b="0">
                <a:solidFill>
                  <a:srgbClr val="F4F4F4"/>
                </a:solidFill>
                <a:latin typeface="Consolas"/>
                <a:ea typeface="Consolas"/>
                <a:cs typeface="Consolas"/>
              </a:defRPr>
            </a:pPr>
            <a:r>
              <a:rPr sz="1613" b="0">
                <a:solidFill>
                  <a:srgbClr val="F4F4F4"/>
                </a:solidFill>
                <a:latin typeface="Consolas"/>
                <a:ea typeface="Consolas"/>
                <a:cs typeface="Consolas"/>
              </a:rPr>
              <a:t>        lock(mutex_);</a:t>
            </a:r>
          </a:p>
          <a:p xmlns:a="http://schemas.openxmlformats.org/drawingml/2006/main">
            <a:pPr algn="l">
              <a:lnSpc>
                <a:spcPct val="112000"/>
              </a:lnSpc>
              <a:buNone/>
              <a:defRPr sz="1613" b="0">
                <a:solidFill>
                  <a:srgbClr val="F4F4F4"/>
                </a:solidFill>
                <a:latin typeface="Consolas"/>
                <a:ea typeface="Consolas"/>
                <a:cs typeface="Consolas"/>
              </a:defRPr>
            </a:pPr>
            <a:r>
              <a:rPr sz="1613" b="0">
                <a:solidFill>
                  <a:srgbClr val="F4F4F4"/>
                </a:solidFill>
                <a:latin typeface="Consolas"/>
                <a:ea typeface="Consolas"/>
                <a:cs typeface="Consolas"/>
              </a:rPr>
              <a:t>    // ... overflow check ...</a:t>
            </a:r>
          </a:p>
          <a:p xmlns:a="http://schemas.openxmlformats.org/drawingml/2006/main">
            <a:pPr algn="l">
              <a:lnSpc>
                <a:spcPct val="112000"/>
              </a:lnSpc>
              <a:buNone/>
              <a:defRPr sz="1613" b="0">
                <a:solidFill>
                  <a:srgbClr val="F4F4F4"/>
                </a:solidFill>
                <a:latin typeface="Consolas"/>
                <a:ea typeface="Consolas"/>
                <a:cs typeface="Consolas"/>
              </a:defRPr>
            </a:pPr>
            <a:r>
              <a:rPr sz="1613" b="0">
                <a:solidFill>
                  <a:srgbClr val="F4F4F4"/>
                </a:solidFill>
                <a:latin typeface="Consolas"/>
                <a:ea typeface="Consolas"/>
                <a:cs typeface="Consolas"/>
              </a:rPr>
              <a:t>    permits_ += count;</a:t>
            </a:r>
          </a:p>
          <a:p xmlns:a="http://schemas.openxmlformats.org/drawingml/2006/main">
            <a:pPr algn="l">
              <a:lnSpc>
                <a:spcPct val="112000"/>
              </a:lnSpc>
              <a:buNone/>
              <a:defRPr sz="1613" b="0">
                <a:solidFill>
                  <a:srgbClr val="F4F4F4"/>
                </a:solidFill>
                <a:latin typeface="Consolas"/>
                <a:ea typeface="Consolas"/>
                <a:cs typeface="Consolas"/>
              </a:defRPr>
            </a:pPr>
            <a:r>
              <a:rPr sz="1613" b="0">
                <a:solidFill>
                  <a:srgbClr val="F4F4F4"/>
                </a:solidFill>
                <a:latin typeface="Consolas"/>
                <a:ea typeface="Consolas"/>
                <a:cs typeface="Consolas"/>
              </a:rPr>
              <a:t>}</a:t>
            </a:r>
          </a:p>
          <a:p xmlns:a="http://schemas.openxmlformats.org/drawingml/2006/main">
            <a:pPr algn="l">
              <a:lnSpc>
                <a:spcPct val="112000"/>
              </a:lnSpc>
              <a:buNone/>
              <a:defRPr sz="1613" b="0">
                <a:solidFill>
                  <a:srgbClr val="F4F4F4"/>
                </a:solidFill>
                <a:latin typeface="Consolas"/>
                <a:ea typeface="Consolas"/>
                <a:cs typeface="Consolas"/>
              </a:defRPr>
            </a:pPr>
            <a:r>
              <a:rPr sz="1613" b="0">
                <a:solidFill>
                  <a:srgbClr val="F4F4F4"/>
                </a:solidFill>
                <a:latin typeface="Consolas"/>
                <a:ea typeface="Consolas"/>
                <a:cs typeface="Consolas"/>
              </a:rPr>
              <a:t>if (count == 1) {</a:t>
            </a:r>
          </a:p>
          <a:p xmlns:a="http://schemas.openxmlformats.org/drawingml/2006/main">
            <a:pPr algn="l">
              <a:lnSpc>
                <a:spcPct val="112000"/>
              </a:lnSpc>
              <a:buNone/>
              <a:defRPr sz="1613" b="0">
                <a:solidFill>
                  <a:srgbClr val="F4F4F4"/>
                </a:solidFill>
                <a:latin typeface="Consolas"/>
                <a:ea typeface="Consolas"/>
                <a:cs typeface="Consolas"/>
              </a:defRPr>
            </a:pPr>
            <a:r>
              <a:rPr sz="1613" b="0">
                <a:solidFill>
                  <a:srgbClr val="F4F4F4"/>
                </a:solidFill>
                <a:latin typeface="Consolas"/>
                <a:ea typeface="Consolas"/>
                <a:cs typeface="Consolas"/>
              </a:rPr>
              <a:t>    available_.notify_one();</a:t>
            </a:r>
          </a:p>
          <a:p xmlns:a="http://schemas.openxmlformats.org/drawingml/2006/main">
            <a:pPr algn="l">
              <a:lnSpc>
                <a:spcPct val="112000"/>
              </a:lnSpc>
              <a:buNone/>
              <a:defRPr sz="1613" b="0">
                <a:solidFill>
                  <a:srgbClr val="F4F4F4"/>
                </a:solidFill>
                <a:latin typeface="Consolas"/>
                <a:ea typeface="Consolas"/>
                <a:cs typeface="Consolas"/>
              </a:defRPr>
            </a:pPr>
            <a:r>
              <a:rPr sz="1613" b="0">
                <a:solidFill>
                  <a:srgbClr val="F4F4F4"/>
                </a:solidFill>
                <a:latin typeface="Consolas"/>
                <a:ea typeface="Consolas"/>
                <a:cs typeface="Consolas"/>
              </a:rPr>
              <a:t>} else {</a:t>
            </a:r>
          </a:p>
          <a:p xmlns:a="http://schemas.openxmlformats.org/drawingml/2006/main">
            <a:pPr algn="l">
              <a:lnSpc>
                <a:spcPct val="112000"/>
              </a:lnSpc>
              <a:buNone/>
              <a:defRPr sz="1613" b="0">
                <a:solidFill>
                  <a:srgbClr val="F4F4F4"/>
                </a:solidFill>
                <a:latin typeface="Consolas"/>
                <a:ea typeface="Consolas"/>
                <a:cs typeface="Consolas"/>
              </a:defRPr>
            </a:pPr>
            <a:r>
              <a:rPr sz="1613" b="0">
                <a:solidFill>
                  <a:srgbClr val="F4F4F4"/>
                </a:solidFill>
                <a:latin typeface="Consolas"/>
                <a:ea typeface="Consolas"/>
                <a:cs typeface="Consolas"/>
              </a:rPr>
              <a:t>    available_.notify_all();</a:t>
            </a:r>
          </a:p>
          <a:p xmlns:a="http://schemas.openxmlformats.org/drawingml/2006/main">
            <a:pPr algn="l">
              <a:lnSpc>
                <a:spcPct val="112000"/>
              </a:lnSpc>
              <a:buNone/>
              <a:defRPr sz="1613" b="0">
                <a:solidFill>
                  <a:srgbClr val="F4F4F4"/>
                </a:solidFill>
                <a:latin typeface="Consolas"/>
                <a:ea typeface="Consolas"/>
                <a:cs typeface="Consolas"/>
              </a:defRPr>
            </a:pPr>
            <a:r>
              <a:rPr sz="1613" b="0">
                <a:solidFill>
                  <a:srgbClr val="F4F4F4"/>
                </a:solidFill>
                <a:latin typeface="Consolas"/>
                <a:ea typeface="Consolas"/>
                <a:cs typeface="Consolas"/>
              </a:rPr>
              <a:t>}</a:t>
            </a:r>
          </a:p>
        </p:txBody>
      </p:sp>
      <p:sp>
        <p:nvSpPr>
          <p:cNvPr id="9" name="text-36">
            <a:extLst xmlns:a="http://schemas.openxmlformats.org/drawingml/2006/main">
              <a:ext uri="{FF2B5EF4-FFF2-40B4-BE49-F238E27FC236}">
                <a16:creationId xmlns:a16="http://schemas.microsoft.com/office/drawing/2014/main" id="{64B9FBF4-0C00-4A55-B3BE-DA8D3AF58115}"/>
              </a:ext>
            </a:extLst>
          </p:cNvPr>
          <p:cNvSpPr>
            <a:spLocks xmlns:a="http://schemas.openxmlformats.org/drawingml/2006/main" noGrp="1"/>
          </p:cNvSpPr>
          <p:nvPr/>
        </p:nvSpPr>
        <p:spPr>
          <a:xfrm xmlns:a="http://schemas.openxmlformats.org/drawingml/2006/main">
            <a:off x="533400" y="5381625"/>
            <a:ext cx="1112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51515"/>
                </a:solidFill>
                <a:latin typeface="Times New Roman"/>
                <a:ea typeface="Times New Roman"/>
                <a:cs typeface="Times New Roman"/>
              </a:defRPr>
            </a:defPPr>
            <a:lvl1pPr algn="l">
              <a:defRPr sz="2025" b="0">
                <a:solidFill>
                  <a:srgbClr val="151515"/>
                </a:solidFill>
                <a:latin typeface="Times New Roman"/>
                <a:ea typeface="Times New Roman"/>
                <a:cs typeface="Times New Roman"/>
              </a:defRPr>
            </a:lvl1pPr>
            <a:lvl2pPr algn="l">
              <a:defRPr sz="2025" b="0">
                <a:solidFill>
                  <a:srgbClr val="151515"/>
                </a:solidFill>
                <a:latin typeface="Times New Roman"/>
                <a:ea typeface="Times New Roman"/>
                <a:cs typeface="Times New Roman"/>
              </a:defRPr>
            </a:lvl2pPr>
            <a:lvl3pPr algn="l">
              <a:defRPr sz="2025" b="0">
                <a:solidFill>
                  <a:srgbClr val="151515"/>
                </a:solidFill>
                <a:latin typeface="Times New Roman"/>
                <a:ea typeface="Times New Roman"/>
                <a:cs typeface="Times New Roman"/>
              </a:defRPr>
            </a:lvl3pPr>
            <a:lvl4pPr algn="l">
              <a:defRPr sz="2025" b="0">
                <a:solidFill>
                  <a:srgbClr val="151515"/>
                </a:solidFill>
                <a:latin typeface="Times New Roman"/>
                <a:ea typeface="Times New Roman"/>
                <a:cs typeface="Times New Roman"/>
              </a:defRPr>
            </a:lvl4pPr>
            <a:lvl5pPr algn="l">
              <a:defRPr sz="2025" b="0">
                <a:solidFill>
                  <a:srgbClr val="151515"/>
                </a:solidFill>
                <a:latin typeface="Times New Roman"/>
                <a:ea typeface="Times New Roman"/>
                <a:cs typeface="Times New Roman"/>
              </a:defRPr>
            </a:lvl5pPr>
            <a:lvl6pPr algn="l">
              <a:defRPr sz="2025" b="0">
                <a:solidFill>
                  <a:srgbClr val="151515"/>
                </a:solidFill>
                <a:latin typeface="Times New Roman"/>
                <a:ea typeface="Times New Roman"/>
                <a:cs typeface="Times New Roman"/>
              </a:defRPr>
            </a:lvl6pPr>
            <a:lvl7pPr algn="l">
              <a:defRPr sz="2025" b="0">
                <a:solidFill>
                  <a:srgbClr val="151515"/>
                </a:solidFill>
                <a:latin typeface="Times New Roman"/>
                <a:ea typeface="Times New Roman"/>
                <a:cs typeface="Times New Roman"/>
              </a:defRPr>
            </a:lvl7pPr>
            <a:lvl8pPr algn="l">
              <a:defRPr sz="2025" b="0">
                <a:solidFill>
                  <a:srgbClr val="151515"/>
                </a:solidFill>
                <a:latin typeface="Times New Roman"/>
                <a:ea typeface="Times New Roman"/>
                <a:cs typeface="Times New Roman"/>
              </a:defRPr>
            </a:lvl8pPr>
            <a:lvl9pPr algn="l">
              <a:defRPr sz="2025" b="0">
                <a:solidFill>
                  <a:srgbClr val="151515"/>
                </a:solidFill>
                <a:latin typeface="Times New Roman"/>
                <a:ea typeface="Times New Roman"/>
                <a:cs typeface="Times New Roman"/>
              </a:defRPr>
            </a:lvl9pPr>
          </a:lstStyle>
          <a:p xmlns:a="http://schemas.openxmlformats.org/drawingml/2006/main">
            <a:pPr algn="l">
              <a:lnSpc>
                <a:spcPct val="112000"/>
              </a:lnSpc>
              <a:buNone/>
              <a:defRPr sz="2025" b="0">
                <a:solidFill>
                  <a:srgbClr val="151515"/>
                </a:solidFill>
                <a:latin typeface="Times New Roman"/>
                <a:ea typeface="Times New Roman"/>
                <a:cs typeface="Times New Roman"/>
              </a:defRPr>
            </a:pPr>
            <a:r>
              <a:rPr sz="2025" b="0">
                <a:solidFill>
                  <a:srgbClr val="151515"/>
                </a:solidFill>
                <a:latin typeface="Times New Roman"/>
                <a:ea typeface="Times New Roman"/>
                <a:cs typeface="Times New Roman"/>
              </a:rPr>
              <a:t>Predicate waiting handles spurious wakeups.</a:t>
            </a:r>
          </a:p>
          <a:p xmlns:a="http://schemas.openxmlformats.org/drawingml/2006/main">
            <a:pPr algn="l">
              <a:lnSpc>
                <a:spcPct val="112000"/>
              </a:lnSpc>
              <a:buNone/>
              <a:defRPr sz="2025" b="0">
                <a:solidFill>
                  <a:srgbClr val="151515"/>
                </a:solidFill>
                <a:latin typeface="Times New Roman"/>
                <a:ea typeface="Times New Roman"/>
                <a:cs typeface="Times New Roman"/>
              </a:defRPr>
            </a:pPr>
            <a:r>
              <a:rPr sz="2025" b="0">
                <a:solidFill>
                  <a:srgbClr val="151515"/>
                </a:solidFill>
                <a:latin typeface="Times New Roman"/>
                <a:ea typeface="Times New Roman"/>
                <a:cs typeface="Times New Roman"/>
              </a:rPr>
              <a:t>Published permits remain available until acquired.</a:t>
            </a:r>
          </a:p>
        </p:txBody>
      </p:sp>
    </p:spTree>
    <p:extLst>
      <p:ext uri="{BB962C8B-B14F-4D97-AF65-F5344CB8AC3E}">
        <p14:creationId xmlns:p14="http://schemas.microsoft.com/office/powerpoint/2010/main" val="5372669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2C2C101-6B67-49E6-A38E-C5D3E4863900}"/>
              </a:ext>
            </a:extLst>
          </p:cNvPr>
          <p:cNvSpPr>
            <a:spLocks xmlns:a="http://schemas.openxmlformats.org/drawingml/2006/main" noGrp="1"/>
          </p:cNvSpPr>
          <p:nvPr/>
        </p:nvSpPr>
        <p:spPr>
          <a:xfrm xmlns:a="http://schemas.openxmlformats.org/drawingml/2006/main">
            <a:off x="533400" y="361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51515"/>
                </a:solidFill>
                <a:latin typeface="Times New Roman"/>
                <a:ea typeface="Times New Roman"/>
                <a:cs typeface="Times New Roman"/>
              </a:defRPr>
            </a:defPPr>
            <a:lvl1pPr algn="l">
              <a:defRPr sz="3300" b="0">
                <a:solidFill>
                  <a:srgbClr val="151515"/>
                </a:solidFill>
                <a:latin typeface="Times New Roman"/>
                <a:ea typeface="Times New Roman"/>
                <a:cs typeface="Times New Roman"/>
              </a:defRPr>
            </a:lvl1pPr>
            <a:lvl2pPr algn="l">
              <a:defRPr sz="3300" b="0">
                <a:solidFill>
                  <a:srgbClr val="151515"/>
                </a:solidFill>
                <a:latin typeface="Times New Roman"/>
                <a:ea typeface="Times New Roman"/>
                <a:cs typeface="Times New Roman"/>
              </a:defRPr>
            </a:lvl2pPr>
            <a:lvl3pPr algn="l">
              <a:defRPr sz="3300" b="0">
                <a:solidFill>
                  <a:srgbClr val="151515"/>
                </a:solidFill>
                <a:latin typeface="Times New Roman"/>
                <a:ea typeface="Times New Roman"/>
                <a:cs typeface="Times New Roman"/>
              </a:defRPr>
            </a:lvl3pPr>
            <a:lvl4pPr algn="l">
              <a:defRPr sz="3300" b="0">
                <a:solidFill>
                  <a:srgbClr val="151515"/>
                </a:solidFill>
                <a:latin typeface="Times New Roman"/>
                <a:ea typeface="Times New Roman"/>
                <a:cs typeface="Times New Roman"/>
              </a:defRPr>
            </a:lvl4pPr>
            <a:lvl5pPr algn="l">
              <a:defRPr sz="3300" b="0">
                <a:solidFill>
                  <a:srgbClr val="151515"/>
                </a:solidFill>
                <a:latin typeface="Times New Roman"/>
                <a:ea typeface="Times New Roman"/>
                <a:cs typeface="Times New Roman"/>
              </a:defRPr>
            </a:lvl5pPr>
            <a:lvl6pPr algn="l">
              <a:defRPr sz="3300" b="0">
                <a:solidFill>
                  <a:srgbClr val="151515"/>
                </a:solidFill>
                <a:latin typeface="Times New Roman"/>
                <a:ea typeface="Times New Roman"/>
                <a:cs typeface="Times New Roman"/>
              </a:defRPr>
            </a:lvl6pPr>
            <a:lvl7pPr algn="l">
              <a:defRPr sz="3300" b="0">
                <a:solidFill>
                  <a:srgbClr val="151515"/>
                </a:solidFill>
                <a:latin typeface="Times New Roman"/>
                <a:ea typeface="Times New Roman"/>
                <a:cs typeface="Times New Roman"/>
              </a:defRPr>
            </a:lvl7pPr>
            <a:lvl8pPr algn="l">
              <a:defRPr sz="3300" b="0">
                <a:solidFill>
                  <a:srgbClr val="151515"/>
                </a:solidFill>
                <a:latin typeface="Times New Roman"/>
                <a:ea typeface="Times New Roman"/>
                <a:cs typeface="Times New Roman"/>
              </a:defRPr>
            </a:lvl8pPr>
            <a:lvl9pPr algn="l">
              <a:defRPr sz="3300" b="0">
                <a:solidFill>
                  <a:srgbClr val="151515"/>
                </a:solidFill>
                <a:latin typeface="Times New Roman"/>
                <a:ea typeface="Times New Roman"/>
                <a:cs typeface="Times New Roman"/>
              </a:defRPr>
            </a:lvl9pPr>
          </a:lstStyle>
          <a:p xmlns:a="http://schemas.openxmlformats.org/drawingml/2006/main">
            <a:pPr algn="l">
              <a:lnSpc>
                <a:spcPct val="112000"/>
              </a:lnSpc>
              <a:buNone/>
              <a:defRPr sz="3300" b="0">
                <a:solidFill>
                  <a:srgbClr val="151515"/>
                </a:solidFill>
                <a:latin typeface="Times New Roman"/>
                <a:ea typeface="Times New Roman"/>
                <a:cs typeface="Times New Roman"/>
              </a:defRPr>
            </a:pPr>
            <a:r>
              <a:rPr sz="3300" b="0">
                <a:solidFill>
                  <a:srgbClr val="151515"/>
                </a:solidFill>
                <a:latin typeface="Times New Roman"/>
                <a:ea typeface="Times New Roman"/>
                <a:cs typeface="Times New Roman"/>
              </a:rPr>
              <a:t>Protected Critical Sections</a:t>
            </a:r>
          </a:p>
        </p:txBody>
      </p:sp>
      <p:pic>
        <p:nvPicPr>
          <p:cNvPr id="3" name="">
            <a:extLst xmlns:a="http://schemas.openxmlformats.org/drawingml/2006/main">
              <a:ext uri="{FF2B5EF4-FFF2-40B4-BE49-F238E27FC236}">
                <a16:creationId xmlns:a16="http://schemas.microsoft.com/office/drawing/2014/main" id="{5740C607-F606-4713-B0D5-595718D60AAC}"/>
              </a:ext>
            </a:extLst>
          </p:cNvPr>
          <p:cNvPicPr>
            <a:picLocks xmlns:a="http://schemas.openxmlformats.org/drawingml/2006/main" noChangeAspect="1"/>
          </p:cNvPicPr>
          <p:nvPr/>
        </p:nvPicPr>
        <p:blipFill>
          <a:blip xmlns:r="http://schemas.openxmlformats.org/officeDocument/2006/relationships" xmlns:a="http://schemas.openxmlformats.org/drawingml/2006/main" r:embed="R81f82e97368a434c"/>
          <a:stretch xmlns:a="http://schemas.openxmlformats.org/drawingml/2006/main"/>
        </p:blipFill>
        <p:spPr>
          <a:xfrm xmlns:a="http://schemas.openxmlformats.org/drawingml/2006/main">
            <a:off x="11458575" y="6238875"/>
            <a:ext cx="419100" cy="419100"/>
          </a:xfrm>
          <a:prstGeom xmlns:a="http://schemas.openxmlformats.org/drawingml/2006/main" prst="rect">
            <a:avLst/>
          </a:prstGeom>
        </p:spPr>
      </p:pic>
      <p:sp>
        <p:nvSpPr>
          <p:cNvPr id="4" name="text-37">
            <a:extLst xmlns:a="http://schemas.openxmlformats.org/drawingml/2006/main">
              <a:ext uri="{FF2B5EF4-FFF2-40B4-BE49-F238E27FC236}">
                <a16:creationId xmlns:a16="http://schemas.microsoft.com/office/drawing/2014/main" id="{2C8816E9-48BE-4A09-A13F-FB1BDB2CC844}"/>
              </a:ext>
            </a:extLst>
          </p:cNvPr>
          <p:cNvSpPr>
            <a:spLocks xmlns:a="http://schemas.openxmlformats.org/drawingml/2006/main" noGrp="1"/>
          </p:cNvSpPr>
          <p:nvPr/>
        </p:nvSpPr>
        <p:spPr>
          <a:xfrm xmlns:a="http://schemas.openxmlformats.org/drawingml/2006/main">
            <a:off x="533400" y="64484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87644"/>
                </a:solidFill>
                <a:latin typeface="Times New Roman"/>
                <a:ea typeface="Times New Roman"/>
                <a:cs typeface="Times New Roman"/>
              </a:defRPr>
            </a:defPPr>
            <a:lvl1pPr algn="l">
              <a:defRPr sz="1275" b="0">
                <a:solidFill>
                  <a:srgbClr val="087644"/>
                </a:solidFill>
                <a:latin typeface="Times New Roman"/>
                <a:ea typeface="Times New Roman"/>
                <a:cs typeface="Times New Roman"/>
              </a:defRPr>
            </a:lvl1pPr>
            <a:lvl2pPr algn="l">
              <a:defRPr sz="1275" b="0">
                <a:solidFill>
                  <a:srgbClr val="087644"/>
                </a:solidFill>
                <a:latin typeface="Times New Roman"/>
                <a:ea typeface="Times New Roman"/>
                <a:cs typeface="Times New Roman"/>
              </a:defRPr>
            </a:lvl2pPr>
            <a:lvl3pPr algn="l">
              <a:defRPr sz="1275" b="0">
                <a:solidFill>
                  <a:srgbClr val="087644"/>
                </a:solidFill>
                <a:latin typeface="Times New Roman"/>
                <a:ea typeface="Times New Roman"/>
                <a:cs typeface="Times New Roman"/>
              </a:defRPr>
            </a:lvl3pPr>
            <a:lvl4pPr algn="l">
              <a:defRPr sz="1275" b="0">
                <a:solidFill>
                  <a:srgbClr val="087644"/>
                </a:solidFill>
                <a:latin typeface="Times New Roman"/>
                <a:ea typeface="Times New Roman"/>
                <a:cs typeface="Times New Roman"/>
              </a:defRPr>
            </a:lvl4pPr>
            <a:lvl5pPr algn="l">
              <a:defRPr sz="1275" b="0">
                <a:solidFill>
                  <a:srgbClr val="087644"/>
                </a:solidFill>
                <a:latin typeface="Times New Roman"/>
                <a:ea typeface="Times New Roman"/>
                <a:cs typeface="Times New Roman"/>
              </a:defRPr>
            </a:lvl5pPr>
            <a:lvl6pPr algn="l">
              <a:defRPr sz="1275" b="0">
                <a:solidFill>
                  <a:srgbClr val="087644"/>
                </a:solidFill>
                <a:latin typeface="Times New Roman"/>
                <a:ea typeface="Times New Roman"/>
                <a:cs typeface="Times New Roman"/>
              </a:defRPr>
            </a:lvl6pPr>
            <a:lvl7pPr algn="l">
              <a:defRPr sz="1275" b="0">
                <a:solidFill>
                  <a:srgbClr val="087644"/>
                </a:solidFill>
                <a:latin typeface="Times New Roman"/>
                <a:ea typeface="Times New Roman"/>
                <a:cs typeface="Times New Roman"/>
              </a:defRPr>
            </a:lvl7pPr>
            <a:lvl8pPr algn="l">
              <a:defRPr sz="1275" b="0">
                <a:solidFill>
                  <a:srgbClr val="087644"/>
                </a:solidFill>
                <a:latin typeface="Times New Roman"/>
                <a:ea typeface="Times New Roman"/>
                <a:cs typeface="Times New Roman"/>
              </a:defRPr>
            </a:lvl8pPr>
            <a:lvl9pPr algn="l">
              <a:defRPr sz="1275" b="0">
                <a:solidFill>
                  <a:srgbClr val="087644"/>
                </a:solidFill>
                <a:latin typeface="Times New Roman"/>
                <a:ea typeface="Times New Roman"/>
                <a:cs typeface="Times New Roman"/>
              </a:defRPr>
            </a:lvl9pPr>
          </a:lstStyle>
          <a:p xmlns:a="http://schemas.openxmlformats.org/drawingml/2006/main">
            <a:pPr algn="l">
              <a:lnSpc>
                <a:spcPct val="112000"/>
              </a:lnSpc>
              <a:buNone/>
              <a:defRPr sz="1275" b="0">
                <a:solidFill>
                  <a:srgbClr val="087644"/>
                </a:solidFill>
                <a:latin typeface="Times New Roman"/>
                <a:ea typeface="Times New Roman"/>
                <a:cs typeface="Times New Roman"/>
              </a:defRPr>
            </a:pPr>
            <a:r>
              <a:rPr sz="1275" b="0">
                <a:solidFill>
                  <a:srgbClr val="087644"/>
                </a:solidFill>
                <a:latin typeface="Times New Roman"/>
                <a:ea typeface="Times New Roman"/>
                <a:cs typeface="Times New Roman"/>
              </a:rPr>
              <a:t>09</a:t>
            </a:r>
          </a:p>
        </p:txBody>
      </p:sp>
      <p:sp>
        <p:nvSpPr>
          <p:cNvPr id="5" name="text-38">
            <a:extLst xmlns:a="http://schemas.openxmlformats.org/drawingml/2006/main">
              <a:ext uri="{FF2B5EF4-FFF2-40B4-BE49-F238E27FC236}">
                <a16:creationId xmlns:a16="http://schemas.microsoft.com/office/drawing/2014/main" id="{7015D90A-420A-470E-AC91-C4BA6C73141E}"/>
              </a:ext>
            </a:extLst>
          </p:cNvPr>
          <p:cNvSpPr>
            <a:spLocks xmlns:a="http://schemas.openxmlformats.org/drawingml/2006/main" noGrp="1"/>
          </p:cNvSpPr>
          <p:nvPr/>
        </p:nvSpPr>
        <p:spPr>
          <a:xfrm xmlns:a="http://schemas.openxmlformats.org/drawingml/2006/main">
            <a:off x="533400" y="130492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Queue removal</a:t>
            </a:r>
          </a:p>
        </p:txBody>
      </p:sp>
      <p:sp>
        <p:nvSpPr>
          <p:cNvPr id="6" name="code-39">
            <a:extLst xmlns:a="http://schemas.openxmlformats.org/drawingml/2006/main">
              <a:ext uri="{FF2B5EF4-FFF2-40B4-BE49-F238E27FC236}">
                <a16:creationId xmlns:a16="http://schemas.microsoft.com/office/drawing/2014/main" id="{B05B6861-B8E3-4BEC-8E00-3A0E6993B9C7}"/>
              </a:ext>
            </a:extLst>
          </p:cNvPr>
          <p:cNvSpPr>
            <a:spLocks xmlns:a="http://schemas.openxmlformats.org/drawingml/2006/main" noGrp="1"/>
          </p:cNvSpPr>
          <p:nvPr/>
        </p:nvSpPr>
        <p:spPr>
          <a:xfrm xmlns:a="http://schemas.openxmlformats.org/drawingml/2006/main">
            <a:off x="533400" y="1762125"/>
            <a:ext cx="5286375" cy="2286000"/>
          </a:xfrm>
          <a:prstGeom xmlns:a="http://schemas.openxmlformats.org/drawingml/2006/main" prst="rect">
            <a:avLst/>
          </a:prstGeom>
          <a:solidFill xmlns:a="http://schemas.openxmlformats.org/drawingml/2006/main">
            <a:srgbClr val="17211C"/>
          </a:solidFill>
          <a:ln xmlns:a="http://schemas.openxmlformats.org/drawingml/2006/main" w="0">
            <a:noFill/>
          </a:ln>
        </p:spPr>
        <p:txBody>
          <a:bodyPr xmlns:a="http://schemas.openxmlformats.org/drawingml/2006/main" wrap="square" lIns="152400" tIns="152400" rIns="152400" bIns="152400" anchor="t">
            <a:noAutofit/>
          </a:bodyPr>
          <a:lstStyle xmlns:a="http://schemas.openxmlformats.org/drawingml/2006/main">
            <a:defPPr algn="l">
              <a:defRPr sz="1725" b="0">
                <a:solidFill>
                  <a:srgbClr val="F4F4F4"/>
                </a:solidFill>
                <a:latin typeface="Consolas"/>
                <a:ea typeface="Consolas"/>
                <a:cs typeface="Consolas"/>
              </a:defRPr>
            </a:defPPr>
            <a:lvl1pPr algn="l">
              <a:defRPr sz="1725" b="0">
                <a:solidFill>
                  <a:srgbClr val="F4F4F4"/>
                </a:solidFill>
                <a:latin typeface="Consolas"/>
                <a:ea typeface="Consolas"/>
                <a:cs typeface="Consolas"/>
              </a:defRPr>
            </a:lvl1pPr>
            <a:lvl2pPr algn="l">
              <a:defRPr sz="1725" b="0">
                <a:solidFill>
                  <a:srgbClr val="F4F4F4"/>
                </a:solidFill>
                <a:latin typeface="Consolas"/>
                <a:ea typeface="Consolas"/>
                <a:cs typeface="Consolas"/>
              </a:defRPr>
            </a:lvl2pPr>
            <a:lvl3pPr algn="l">
              <a:defRPr sz="1725" b="0">
                <a:solidFill>
                  <a:srgbClr val="F4F4F4"/>
                </a:solidFill>
                <a:latin typeface="Consolas"/>
                <a:ea typeface="Consolas"/>
                <a:cs typeface="Consolas"/>
              </a:defRPr>
            </a:lvl3pPr>
            <a:lvl4pPr algn="l">
              <a:defRPr sz="1725" b="0">
                <a:solidFill>
                  <a:srgbClr val="F4F4F4"/>
                </a:solidFill>
                <a:latin typeface="Consolas"/>
                <a:ea typeface="Consolas"/>
                <a:cs typeface="Consolas"/>
              </a:defRPr>
            </a:lvl4pPr>
            <a:lvl5pPr algn="l">
              <a:defRPr sz="1725" b="0">
                <a:solidFill>
                  <a:srgbClr val="F4F4F4"/>
                </a:solidFill>
                <a:latin typeface="Consolas"/>
                <a:ea typeface="Consolas"/>
                <a:cs typeface="Consolas"/>
              </a:defRPr>
            </a:lvl5pPr>
            <a:lvl6pPr algn="l">
              <a:defRPr sz="1725" b="0">
                <a:solidFill>
                  <a:srgbClr val="F4F4F4"/>
                </a:solidFill>
                <a:latin typeface="Consolas"/>
                <a:ea typeface="Consolas"/>
                <a:cs typeface="Consolas"/>
              </a:defRPr>
            </a:lvl6pPr>
            <a:lvl7pPr algn="l">
              <a:defRPr sz="1725" b="0">
                <a:solidFill>
                  <a:srgbClr val="F4F4F4"/>
                </a:solidFill>
                <a:latin typeface="Consolas"/>
                <a:ea typeface="Consolas"/>
                <a:cs typeface="Consolas"/>
              </a:defRPr>
            </a:lvl7pPr>
            <a:lvl8pPr algn="l">
              <a:defRPr sz="1725" b="0">
                <a:solidFill>
                  <a:srgbClr val="F4F4F4"/>
                </a:solidFill>
                <a:latin typeface="Consolas"/>
                <a:ea typeface="Consolas"/>
                <a:cs typeface="Consolas"/>
              </a:defRPr>
            </a:lvl8pPr>
            <a:lvl9pPr algn="l">
              <a:defRPr sz="1725" b="0">
                <a:solidFill>
                  <a:srgbClr val="F4F4F4"/>
                </a:solidFill>
                <a:latin typeface="Consolas"/>
                <a:ea typeface="Consolas"/>
                <a:cs typeface="Consolas"/>
              </a:defRPr>
            </a:lvl9pPr>
          </a:lstStyle>
          <a:p xmlns:a="http://schemas.openxmlformats.org/drawingml/2006/main">
            <a:pPr algn="l">
              <a:lnSpc>
                <a:spcPct val="112000"/>
              </a:lnSpc>
              <a:buNone/>
              <a:defRPr sz="1725" b="0">
                <a:solidFill>
                  <a:srgbClr val="F4F4F4"/>
                </a:solidFill>
                <a:latin typeface="Consolas"/>
                <a:ea typeface="Consolas"/>
                <a:cs typeface="Consolas"/>
              </a:defRPr>
            </a:pPr>
            <a:r>
              <a:rPr sz="1725" b="0">
                <a:solidFill>
                  <a:srgbClr val="F4F4F4"/>
                </a:solidFill>
                <a:latin typeface="Consolas"/>
                <a:ea typeface="Consolas"/>
                <a:cs typeface="Consolas"/>
              </a:rPr>
              <a:t>{</a:t>
            </a:r>
          </a:p>
          <a:p xmlns:a="http://schemas.openxmlformats.org/drawingml/2006/main">
            <a:pPr algn="l">
              <a:lnSpc>
                <a:spcPct val="112000"/>
              </a:lnSpc>
              <a:buNone/>
              <a:defRPr sz="1725" b="0">
                <a:solidFill>
                  <a:srgbClr val="F4F4F4"/>
                </a:solidFill>
                <a:latin typeface="Consolas"/>
                <a:ea typeface="Consolas"/>
                <a:cs typeface="Consolas"/>
              </a:defRPr>
            </a:pPr>
            <a:r>
              <a:rPr sz="1725" b="0">
                <a:solidFill>
                  <a:srgbClr val="F4F4F4"/>
                </a:solidFill>
                <a:latin typeface="Consolas"/>
                <a:ea typeface="Consolas"/>
                <a:cs typeface="Consolas"/>
              </a:rPr>
              <a:t>    std::lock_guard&lt;std::mutex&gt;</a:t>
            </a:r>
          </a:p>
          <a:p xmlns:a="http://schemas.openxmlformats.org/drawingml/2006/main">
            <a:pPr algn="l">
              <a:lnSpc>
                <a:spcPct val="112000"/>
              </a:lnSpc>
              <a:buNone/>
              <a:defRPr sz="1725" b="0">
                <a:solidFill>
                  <a:srgbClr val="F4F4F4"/>
                </a:solidFill>
                <a:latin typeface="Consolas"/>
                <a:ea typeface="Consolas"/>
                <a:cs typeface="Consolas"/>
              </a:defRPr>
            </a:pPr>
            <a:r>
              <a:rPr sz="1725" b="0">
                <a:solidFill>
                  <a:srgbClr val="F4F4F4"/>
                </a:solidFill>
                <a:latin typeface="Consolas"/>
                <a:ea typeface="Consolas"/>
                <a:cs typeface="Consolas"/>
              </a:rPr>
              <a:t>        lock(queue_mutex);</a:t>
            </a:r>
          </a:p>
          <a:p xmlns:a="http://schemas.openxmlformats.org/drawingml/2006/main">
            <a:pPr algn="l">
              <a:lnSpc>
                <a:spcPct val="112000"/>
              </a:lnSpc>
              <a:buNone/>
              <a:defRPr sz="1725" b="0">
                <a:solidFill>
                  <a:srgbClr val="F4F4F4"/>
                </a:solidFill>
                <a:latin typeface="Consolas"/>
                <a:ea typeface="Consolas"/>
                <a:cs typeface="Consolas"/>
              </a:defRPr>
            </a:pPr>
            <a:r>
              <a:rPr sz="1725" b="0">
                <a:solidFill>
                  <a:srgbClr val="F4F4F4"/>
                </a:solidFill>
                <a:latin typeface="Consolas"/>
                <a:ea typeface="Consolas"/>
                <a:cs typeface="Consolas"/>
              </a:rPr>
              <a:t>    party = jobs.front();</a:t>
            </a:r>
          </a:p>
          <a:p xmlns:a="http://schemas.openxmlformats.org/drawingml/2006/main">
            <a:pPr algn="l">
              <a:lnSpc>
                <a:spcPct val="112000"/>
              </a:lnSpc>
              <a:buNone/>
              <a:defRPr sz="1725" b="0">
                <a:solidFill>
                  <a:srgbClr val="F4F4F4"/>
                </a:solidFill>
                <a:latin typeface="Consolas"/>
                <a:ea typeface="Consolas"/>
                <a:cs typeface="Consolas"/>
              </a:defRPr>
            </a:pPr>
            <a:r>
              <a:rPr sz="1725" b="0">
                <a:solidFill>
                  <a:srgbClr val="F4F4F4"/>
                </a:solidFill>
                <a:latin typeface="Consolas"/>
                <a:ea typeface="Consolas"/>
                <a:cs typeface="Consolas"/>
              </a:rPr>
              <a:t>    jobs.pop();</a:t>
            </a:r>
          </a:p>
          <a:p xmlns:a="http://schemas.openxmlformats.org/drawingml/2006/main">
            <a:pPr algn="l">
              <a:lnSpc>
                <a:spcPct val="112000"/>
              </a:lnSpc>
              <a:buNone/>
              <a:defRPr sz="1725" b="0">
                <a:solidFill>
                  <a:srgbClr val="F4F4F4"/>
                </a:solidFill>
                <a:latin typeface="Consolas"/>
                <a:ea typeface="Consolas"/>
                <a:cs typeface="Consolas"/>
              </a:defRPr>
            </a:pPr>
            <a:r>
              <a:rPr sz="1725" b="0">
                <a:solidFill>
                  <a:srgbClr val="F4F4F4"/>
                </a:solidFill>
                <a:latin typeface="Consolas"/>
                <a:ea typeface="Consolas"/>
                <a:cs typeface="Consolas"/>
              </a:rPr>
              <a:t>}</a:t>
            </a:r>
          </a:p>
        </p:txBody>
      </p:sp>
      <p:sp>
        <p:nvSpPr>
          <p:cNvPr id="7" name="text-40">
            <a:extLst xmlns:a="http://schemas.openxmlformats.org/drawingml/2006/main">
              <a:ext uri="{FF2B5EF4-FFF2-40B4-BE49-F238E27FC236}">
                <a16:creationId xmlns:a16="http://schemas.microsoft.com/office/drawing/2014/main" id="{6959A211-3605-446B-A65D-C5BBE5227434}"/>
              </a:ext>
            </a:extLst>
          </p:cNvPr>
          <p:cNvSpPr>
            <a:spLocks xmlns:a="http://schemas.openxmlformats.org/drawingml/2006/main" noGrp="1"/>
          </p:cNvSpPr>
          <p:nvPr/>
        </p:nvSpPr>
        <p:spPr>
          <a:xfrm xmlns:a="http://schemas.openxmlformats.org/drawingml/2006/main">
            <a:off x="6238875" y="130492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State and output</a:t>
            </a:r>
          </a:p>
        </p:txBody>
      </p:sp>
      <p:sp>
        <p:nvSpPr>
          <p:cNvPr id="8" name="code-41">
            <a:extLst xmlns:a="http://schemas.openxmlformats.org/drawingml/2006/main">
              <a:ext uri="{FF2B5EF4-FFF2-40B4-BE49-F238E27FC236}">
                <a16:creationId xmlns:a16="http://schemas.microsoft.com/office/drawing/2014/main" id="{BA0ADB30-C073-4645-9B85-521F6585FF3F}"/>
              </a:ext>
            </a:extLst>
          </p:cNvPr>
          <p:cNvSpPr>
            <a:spLocks xmlns:a="http://schemas.openxmlformats.org/drawingml/2006/main" noGrp="1"/>
          </p:cNvSpPr>
          <p:nvPr/>
        </p:nvSpPr>
        <p:spPr>
          <a:xfrm xmlns:a="http://schemas.openxmlformats.org/drawingml/2006/main">
            <a:off x="6238875" y="1762125"/>
            <a:ext cx="5419725" cy="2952750"/>
          </a:xfrm>
          <a:prstGeom xmlns:a="http://schemas.openxmlformats.org/drawingml/2006/main" prst="rect">
            <a:avLst/>
          </a:prstGeom>
          <a:solidFill xmlns:a="http://schemas.openxmlformats.org/drawingml/2006/main">
            <a:srgbClr val="17211C"/>
          </a:solidFill>
          <a:ln xmlns:a="http://schemas.openxmlformats.org/drawingml/2006/main" w="0">
            <a:noFill/>
          </a:ln>
        </p:spPr>
        <p:txBody>
          <a:bodyPr xmlns:a="http://schemas.openxmlformats.org/drawingml/2006/main" wrap="square" lIns="152400" tIns="152400" rIns="152400" bIns="152400" anchor="t">
            <a:noAutofit/>
          </a:bodyPr>
          <a:lstStyle xmlns:a="http://schemas.openxmlformats.org/drawingml/2006/main">
            <a:defPPr algn="l">
              <a:defRPr sz="1538" b="0">
                <a:solidFill>
                  <a:srgbClr val="F4F4F4"/>
                </a:solidFill>
                <a:latin typeface="Consolas"/>
                <a:ea typeface="Consolas"/>
                <a:cs typeface="Consolas"/>
              </a:defRPr>
            </a:defPPr>
            <a:lvl1pPr algn="l">
              <a:defRPr sz="1538" b="0">
                <a:solidFill>
                  <a:srgbClr val="F4F4F4"/>
                </a:solidFill>
                <a:latin typeface="Consolas"/>
                <a:ea typeface="Consolas"/>
                <a:cs typeface="Consolas"/>
              </a:defRPr>
            </a:lvl1pPr>
            <a:lvl2pPr algn="l">
              <a:defRPr sz="1538" b="0">
                <a:solidFill>
                  <a:srgbClr val="F4F4F4"/>
                </a:solidFill>
                <a:latin typeface="Consolas"/>
                <a:ea typeface="Consolas"/>
                <a:cs typeface="Consolas"/>
              </a:defRPr>
            </a:lvl2pPr>
            <a:lvl3pPr algn="l">
              <a:defRPr sz="1538" b="0">
                <a:solidFill>
                  <a:srgbClr val="F4F4F4"/>
                </a:solidFill>
                <a:latin typeface="Consolas"/>
                <a:ea typeface="Consolas"/>
                <a:cs typeface="Consolas"/>
              </a:defRPr>
            </a:lvl3pPr>
            <a:lvl4pPr algn="l">
              <a:defRPr sz="1538" b="0">
                <a:solidFill>
                  <a:srgbClr val="F4F4F4"/>
                </a:solidFill>
                <a:latin typeface="Consolas"/>
                <a:ea typeface="Consolas"/>
                <a:cs typeface="Consolas"/>
              </a:defRPr>
            </a:lvl4pPr>
            <a:lvl5pPr algn="l">
              <a:defRPr sz="1538" b="0">
                <a:solidFill>
                  <a:srgbClr val="F4F4F4"/>
                </a:solidFill>
                <a:latin typeface="Consolas"/>
                <a:ea typeface="Consolas"/>
                <a:cs typeface="Consolas"/>
              </a:defRPr>
            </a:lvl5pPr>
            <a:lvl6pPr algn="l">
              <a:defRPr sz="1538" b="0">
                <a:solidFill>
                  <a:srgbClr val="F4F4F4"/>
                </a:solidFill>
                <a:latin typeface="Consolas"/>
                <a:ea typeface="Consolas"/>
                <a:cs typeface="Consolas"/>
              </a:defRPr>
            </a:lvl6pPr>
            <a:lvl7pPr algn="l">
              <a:defRPr sz="1538" b="0">
                <a:solidFill>
                  <a:srgbClr val="F4F4F4"/>
                </a:solidFill>
                <a:latin typeface="Consolas"/>
                <a:ea typeface="Consolas"/>
                <a:cs typeface="Consolas"/>
              </a:defRPr>
            </a:lvl7pPr>
            <a:lvl8pPr algn="l">
              <a:defRPr sz="1538" b="0">
                <a:solidFill>
                  <a:srgbClr val="F4F4F4"/>
                </a:solidFill>
                <a:latin typeface="Consolas"/>
                <a:ea typeface="Consolas"/>
                <a:cs typeface="Consolas"/>
              </a:defRPr>
            </a:lvl8pPr>
            <a:lvl9pPr algn="l">
              <a:defRPr sz="1538" b="0">
                <a:solidFill>
                  <a:srgbClr val="F4F4F4"/>
                </a:solidFill>
                <a:latin typeface="Consolas"/>
                <a:ea typeface="Consolas"/>
                <a:cs typeface="Consolas"/>
              </a:defRPr>
            </a:lvl9pPr>
          </a:lstStyle>
          <a:p xmlns:a="http://schemas.openxmlformats.org/drawingml/2006/main">
            <a:pPr algn="l">
              <a:lnSpc>
                <a:spcPct val="112000"/>
              </a:lnSpc>
              <a:buNone/>
              <a:defRPr sz="1538" b="0">
                <a:solidFill>
                  <a:srgbClr val="F4F4F4"/>
                </a:solidFill>
                <a:latin typeface="Consolas"/>
                <a:ea typeface="Consolas"/>
                <a:cs typeface="Consolas"/>
              </a:defRPr>
            </a:pPr>
            <a:r>
              <a:rPr sz="1538" b="0">
                <a:solidFill>
                  <a:srgbClr val="F4F4F4"/>
                </a:solidFill>
                <a:latin typeface="Consolas"/>
                <a:ea typeface="Consolas"/>
                <a:cs typeface="Consolas"/>
              </a:rPr>
              <a:t>{</a:t>
            </a:r>
          </a:p>
          <a:p xmlns:a="http://schemas.openxmlformats.org/drawingml/2006/main">
            <a:pPr algn="l">
              <a:lnSpc>
                <a:spcPct val="112000"/>
              </a:lnSpc>
              <a:buNone/>
              <a:defRPr sz="1538" b="0">
                <a:solidFill>
                  <a:srgbClr val="F4F4F4"/>
                </a:solidFill>
                <a:latin typeface="Consolas"/>
                <a:ea typeface="Consolas"/>
                <a:cs typeface="Consolas"/>
              </a:defRPr>
            </a:pPr>
            <a:r>
              <a:rPr sz="1538" b="0">
                <a:solidFill>
                  <a:srgbClr val="F4F4F4"/>
                </a:solidFill>
                <a:latin typeface="Consolas"/>
                <a:ea typeface="Consolas"/>
                <a:cs typeface="Consolas"/>
              </a:rPr>
              <a:t>    std::lock_guard&lt;std::mutex&gt;</a:t>
            </a:r>
          </a:p>
          <a:p xmlns:a="http://schemas.openxmlformats.org/drawingml/2006/main">
            <a:pPr algn="l">
              <a:lnSpc>
                <a:spcPct val="112000"/>
              </a:lnSpc>
              <a:buNone/>
              <a:defRPr sz="1538" b="0">
                <a:solidFill>
                  <a:srgbClr val="F4F4F4"/>
                </a:solidFill>
                <a:latin typeface="Consolas"/>
                <a:ea typeface="Consolas"/>
                <a:cs typeface="Consolas"/>
              </a:defRPr>
            </a:pPr>
            <a:r>
              <a:rPr sz="1538" b="0">
                <a:solidFill>
                  <a:srgbClr val="F4F4F4"/>
                </a:solidFill>
                <a:latin typeface="Consolas"/>
                <a:ea typeface="Consolas"/>
                <a:cs typeface="Consolas"/>
              </a:rPr>
              <a:t>        lock(status_mutex);</a:t>
            </a:r>
          </a:p>
          <a:p xmlns:a="http://schemas.openxmlformats.org/drawingml/2006/main">
            <a:pPr algn="l">
              <a:lnSpc>
                <a:spcPct val="112000"/>
              </a:lnSpc>
              <a:buNone/>
              <a:defRPr sz="1538" b="0">
                <a:solidFill>
                  <a:srgbClr val="F4F4F4"/>
                </a:solidFill>
                <a:latin typeface="Consolas"/>
                <a:ea typeface="Consolas"/>
                <a:cs typeface="Consolas"/>
              </a:defRPr>
            </a:pPr>
            <a:r>
              <a:rPr sz="1538" b="0">
                <a:solidFill>
                  <a:srgbClr val="F4F4F4"/>
                </a:solidFill>
                <a:latin typeface="Consolas"/>
                <a:ea typeface="Consolas"/>
                <a:cs typeface="Consolas"/>
              </a:rPr>
              <a:t>    summary.instances[</a:t>
            </a:r>
          </a:p>
          <a:p xmlns:a="http://schemas.openxmlformats.org/drawingml/2006/main">
            <a:pPr algn="l">
              <a:lnSpc>
                <a:spcPct val="112000"/>
              </a:lnSpc>
              <a:buNone/>
              <a:defRPr sz="1538" b="0">
                <a:solidFill>
                  <a:srgbClr val="F4F4F4"/>
                </a:solidFill>
                <a:latin typeface="Consolas"/>
                <a:ea typeface="Consolas"/>
                <a:cs typeface="Consolas"/>
              </a:defRPr>
            </a:pPr>
            <a:r>
              <a:rPr sz="1538" b="0">
                <a:solidFill>
                  <a:srgbClr val="F4F4F4"/>
                </a:solidFill>
                <a:latin typeface="Consolas"/>
                <a:ea typeface="Consolas"/>
                <a:cs typeface="Consolas"/>
              </a:rPr>
              <a:t>        static_cast&lt;std::size_t&gt;(index)</a:t>
            </a:r>
          </a:p>
          <a:p xmlns:a="http://schemas.openxmlformats.org/drawingml/2006/main">
            <a:pPr algn="l">
              <a:lnSpc>
                <a:spcPct val="112000"/>
              </a:lnSpc>
              <a:buNone/>
              <a:defRPr sz="1538" b="0">
                <a:solidFill>
                  <a:srgbClr val="F4F4F4"/>
                </a:solidFill>
                <a:latin typeface="Consolas"/>
                <a:ea typeface="Consolas"/>
                <a:cs typeface="Consolas"/>
              </a:defRPr>
            </a:pPr>
            <a:r>
              <a:rPr sz="1538" b="0">
                <a:solidFill>
                  <a:srgbClr val="F4F4F4"/>
                </a:solidFill>
                <a:latin typeface="Consolas"/>
                <a:ea typeface="Consolas"/>
                <a:cs typeface="Consolas"/>
              </a:rPr>
              <a:t>    ].active_party = party;</a:t>
            </a:r>
          </a:p>
          <a:p xmlns:a="http://schemas.openxmlformats.org/drawingml/2006/main">
            <a:pPr algn="l">
              <a:lnSpc>
                <a:spcPct val="112000"/>
              </a:lnSpc>
              <a:buNone/>
              <a:defRPr sz="1538" b="0">
                <a:solidFill>
                  <a:srgbClr val="F4F4F4"/>
                </a:solidFill>
                <a:latin typeface="Consolas"/>
                <a:ea typeface="Consolas"/>
                <a:cs typeface="Consolas"/>
              </a:defRPr>
            </a:pPr>
            <a:r>
              <a:rPr sz="1538" b="0">
                <a:solidFill>
                  <a:srgbClr val="F4F4F4"/>
                </a:solidFill>
                <a:latin typeface="Consolas"/>
                <a:ea typeface="Consolas"/>
                <a:cs typeface="Consolas"/>
              </a:rPr>
              <a:t>    observe(Event::started,</a:t>
            </a:r>
          </a:p>
          <a:p xmlns:a="http://schemas.openxmlformats.org/drawingml/2006/main">
            <a:pPr algn="l">
              <a:lnSpc>
                <a:spcPct val="112000"/>
              </a:lnSpc>
              <a:buNone/>
              <a:defRPr sz="1538" b="0">
                <a:solidFill>
                  <a:srgbClr val="F4F4F4"/>
                </a:solidFill>
                <a:latin typeface="Consolas"/>
                <a:ea typeface="Consolas"/>
                <a:cs typeface="Consolas"/>
              </a:defRPr>
            </a:pPr>
            <a:r>
              <a:rPr sz="1538" b="0">
                <a:solidFill>
                  <a:srgbClr val="F4F4F4"/>
                </a:solidFill>
                <a:latin typeface="Consolas"/>
                <a:ea typeface="Consolas"/>
                <a:cs typeface="Consolas"/>
              </a:rPr>
              <a:t>            index + 1, party);</a:t>
            </a:r>
          </a:p>
          <a:p xmlns:a="http://schemas.openxmlformats.org/drawingml/2006/main">
            <a:pPr algn="l">
              <a:lnSpc>
                <a:spcPct val="112000"/>
              </a:lnSpc>
              <a:buNone/>
              <a:defRPr sz="1538" b="0">
                <a:solidFill>
                  <a:srgbClr val="F4F4F4"/>
                </a:solidFill>
                <a:latin typeface="Consolas"/>
                <a:ea typeface="Consolas"/>
                <a:cs typeface="Consolas"/>
              </a:defRPr>
            </a:pPr>
            <a:r>
              <a:rPr sz="1538" b="0">
                <a:solidFill>
                  <a:srgbClr val="F4F4F4"/>
                </a:solidFill>
                <a:latin typeface="Consolas"/>
                <a:ea typeface="Consolas"/>
                <a:cs typeface="Consolas"/>
              </a:rPr>
              <a:t>}</a:t>
            </a:r>
          </a:p>
        </p:txBody>
      </p:sp>
      <p:sp>
        <p:nvSpPr>
          <p:cNvPr id="9" name="code-42">
            <a:extLst xmlns:a="http://schemas.openxmlformats.org/drawingml/2006/main">
              <a:ext uri="{FF2B5EF4-FFF2-40B4-BE49-F238E27FC236}">
                <a16:creationId xmlns:a16="http://schemas.microsoft.com/office/drawing/2014/main" id="{31A1AF4B-4FE4-4532-BBB3-5041A3F86587}"/>
              </a:ext>
            </a:extLst>
          </p:cNvPr>
          <p:cNvSpPr>
            <a:spLocks xmlns:a="http://schemas.openxmlformats.org/drawingml/2006/main" noGrp="1"/>
          </p:cNvSpPr>
          <p:nvPr/>
        </p:nvSpPr>
        <p:spPr>
          <a:xfrm xmlns:a="http://schemas.openxmlformats.org/drawingml/2006/main">
            <a:off x="533400" y="5143500"/>
            <a:ext cx="11125200" cy="666750"/>
          </a:xfrm>
          <a:prstGeom xmlns:a="http://schemas.openxmlformats.org/drawingml/2006/main" prst="rect">
            <a:avLst/>
          </a:prstGeom>
          <a:solidFill xmlns:a="http://schemas.openxmlformats.org/drawingml/2006/main">
            <a:srgbClr val="17211C"/>
          </a:solidFill>
          <a:ln xmlns:a="http://schemas.openxmlformats.org/drawingml/2006/main" w="0">
            <a:noFill/>
          </a:ln>
        </p:spPr>
        <p:txBody>
          <a:bodyPr xmlns:a="http://schemas.openxmlformats.org/drawingml/2006/main" wrap="square" lIns="152400" tIns="152400" rIns="152400" bIns="152400" anchor="t">
            <a:noAutofit/>
          </a:bodyPr>
          <a:lstStyle xmlns:a="http://schemas.openxmlformats.org/drawingml/2006/main">
            <a:defPPr algn="l">
              <a:defRPr sz="1800" b="0">
                <a:solidFill>
                  <a:srgbClr val="F4F4F4"/>
                </a:solidFill>
                <a:latin typeface="Consolas"/>
                <a:ea typeface="Consolas"/>
                <a:cs typeface="Consolas"/>
              </a:defRPr>
            </a:defPPr>
            <a:lvl1pPr algn="l">
              <a:defRPr sz="1800" b="0">
                <a:solidFill>
                  <a:srgbClr val="F4F4F4"/>
                </a:solidFill>
                <a:latin typeface="Consolas"/>
                <a:ea typeface="Consolas"/>
                <a:cs typeface="Consolas"/>
              </a:defRPr>
            </a:lvl1pPr>
            <a:lvl2pPr algn="l">
              <a:defRPr sz="1800" b="0">
                <a:solidFill>
                  <a:srgbClr val="F4F4F4"/>
                </a:solidFill>
                <a:latin typeface="Consolas"/>
                <a:ea typeface="Consolas"/>
                <a:cs typeface="Consolas"/>
              </a:defRPr>
            </a:lvl2pPr>
            <a:lvl3pPr algn="l">
              <a:defRPr sz="1800" b="0">
                <a:solidFill>
                  <a:srgbClr val="F4F4F4"/>
                </a:solidFill>
                <a:latin typeface="Consolas"/>
                <a:ea typeface="Consolas"/>
                <a:cs typeface="Consolas"/>
              </a:defRPr>
            </a:lvl3pPr>
            <a:lvl4pPr algn="l">
              <a:defRPr sz="1800" b="0">
                <a:solidFill>
                  <a:srgbClr val="F4F4F4"/>
                </a:solidFill>
                <a:latin typeface="Consolas"/>
                <a:ea typeface="Consolas"/>
                <a:cs typeface="Consolas"/>
              </a:defRPr>
            </a:lvl4pPr>
            <a:lvl5pPr algn="l">
              <a:defRPr sz="1800" b="0">
                <a:solidFill>
                  <a:srgbClr val="F4F4F4"/>
                </a:solidFill>
                <a:latin typeface="Consolas"/>
                <a:ea typeface="Consolas"/>
                <a:cs typeface="Consolas"/>
              </a:defRPr>
            </a:lvl5pPr>
            <a:lvl6pPr algn="l">
              <a:defRPr sz="1800" b="0">
                <a:solidFill>
                  <a:srgbClr val="F4F4F4"/>
                </a:solidFill>
                <a:latin typeface="Consolas"/>
                <a:ea typeface="Consolas"/>
                <a:cs typeface="Consolas"/>
              </a:defRPr>
            </a:lvl6pPr>
            <a:lvl7pPr algn="l">
              <a:defRPr sz="1800" b="0">
                <a:solidFill>
                  <a:srgbClr val="F4F4F4"/>
                </a:solidFill>
                <a:latin typeface="Consolas"/>
                <a:ea typeface="Consolas"/>
                <a:cs typeface="Consolas"/>
              </a:defRPr>
            </a:lvl7pPr>
            <a:lvl8pPr algn="l">
              <a:defRPr sz="1800" b="0">
                <a:solidFill>
                  <a:srgbClr val="F4F4F4"/>
                </a:solidFill>
                <a:latin typeface="Consolas"/>
                <a:ea typeface="Consolas"/>
                <a:cs typeface="Consolas"/>
              </a:defRPr>
            </a:lvl8pPr>
            <a:lvl9pPr algn="l">
              <a:defRPr sz="1800" b="0">
                <a:solidFill>
                  <a:srgbClr val="F4F4F4"/>
                </a:solidFill>
                <a:latin typeface="Consolas"/>
                <a:ea typeface="Consolas"/>
                <a:cs typeface="Consolas"/>
              </a:defRPr>
            </a:lvl9pPr>
          </a:lstStyle>
          <a:p xmlns:a="http://schemas.openxmlformats.org/drawingml/2006/main">
            <a:pPr algn="l">
              <a:lnSpc>
                <a:spcPct val="112000"/>
              </a:lnSpc>
              <a:buNone/>
              <a:defRPr sz="1800" b="0">
                <a:solidFill>
                  <a:srgbClr val="F4F4F4"/>
                </a:solidFill>
                <a:latin typeface="Consolas"/>
                <a:ea typeface="Consolas"/>
                <a:cs typeface="Consolas"/>
              </a:defRPr>
            </a:pPr>
            <a:r>
              <a:rPr sz="1800" b="0">
                <a:solidFill>
                  <a:srgbClr val="F4F4F4"/>
                </a:solidFill>
                <a:latin typeface="Consolas"/>
                <a:ea typeface="Consolas"/>
                <a:cs typeface="Consolas"/>
              </a:rPr>
              <a:t>sleep(std::chrono::seconds(party-&gt;duration_seconds));</a:t>
            </a:r>
          </a:p>
        </p:txBody>
      </p:sp>
      <p:sp>
        <p:nvSpPr>
          <p:cNvPr id="10" name="text-43">
            <a:extLst xmlns:a="http://schemas.openxmlformats.org/drawingml/2006/main">
              <a:ext uri="{FF2B5EF4-FFF2-40B4-BE49-F238E27FC236}">
                <a16:creationId xmlns:a16="http://schemas.microsoft.com/office/drawing/2014/main" id="{18CDCCD5-B581-463B-93E9-1DCC05A35555}"/>
              </a:ext>
            </a:extLst>
          </p:cNvPr>
          <p:cNvSpPr>
            <a:spLocks xmlns:a="http://schemas.openxmlformats.org/drawingml/2006/main" noGrp="1"/>
          </p:cNvSpPr>
          <p:nvPr/>
        </p:nvSpPr>
        <p:spPr>
          <a:xfrm xmlns:a="http://schemas.openxmlformats.org/drawingml/2006/main">
            <a:off x="533400" y="5953125"/>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51515"/>
                </a:solidFill>
                <a:latin typeface="Times New Roman"/>
                <a:ea typeface="Times New Roman"/>
                <a:cs typeface="Times New Roman"/>
              </a:defRPr>
            </a:defPPr>
            <a:lvl1pPr algn="l">
              <a:defRPr sz="1875" b="0">
                <a:solidFill>
                  <a:srgbClr val="151515"/>
                </a:solidFill>
                <a:latin typeface="Times New Roman"/>
                <a:ea typeface="Times New Roman"/>
                <a:cs typeface="Times New Roman"/>
              </a:defRPr>
            </a:lvl1pPr>
            <a:lvl2pPr algn="l">
              <a:defRPr sz="1875" b="0">
                <a:solidFill>
                  <a:srgbClr val="151515"/>
                </a:solidFill>
                <a:latin typeface="Times New Roman"/>
                <a:ea typeface="Times New Roman"/>
                <a:cs typeface="Times New Roman"/>
              </a:defRPr>
            </a:lvl2pPr>
            <a:lvl3pPr algn="l">
              <a:defRPr sz="1875" b="0">
                <a:solidFill>
                  <a:srgbClr val="151515"/>
                </a:solidFill>
                <a:latin typeface="Times New Roman"/>
                <a:ea typeface="Times New Roman"/>
                <a:cs typeface="Times New Roman"/>
              </a:defRPr>
            </a:lvl3pPr>
            <a:lvl4pPr algn="l">
              <a:defRPr sz="1875" b="0">
                <a:solidFill>
                  <a:srgbClr val="151515"/>
                </a:solidFill>
                <a:latin typeface="Times New Roman"/>
                <a:ea typeface="Times New Roman"/>
                <a:cs typeface="Times New Roman"/>
              </a:defRPr>
            </a:lvl4pPr>
            <a:lvl5pPr algn="l">
              <a:defRPr sz="1875" b="0">
                <a:solidFill>
                  <a:srgbClr val="151515"/>
                </a:solidFill>
                <a:latin typeface="Times New Roman"/>
                <a:ea typeface="Times New Roman"/>
                <a:cs typeface="Times New Roman"/>
              </a:defRPr>
            </a:lvl5pPr>
            <a:lvl6pPr algn="l">
              <a:defRPr sz="1875" b="0">
                <a:solidFill>
                  <a:srgbClr val="151515"/>
                </a:solidFill>
                <a:latin typeface="Times New Roman"/>
                <a:ea typeface="Times New Roman"/>
                <a:cs typeface="Times New Roman"/>
              </a:defRPr>
            </a:lvl6pPr>
            <a:lvl7pPr algn="l">
              <a:defRPr sz="1875" b="0">
                <a:solidFill>
                  <a:srgbClr val="151515"/>
                </a:solidFill>
                <a:latin typeface="Times New Roman"/>
                <a:ea typeface="Times New Roman"/>
                <a:cs typeface="Times New Roman"/>
              </a:defRPr>
            </a:lvl7pPr>
            <a:lvl8pPr algn="l">
              <a:defRPr sz="1875" b="0">
                <a:solidFill>
                  <a:srgbClr val="151515"/>
                </a:solidFill>
                <a:latin typeface="Times New Roman"/>
                <a:ea typeface="Times New Roman"/>
                <a:cs typeface="Times New Roman"/>
              </a:defRPr>
            </a:lvl8pPr>
            <a:lvl9pPr algn="l">
              <a:defRPr sz="1875" b="0">
                <a:solidFill>
                  <a:srgbClr val="151515"/>
                </a:solidFill>
                <a:latin typeface="Times New Roman"/>
                <a:ea typeface="Times New Roman"/>
                <a:cs typeface="Times New Roman"/>
              </a:defRPr>
            </a:lvl9pPr>
          </a:lstStyle>
          <a:p xmlns:a="http://schemas.openxmlformats.org/drawingml/2006/main">
            <a:pPr algn="l">
              <a:lnSpc>
                <a:spcPct val="112000"/>
              </a:lnSpc>
              <a:buNone/>
              <a:defRPr sz="1875" b="0">
                <a:solidFill>
                  <a:srgbClr val="151515"/>
                </a:solidFill>
                <a:latin typeface="Times New Roman"/>
                <a:ea typeface="Times New Roman"/>
                <a:cs typeface="Times New Roman"/>
              </a:defRPr>
            </a:pPr>
            <a:r>
              <a:rPr sz="1875" b="0">
                <a:solidFill>
                  <a:srgbClr val="151515"/>
                </a:solidFill>
                <a:latin typeface="Times New Roman"/>
                <a:ea typeface="Times New Roman"/>
                <a:cs typeface="Times New Roman"/>
              </a:rPr>
              <a:t>Separate lock scopes. Automatic release. No mutex during dungeon sleep.</a:t>
            </a:r>
          </a:p>
        </p:txBody>
      </p:sp>
    </p:spTree>
    <p:extLst>
      <p:ext uri="{BB962C8B-B14F-4D97-AF65-F5344CB8AC3E}">
        <p14:creationId xmlns:p14="http://schemas.microsoft.com/office/powerpoint/2010/main" val="7970977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499CC787-BC9C-4D03-9DF1-455A575CA0D0}"/>
              </a:ext>
            </a:extLst>
          </p:cNvPr>
          <p:cNvSpPr>
            <a:spLocks xmlns:a="http://schemas.openxmlformats.org/drawingml/2006/main" noGrp="1"/>
          </p:cNvSpPr>
          <p:nvPr/>
        </p:nvSpPr>
        <p:spPr>
          <a:xfrm xmlns:a="http://schemas.openxmlformats.org/drawingml/2006/main">
            <a:off x="533400" y="361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51515"/>
                </a:solidFill>
                <a:latin typeface="Times New Roman"/>
                <a:ea typeface="Times New Roman"/>
                <a:cs typeface="Times New Roman"/>
              </a:defRPr>
            </a:defPPr>
            <a:lvl1pPr algn="l">
              <a:defRPr sz="3300" b="0">
                <a:solidFill>
                  <a:srgbClr val="151515"/>
                </a:solidFill>
                <a:latin typeface="Times New Roman"/>
                <a:ea typeface="Times New Roman"/>
                <a:cs typeface="Times New Roman"/>
              </a:defRPr>
            </a:lvl1pPr>
            <a:lvl2pPr algn="l">
              <a:defRPr sz="3300" b="0">
                <a:solidFill>
                  <a:srgbClr val="151515"/>
                </a:solidFill>
                <a:latin typeface="Times New Roman"/>
                <a:ea typeface="Times New Roman"/>
                <a:cs typeface="Times New Roman"/>
              </a:defRPr>
            </a:lvl2pPr>
            <a:lvl3pPr algn="l">
              <a:defRPr sz="3300" b="0">
                <a:solidFill>
                  <a:srgbClr val="151515"/>
                </a:solidFill>
                <a:latin typeface="Times New Roman"/>
                <a:ea typeface="Times New Roman"/>
                <a:cs typeface="Times New Roman"/>
              </a:defRPr>
            </a:lvl3pPr>
            <a:lvl4pPr algn="l">
              <a:defRPr sz="3300" b="0">
                <a:solidFill>
                  <a:srgbClr val="151515"/>
                </a:solidFill>
                <a:latin typeface="Times New Roman"/>
                <a:ea typeface="Times New Roman"/>
                <a:cs typeface="Times New Roman"/>
              </a:defRPr>
            </a:lvl4pPr>
            <a:lvl5pPr algn="l">
              <a:defRPr sz="3300" b="0">
                <a:solidFill>
                  <a:srgbClr val="151515"/>
                </a:solidFill>
                <a:latin typeface="Times New Roman"/>
                <a:ea typeface="Times New Roman"/>
                <a:cs typeface="Times New Roman"/>
              </a:defRPr>
            </a:lvl5pPr>
            <a:lvl6pPr algn="l">
              <a:defRPr sz="3300" b="0">
                <a:solidFill>
                  <a:srgbClr val="151515"/>
                </a:solidFill>
                <a:latin typeface="Times New Roman"/>
                <a:ea typeface="Times New Roman"/>
                <a:cs typeface="Times New Roman"/>
              </a:defRPr>
            </a:lvl6pPr>
            <a:lvl7pPr algn="l">
              <a:defRPr sz="3300" b="0">
                <a:solidFill>
                  <a:srgbClr val="151515"/>
                </a:solidFill>
                <a:latin typeface="Times New Roman"/>
                <a:ea typeface="Times New Roman"/>
                <a:cs typeface="Times New Roman"/>
              </a:defRPr>
            </a:lvl7pPr>
            <a:lvl8pPr algn="l">
              <a:defRPr sz="3300" b="0">
                <a:solidFill>
                  <a:srgbClr val="151515"/>
                </a:solidFill>
                <a:latin typeface="Times New Roman"/>
                <a:ea typeface="Times New Roman"/>
                <a:cs typeface="Times New Roman"/>
              </a:defRPr>
            </a:lvl8pPr>
            <a:lvl9pPr algn="l">
              <a:defRPr sz="3300" b="0">
                <a:solidFill>
                  <a:srgbClr val="151515"/>
                </a:solidFill>
                <a:latin typeface="Times New Roman"/>
                <a:ea typeface="Times New Roman"/>
                <a:cs typeface="Times New Roman"/>
              </a:defRPr>
            </a:lvl9pPr>
          </a:lstStyle>
          <a:p xmlns:a="http://schemas.openxmlformats.org/drawingml/2006/main">
            <a:pPr algn="l">
              <a:lnSpc>
                <a:spcPct val="112000"/>
              </a:lnSpc>
              <a:buNone/>
              <a:defRPr sz="3300" b="0">
                <a:solidFill>
                  <a:srgbClr val="151515"/>
                </a:solidFill>
                <a:latin typeface="Times New Roman"/>
                <a:ea typeface="Times New Roman"/>
                <a:cs typeface="Times New Roman"/>
              </a:defRPr>
            </a:pPr>
            <a:r>
              <a:rPr sz="3300" b="0">
                <a:solidFill>
                  <a:srgbClr val="151515"/>
                </a:solidFill>
                <a:latin typeface="Times New Roman"/>
                <a:ea typeface="Times New Roman"/>
                <a:cs typeface="Times New Roman"/>
              </a:rPr>
              <a:t>Possible Deadlocks</a:t>
            </a:r>
          </a:p>
        </p:txBody>
      </p:sp>
      <p:pic>
        <p:nvPicPr>
          <p:cNvPr id="3" name="">
            <a:extLst xmlns:a="http://schemas.openxmlformats.org/drawingml/2006/main">
              <a:ext uri="{FF2B5EF4-FFF2-40B4-BE49-F238E27FC236}">
                <a16:creationId xmlns:a16="http://schemas.microsoft.com/office/drawing/2014/main" id="{5E179CB8-DCB9-429E-A1F4-04F20FD104BF}"/>
              </a:ext>
            </a:extLst>
          </p:cNvPr>
          <p:cNvPicPr>
            <a:picLocks xmlns:a="http://schemas.openxmlformats.org/drawingml/2006/main" noChangeAspect="1"/>
          </p:cNvPicPr>
          <p:nvPr/>
        </p:nvPicPr>
        <p:blipFill>
          <a:blip xmlns:r="http://schemas.openxmlformats.org/officeDocument/2006/relationships" xmlns:a="http://schemas.openxmlformats.org/drawingml/2006/main" r:embed="R03e8bf59645444c0"/>
          <a:stretch xmlns:a="http://schemas.openxmlformats.org/drawingml/2006/main"/>
        </p:blipFill>
        <p:spPr>
          <a:xfrm xmlns:a="http://schemas.openxmlformats.org/drawingml/2006/main">
            <a:off x="11458575" y="6238875"/>
            <a:ext cx="419100" cy="419100"/>
          </a:xfrm>
          <a:prstGeom xmlns:a="http://schemas.openxmlformats.org/drawingml/2006/main" prst="rect">
            <a:avLst/>
          </a:prstGeom>
        </p:spPr>
      </p:pic>
      <p:sp>
        <p:nvSpPr>
          <p:cNvPr id="4" name="text-44">
            <a:extLst xmlns:a="http://schemas.openxmlformats.org/drawingml/2006/main">
              <a:ext uri="{FF2B5EF4-FFF2-40B4-BE49-F238E27FC236}">
                <a16:creationId xmlns:a16="http://schemas.microsoft.com/office/drawing/2014/main" id="{E630C098-DC47-4CE7-91AB-FC017411EF58}"/>
              </a:ext>
            </a:extLst>
          </p:cNvPr>
          <p:cNvSpPr>
            <a:spLocks xmlns:a="http://schemas.openxmlformats.org/drawingml/2006/main" noGrp="1"/>
          </p:cNvSpPr>
          <p:nvPr/>
        </p:nvSpPr>
        <p:spPr>
          <a:xfrm xmlns:a="http://schemas.openxmlformats.org/drawingml/2006/main">
            <a:off x="533400" y="64484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87644"/>
                </a:solidFill>
                <a:latin typeface="Times New Roman"/>
                <a:ea typeface="Times New Roman"/>
                <a:cs typeface="Times New Roman"/>
              </a:defRPr>
            </a:defPPr>
            <a:lvl1pPr algn="l">
              <a:defRPr sz="1275" b="0">
                <a:solidFill>
                  <a:srgbClr val="087644"/>
                </a:solidFill>
                <a:latin typeface="Times New Roman"/>
                <a:ea typeface="Times New Roman"/>
                <a:cs typeface="Times New Roman"/>
              </a:defRPr>
            </a:lvl1pPr>
            <a:lvl2pPr algn="l">
              <a:defRPr sz="1275" b="0">
                <a:solidFill>
                  <a:srgbClr val="087644"/>
                </a:solidFill>
                <a:latin typeface="Times New Roman"/>
                <a:ea typeface="Times New Roman"/>
                <a:cs typeface="Times New Roman"/>
              </a:defRPr>
            </a:lvl2pPr>
            <a:lvl3pPr algn="l">
              <a:defRPr sz="1275" b="0">
                <a:solidFill>
                  <a:srgbClr val="087644"/>
                </a:solidFill>
                <a:latin typeface="Times New Roman"/>
                <a:ea typeface="Times New Roman"/>
                <a:cs typeface="Times New Roman"/>
              </a:defRPr>
            </a:lvl3pPr>
            <a:lvl4pPr algn="l">
              <a:defRPr sz="1275" b="0">
                <a:solidFill>
                  <a:srgbClr val="087644"/>
                </a:solidFill>
                <a:latin typeface="Times New Roman"/>
                <a:ea typeface="Times New Roman"/>
                <a:cs typeface="Times New Roman"/>
              </a:defRPr>
            </a:lvl4pPr>
            <a:lvl5pPr algn="l">
              <a:defRPr sz="1275" b="0">
                <a:solidFill>
                  <a:srgbClr val="087644"/>
                </a:solidFill>
                <a:latin typeface="Times New Roman"/>
                <a:ea typeface="Times New Roman"/>
                <a:cs typeface="Times New Roman"/>
              </a:defRPr>
            </a:lvl5pPr>
            <a:lvl6pPr algn="l">
              <a:defRPr sz="1275" b="0">
                <a:solidFill>
                  <a:srgbClr val="087644"/>
                </a:solidFill>
                <a:latin typeface="Times New Roman"/>
                <a:ea typeface="Times New Roman"/>
                <a:cs typeface="Times New Roman"/>
              </a:defRPr>
            </a:lvl6pPr>
            <a:lvl7pPr algn="l">
              <a:defRPr sz="1275" b="0">
                <a:solidFill>
                  <a:srgbClr val="087644"/>
                </a:solidFill>
                <a:latin typeface="Times New Roman"/>
                <a:ea typeface="Times New Roman"/>
                <a:cs typeface="Times New Roman"/>
              </a:defRPr>
            </a:lvl7pPr>
            <a:lvl8pPr algn="l">
              <a:defRPr sz="1275" b="0">
                <a:solidFill>
                  <a:srgbClr val="087644"/>
                </a:solidFill>
                <a:latin typeface="Times New Roman"/>
                <a:ea typeface="Times New Roman"/>
                <a:cs typeface="Times New Roman"/>
              </a:defRPr>
            </a:lvl8pPr>
            <a:lvl9pPr algn="l">
              <a:defRPr sz="1275" b="0">
                <a:solidFill>
                  <a:srgbClr val="087644"/>
                </a:solidFill>
                <a:latin typeface="Times New Roman"/>
                <a:ea typeface="Times New Roman"/>
                <a:cs typeface="Times New Roman"/>
              </a:defRPr>
            </a:lvl9pPr>
          </a:lstStyle>
          <a:p xmlns:a="http://schemas.openxmlformats.org/drawingml/2006/main">
            <a:pPr algn="l">
              <a:lnSpc>
                <a:spcPct val="112000"/>
              </a:lnSpc>
              <a:buNone/>
              <a:defRPr sz="1275" b="0">
                <a:solidFill>
                  <a:srgbClr val="087644"/>
                </a:solidFill>
                <a:latin typeface="Times New Roman"/>
                <a:ea typeface="Times New Roman"/>
                <a:cs typeface="Times New Roman"/>
              </a:defRPr>
            </a:pPr>
            <a:r>
              <a:rPr sz="1275" b="0">
                <a:solidFill>
                  <a:srgbClr val="087644"/>
                </a:solidFill>
                <a:latin typeface="Times New Roman"/>
                <a:ea typeface="Times New Roman"/>
                <a:cs typeface="Times New Roman"/>
              </a:rPr>
              <a:t>10</a:t>
            </a:r>
          </a:p>
        </p:txBody>
      </p:sp>
      <p:sp>
        <p:nvSpPr>
          <p:cNvPr id="5" name="text-45">
            <a:extLst xmlns:a="http://schemas.openxmlformats.org/drawingml/2006/main">
              <a:ext uri="{FF2B5EF4-FFF2-40B4-BE49-F238E27FC236}">
                <a16:creationId xmlns:a16="http://schemas.microsoft.com/office/drawing/2014/main" id="{A41B65A1-9B2B-4F9B-8E7B-7A6EEA064704}"/>
              </a:ext>
            </a:extLst>
          </p:cNvPr>
          <p:cNvSpPr>
            <a:spLocks xmlns:a="http://schemas.openxmlformats.org/drawingml/2006/main" noGrp="1"/>
          </p:cNvSpPr>
          <p:nvPr/>
        </p:nvSpPr>
        <p:spPr>
          <a:xfrm xmlns:a="http://schemas.openxmlformats.org/drawingml/2006/main">
            <a:off x="533400" y="133350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Hypothetical fault: opposite lock order</a:t>
            </a:r>
          </a:p>
        </p:txBody>
      </p:sp>
      <p:graphicFrame>
        <p:nvGraphicFramePr>
          <p:cNvPr id="6" name="">
            <a:extLst xmlns:a="http://schemas.openxmlformats.org/drawingml/2006/main">
              <a:ext uri="{FF2B5EF4-FFF2-40B4-BE49-F238E27FC236}">
                <a16:creationId xmlns:a16="http://schemas.microsoft.com/office/drawing/2014/main" id="{129407F6-EEFE-4C2E-B880-F3E6D215BB9F}"/>
              </a:ext>
            </a:extLst>
          </p:cNvPr>
          <p:cNvGraphicFramePr/>
          <p:nvPr/>
        </p:nvGraphicFramePr>
        <p:xfrm>
          <a:off xmlns:a="http://schemas.openxmlformats.org/drawingml/2006/main" x="533400" y="1857375"/>
          <a:ext xmlns:a="http://schemas.openxmlformats.org/drawingml/2006/main" cx="11125200" cy="1714500"/>
        </p:xfrm>
        <a:graphic xmlns:a="http://schemas.openxmlformats.org/drawingml/2006/main">
          <a:graphicData uri="http://schemas.openxmlformats.org/drawingml/2006/table">
            <a:tbl>
              <a:tblPr firstRow="0" bandRow="0"/>
              <a:tblGrid>
                <a:gridCol w="5562600"/>
                <a:gridCol w="5562600"/>
              </a:tblGrid>
              <a:tr h="571500">
                <a:tc>
                  <a:txBody>
                    <a:bodyPr wrap="square" lIns="133350" tIns="95250" rIns="133350" bIns="95250"/>
                    <a:lstStyle/>
                    <a:p>
                      <a:r>
                        <a:rPr sz="2100" b="1">
                          <a:solidFill>
                            <a:srgbClr val="087644"/>
                          </a:solidFill>
                          <a:latin typeface="Times New Roman"/>
                          <a:ea typeface="Times New Roman"/>
                          <a:cs typeface="Times New Roman"/>
                        </a:rPr>
                        <a:t>Worker A</a:t>
                      </a:r>
                    </a:p>
                  </a:txBody>
                  <a:tcPr marL="91440" marR="91440" marT="45720" marB="45720" anchor="ctr">
                    <a:lnL w="6668">
                      <a:solidFill>
                        <a:srgbClr val="9EAAA3"/>
                      </a:solidFill>
                      <a:prstDash val="solid"/>
                    </a:lnL>
                    <a:lnR w="6668">
                      <a:solidFill>
                        <a:srgbClr val="9EAAA3"/>
                      </a:solidFill>
                      <a:prstDash val="solid"/>
                    </a:lnR>
                    <a:lnT w="6668">
                      <a:solidFill>
                        <a:srgbClr val="9EAAA3"/>
                      </a:solidFill>
                      <a:prstDash val="solid"/>
                    </a:lnT>
                    <a:lnB w="6668">
                      <a:solidFill>
                        <a:srgbClr val="9EAAA3"/>
                      </a:solidFill>
                      <a:prstDash val="solid"/>
                    </a:lnB>
                    <a:solidFill>
                      <a:srgbClr val="E7F0EA"/>
                    </a:solidFill>
                  </a:tcPr>
                </a:tc>
                <a:tc>
                  <a:txBody>
                    <a:bodyPr wrap="square" lIns="133350" tIns="95250" rIns="133350" bIns="95250"/>
                    <a:lstStyle/>
                    <a:p>
                      <a:r>
                        <a:rPr sz="2100" b="1">
                          <a:solidFill>
                            <a:srgbClr val="087644"/>
                          </a:solidFill>
                          <a:latin typeface="Times New Roman"/>
                          <a:ea typeface="Times New Roman"/>
                          <a:cs typeface="Times New Roman"/>
                        </a:rPr>
                        <a:t>Worker B</a:t>
                      </a:r>
                    </a:p>
                  </a:txBody>
                  <a:tcPr marL="91440" marR="91440" marT="45720" marB="45720" anchor="ctr">
                    <a:lnR w="6668">
                      <a:solidFill>
                        <a:srgbClr val="9EAAA3"/>
                      </a:solidFill>
                      <a:prstDash val="solid"/>
                    </a:lnR>
                    <a:lnT w="6668">
                      <a:solidFill>
                        <a:srgbClr val="9EAAA3"/>
                      </a:solidFill>
                      <a:prstDash val="solid"/>
                    </a:lnT>
                    <a:lnB w="6668">
                      <a:solidFill>
                        <a:srgbClr val="9EAAA3"/>
                      </a:solidFill>
                      <a:prstDash val="solid"/>
                    </a:lnB>
                    <a:solidFill>
                      <a:srgbClr val="E7F0EA"/>
                    </a:solidFill>
                  </a:tcPr>
                </a:tc>
              </a:tr>
              <a:tr h="571500">
                <a:tc>
                  <a:txBody>
                    <a:bodyPr wrap="square" lIns="133350" tIns="95250" rIns="133350" bIns="95250"/>
                    <a:lstStyle/>
                    <a:p>
                      <a:r>
                        <a:rPr sz="2100" b="0">
                          <a:solidFill>
                            <a:srgbClr val="151515"/>
                          </a:solidFill>
                          <a:latin typeface="Times New Roman"/>
                          <a:ea typeface="Times New Roman"/>
                          <a:cs typeface="Times New Roman"/>
                        </a:rPr>
                        <a:t>Holds queue_mutex</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2100" b="0">
                          <a:solidFill>
                            <a:srgbClr val="151515"/>
                          </a:solidFill>
                          <a:latin typeface="Times New Roman"/>
                          <a:ea typeface="Times New Roman"/>
                          <a:cs typeface="Times New Roman"/>
                        </a:rPr>
                        <a:t>Holds status_mutex</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r h="571500">
                <a:tc>
                  <a:txBody>
                    <a:bodyPr wrap="square" lIns="133350" tIns="95250" rIns="133350" bIns="95250"/>
                    <a:lstStyle/>
                    <a:p>
                      <a:r>
                        <a:rPr sz="2100" b="0">
                          <a:solidFill>
                            <a:srgbClr val="151515"/>
                          </a:solidFill>
                          <a:latin typeface="Times New Roman"/>
                          <a:ea typeface="Times New Roman"/>
                          <a:cs typeface="Times New Roman"/>
                        </a:rPr>
                        <a:t>Waits for status_mutex</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2100" b="0">
                          <a:solidFill>
                            <a:srgbClr val="151515"/>
                          </a:solidFill>
                          <a:latin typeface="Times New Roman"/>
                          <a:ea typeface="Times New Roman"/>
                          <a:cs typeface="Times New Roman"/>
                        </a:rPr>
                        <a:t>Waits for queue_mutex</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bl>
          </a:graphicData>
        </a:graphic>
      </p:graphicFrame>
      <p:sp>
        <p:nvSpPr>
          <p:cNvPr id="7" name="text-46">
            <a:extLst xmlns:a="http://schemas.openxmlformats.org/drawingml/2006/main">
              <a:ext uri="{FF2B5EF4-FFF2-40B4-BE49-F238E27FC236}">
                <a16:creationId xmlns:a16="http://schemas.microsoft.com/office/drawing/2014/main" id="{B09A4FA0-27F7-4CC9-9FDB-2359308178C6}"/>
              </a:ext>
            </a:extLst>
          </p:cNvPr>
          <p:cNvSpPr>
            <a:spLocks xmlns:a="http://schemas.openxmlformats.org/drawingml/2006/main" noGrp="1"/>
          </p:cNvSpPr>
          <p:nvPr/>
        </p:nvSpPr>
        <p:spPr>
          <a:xfrm xmlns:a="http://schemas.openxmlformats.org/drawingml/2006/main">
            <a:off x="533400" y="373380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515"/>
                </a:solidFill>
                <a:latin typeface="Times New Roman"/>
                <a:ea typeface="Times New Roman"/>
                <a:cs typeface="Times New Roman"/>
              </a:defRPr>
            </a:defPPr>
            <a:lvl1pPr algn="l">
              <a:defRPr sz="2175" b="0">
                <a:solidFill>
                  <a:srgbClr val="151515"/>
                </a:solidFill>
                <a:latin typeface="Times New Roman"/>
                <a:ea typeface="Times New Roman"/>
                <a:cs typeface="Times New Roman"/>
              </a:defRPr>
            </a:lvl1pPr>
            <a:lvl2pPr algn="l">
              <a:defRPr sz="2175" b="0">
                <a:solidFill>
                  <a:srgbClr val="151515"/>
                </a:solidFill>
                <a:latin typeface="Times New Roman"/>
                <a:ea typeface="Times New Roman"/>
                <a:cs typeface="Times New Roman"/>
              </a:defRPr>
            </a:lvl2pPr>
            <a:lvl3pPr algn="l">
              <a:defRPr sz="2175" b="0">
                <a:solidFill>
                  <a:srgbClr val="151515"/>
                </a:solidFill>
                <a:latin typeface="Times New Roman"/>
                <a:ea typeface="Times New Roman"/>
                <a:cs typeface="Times New Roman"/>
              </a:defRPr>
            </a:lvl3pPr>
            <a:lvl4pPr algn="l">
              <a:defRPr sz="2175" b="0">
                <a:solidFill>
                  <a:srgbClr val="151515"/>
                </a:solidFill>
                <a:latin typeface="Times New Roman"/>
                <a:ea typeface="Times New Roman"/>
                <a:cs typeface="Times New Roman"/>
              </a:defRPr>
            </a:lvl4pPr>
            <a:lvl5pPr algn="l">
              <a:defRPr sz="2175" b="0">
                <a:solidFill>
                  <a:srgbClr val="151515"/>
                </a:solidFill>
                <a:latin typeface="Times New Roman"/>
                <a:ea typeface="Times New Roman"/>
                <a:cs typeface="Times New Roman"/>
              </a:defRPr>
            </a:lvl5pPr>
            <a:lvl6pPr algn="l">
              <a:defRPr sz="2175" b="0">
                <a:solidFill>
                  <a:srgbClr val="151515"/>
                </a:solidFill>
                <a:latin typeface="Times New Roman"/>
                <a:ea typeface="Times New Roman"/>
                <a:cs typeface="Times New Roman"/>
              </a:defRPr>
            </a:lvl6pPr>
            <a:lvl7pPr algn="l">
              <a:defRPr sz="2175" b="0">
                <a:solidFill>
                  <a:srgbClr val="151515"/>
                </a:solidFill>
                <a:latin typeface="Times New Roman"/>
                <a:ea typeface="Times New Roman"/>
                <a:cs typeface="Times New Roman"/>
              </a:defRPr>
            </a:lvl7pPr>
            <a:lvl8pPr algn="l">
              <a:defRPr sz="2175" b="0">
                <a:solidFill>
                  <a:srgbClr val="151515"/>
                </a:solidFill>
                <a:latin typeface="Times New Roman"/>
                <a:ea typeface="Times New Roman"/>
                <a:cs typeface="Times New Roman"/>
              </a:defRPr>
            </a:lvl8pPr>
            <a:lvl9pPr algn="l">
              <a:defRPr sz="2175" b="0">
                <a:solidFill>
                  <a:srgbClr val="151515"/>
                </a:solidFill>
                <a:latin typeface="Times New Roman"/>
                <a:ea typeface="Times New Roman"/>
                <a:cs typeface="Times New Roman"/>
              </a:defRPr>
            </a:lvl9pPr>
          </a:lstStyle>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Each worker waits for a lock held by the other.</a:t>
            </a:r>
          </a:p>
        </p:txBody>
      </p:sp>
      <p:sp>
        <p:nvSpPr>
          <p:cNvPr id="8" name="text-47">
            <a:extLst xmlns:a="http://schemas.openxmlformats.org/drawingml/2006/main">
              <a:ext uri="{FF2B5EF4-FFF2-40B4-BE49-F238E27FC236}">
                <a16:creationId xmlns:a16="http://schemas.microsoft.com/office/drawing/2014/main" id="{768531D3-BCF9-4BCA-A678-5A4A05ABE953}"/>
              </a:ext>
            </a:extLst>
          </p:cNvPr>
          <p:cNvSpPr>
            <a:spLocks xmlns:a="http://schemas.openxmlformats.org/drawingml/2006/main" noGrp="1"/>
          </p:cNvSpPr>
          <p:nvPr/>
        </p:nvSpPr>
        <p:spPr>
          <a:xfrm xmlns:a="http://schemas.openxmlformats.org/drawingml/2006/main">
            <a:off x="533400" y="447675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Hypothetical fault: incomplete shutdown</a:t>
            </a:r>
          </a:p>
        </p:txBody>
      </p:sp>
      <p:sp>
        <p:nvSpPr>
          <p:cNvPr id="9" name="text-48">
            <a:extLst xmlns:a="http://schemas.openxmlformats.org/drawingml/2006/main">
              <a:ext uri="{FF2B5EF4-FFF2-40B4-BE49-F238E27FC236}">
                <a16:creationId xmlns:a16="http://schemas.microsoft.com/office/drawing/2014/main" id="{847AEE98-09EB-440C-9942-AEF8D9ADD0BD}"/>
              </a:ext>
            </a:extLst>
          </p:cNvPr>
          <p:cNvSpPr>
            <a:spLocks xmlns:a="http://schemas.openxmlformats.org/drawingml/2006/main" noGrp="1"/>
          </p:cNvSpPr>
          <p:nvPr/>
        </p:nvSpPr>
        <p:spPr>
          <a:xfrm xmlns:a="http://schemas.openxmlformats.org/drawingml/2006/main">
            <a:off x="533400" y="4953000"/>
            <a:ext cx="11125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515"/>
                </a:solidFill>
                <a:latin typeface="Times New Roman"/>
                <a:ea typeface="Times New Roman"/>
                <a:cs typeface="Times New Roman"/>
              </a:defRPr>
            </a:defPPr>
            <a:lvl1pPr algn="l">
              <a:defRPr sz="2175" b="0">
                <a:solidFill>
                  <a:srgbClr val="151515"/>
                </a:solidFill>
                <a:latin typeface="Times New Roman"/>
                <a:ea typeface="Times New Roman"/>
                <a:cs typeface="Times New Roman"/>
              </a:defRPr>
            </a:lvl1pPr>
            <a:lvl2pPr algn="l">
              <a:defRPr sz="2175" b="0">
                <a:solidFill>
                  <a:srgbClr val="151515"/>
                </a:solidFill>
                <a:latin typeface="Times New Roman"/>
                <a:ea typeface="Times New Roman"/>
                <a:cs typeface="Times New Roman"/>
              </a:defRPr>
            </a:lvl2pPr>
            <a:lvl3pPr algn="l">
              <a:defRPr sz="2175" b="0">
                <a:solidFill>
                  <a:srgbClr val="151515"/>
                </a:solidFill>
                <a:latin typeface="Times New Roman"/>
                <a:ea typeface="Times New Roman"/>
                <a:cs typeface="Times New Roman"/>
              </a:defRPr>
            </a:lvl3pPr>
            <a:lvl4pPr algn="l">
              <a:defRPr sz="2175" b="0">
                <a:solidFill>
                  <a:srgbClr val="151515"/>
                </a:solidFill>
                <a:latin typeface="Times New Roman"/>
                <a:ea typeface="Times New Roman"/>
                <a:cs typeface="Times New Roman"/>
              </a:defRPr>
            </a:lvl4pPr>
            <a:lvl5pPr algn="l">
              <a:defRPr sz="2175" b="0">
                <a:solidFill>
                  <a:srgbClr val="151515"/>
                </a:solidFill>
                <a:latin typeface="Times New Roman"/>
                <a:ea typeface="Times New Roman"/>
                <a:cs typeface="Times New Roman"/>
              </a:defRPr>
            </a:lvl5pPr>
            <a:lvl6pPr algn="l">
              <a:defRPr sz="2175" b="0">
                <a:solidFill>
                  <a:srgbClr val="151515"/>
                </a:solidFill>
                <a:latin typeface="Times New Roman"/>
                <a:ea typeface="Times New Roman"/>
                <a:cs typeface="Times New Roman"/>
              </a:defRPr>
            </a:lvl6pPr>
            <a:lvl7pPr algn="l">
              <a:defRPr sz="2175" b="0">
                <a:solidFill>
                  <a:srgbClr val="151515"/>
                </a:solidFill>
                <a:latin typeface="Times New Roman"/>
                <a:ea typeface="Times New Roman"/>
                <a:cs typeface="Times New Roman"/>
              </a:defRPr>
            </a:lvl7pPr>
            <a:lvl8pPr algn="l">
              <a:defRPr sz="2175" b="0">
                <a:solidFill>
                  <a:srgbClr val="151515"/>
                </a:solidFill>
                <a:latin typeface="Times New Roman"/>
                <a:ea typeface="Times New Roman"/>
                <a:cs typeface="Times New Roman"/>
              </a:defRPr>
            </a:lvl8pPr>
            <a:lvl9pPr algn="l">
              <a:defRPr sz="2175" b="0">
                <a:solidFill>
                  <a:srgbClr val="151515"/>
                </a:solidFill>
                <a:latin typeface="Times New Roman"/>
                <a:ea typeface="Times New Roman"/>
                <a:cs typeface="Times New Roman"/>
              </a:defRPr>
            </a:lvl9pPr>
          </a:lstStyle>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No signaled shutdown markers: workers remain in acquire().</a:t>
            </a:r>
          </a:p>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Main then waits indefinitely in join().</a:t>
            </a:r>
          </a:p>
        </p:txBody>
      </p:sp>
    </p:spTree>
    <p:extLst>
      <p:ext uri="{BB962C8B-B14F-4D97-AF65-F5344CB8AC3E}">
        <p14:creationId xmlns:p14="http://schemas.microsoft.com/office/powerpoint/2010/main" val="45425719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88A670DF-EFAE-4F18-8FE6-ECE11721D728}"/>
              </a:ext>
            </a:extLst>
          </p:cNvPr>
          <p:cNvSpPr>
            <a:spLocks xmlns:a="http://schemas.openxmlformats.org/drawingml/2006/main" noGrp="1"/>
          </p:cNvSpPr>
          <p:nvPr/>
        </p:nvSpPr>
        <p:spPr>
          <a:xfrm xmlns:a="http://schemas.openxmlformats.org/drawingml/2006/main">
            <a:off x="533400" y="361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51515"/>
                </a:solidFill>
                <a:latin typeface="Times New Roman"/>
                <a:ea typeface="Times New Roman"/>
                <a:cs typeface="Times New Roman"/>
              </a:defRPr>
            </a:defPPr>
            <a:lvl1pPr algn="l">
              <a:defRPr sz="3300" b="0">
                <a:solidFill>
                  <a:srgbClr val="151515"/>
                </a:solidFill>
                <a:latin typeface="Times New Roman"/>
                <a:ea typeface="Times New Roman"/>
                <a:cs typeface="Times New Roman"/>
              </a:defRPr>
            </a:lvl1pPr>
            <a:lvl2pPr algn="l">
              <a:defRPr sz="3300" b="0">
                <a:solidFill>
                  <a:srgbClr val="151515"/>
                </a:solidFill>
                <a:latin typeface="Times New Roman"/>
                <a:ea typeface="Times New Roman"/>
                <a:cs typeface="Times New Roman"/>
              </a:defRPr>
            </a:lvl2pPr>
            <a:lvl3pPr algn="l">
              <a:defRPr sz="3300" b="0">
                <a:solidFill>
                  <a:srgbClr val="151515"/>
                </a:solidFill>
                <a:latin typeface="Times New Roman"/>
                <a:ea typeface="Times New Roman"/>
                <a:cs typeface="Times New Roman"/>
              </a:defRPr>
            </a:lvl3pPr>
            <a:lvl4pPr algn="l">
              <a:defRPr sz="3300" b="0">
                <a:solidFill>
                  <a:srgbClr val="151515"/>
                </a:solidFill>
                <a:latin typeface="Times New Roman"/>
                <a:ea typeface="Times New Roman"/>
                <a:cs typeface="Times New Roman"/>
              </a:defRPr>
            </a:lvl4pPr>
            <a:lvl5pPr algn="l">
              <a:defRPr sz="3300" b="0">
                <a:solidFill>
                  <a:srgbClr val="151515"/>
                </a:solidFill>
                <a:latin typeface="Times New Roman"/>
                <a:ea typeface="Times New Roman"/>
                <a:cs typeface="Times New Roman"/>
              </a:defRPr>
            </a:lvl5pPr>
            <a:lvl6pPr algn="l">
              <a:defRPr sz="3300" b="0">
                <a:solidFill>
                  <a:srgbClr val="151515"/>
                </a:solidFill>
                <a:latin typeface="Times New Roman"/>
                <a:ea typeface="Times New Roman"/>
                <a:cs typeface="Times New Roman"/>
              </a:defRPr>
            </a:lvl6pPr>
            <a:lvl7pPr algn="l">
              <a:defRPr sz="3300" b="0">
                <a:solidFill>
                  <a:srgbClr val="151515"/>
                </a:solidFill>
                <a:latin typeface="Times New Roman"/>
                <a:ea typeface="Times New Roman"/>
                <a:cs typeface="Times New Roman"/>
              </a:defRPr>
            </a:lvl7pPr>
            <a:lvl8pPr algn="l">
              <a:defRPr sz="3300" b="0">
                <a:solidFill>
                  <a:srgbClr val="151515"/>
                </a:solidFill>
                <a:latin typeface="Times New Roman"/>
                <a:ea typeface="Times New Roman"/>
                <a:cs typeface="Times New Roman"/>
              </a:defRPr>
            </a:lvl8pPr>
            <a:lvl9pPr algn="l">
              <a:defRPr sz="3300" b="0">
                <a:solidFill>
                  <a:srgbClr val="151515"/>
                </a:solidFill>
                <a:latin typeface="Times New Roman"/>
                <a:ea typeface="Times New Roman"/>
                <a:cs typeface="Times New Roman"/>
              </a:defRPr>
            </a:lvl9pPr>
          </a:lstStyle>
          <a:p xmlns:a="http://schemas.openxmlformats.org/drawingml/2006/main">
            <a:pPr algn="l">
              <a:lnSpc>
                <a:spcPct val="112000"/>
              </a:lnSpc>
              <a:buNone/>
              <a:defRPr sz="3300" b="0">
                <a:solidFill>
                  <a:srgbClr val="151515"/>
                </a:solidFill>
                <a:latin typeface="Times New Roman"/>
                <a:ea typeface="Times New Roman"/>
                <a:cs typeface="Times New Roman"/>
              </a:defRPr>
            </a:pPr>
            <a:r>
              <a:rPr sz="3300" b="0">
                <a:solidFill>
                  <a:srgbClr val="151515"/>
                </a:solidFill>
                <a:latin typeface="Times New Roman"/>
                <a:ea typeface="Times New Roman"/>
                <a:cs typeface="Times New Roman"/>
              </a:rPr>
              <a:t>Deadlock Prevention</a:t>
            </a:r>
          </a:p>
        </p:txBody>
      </p:sp>
      <p:pic>
        <p:nvPicPr>
          <p:cNvPr id="3" name="">
            <a:extLst xmlns:a="http://schemas.openxmlformats.org/drawingml/2006/main">
              <a:ext uri="{FF2B5EF4-FFF2-40B4-BE49-F238E27FC236}">
                <a16:creationId xmlns:a16="http://schemas.microsoft.com/office/drawing/2014/main" id="{24F90C5E-06F9-4475-AA79-234024B747B9}"/>
              </a:ext>
            </a:extLst>
          </p:cNvPr>
          <p:cNvPicPr>
            <a:picLocks xmlns:a="http://schemas.openxmlformats.org/drawingml/2006/main" noChangeAspect="1"/>
          </p:cNvPicPr>
          <p:nvPr/>
        </p:nvPicPr>
        <p:blipFill>
          <a:blip xmlns:r="http://schemas.openxmlformats.org/officeDocument/2006/relationships" xmlns:a="http://schemas.openxmlformats.org/drawingml/2006/main" r:embed="Rca71729c942a4539"/>
          <a:stretch xmlns:a="http://schemas.openxmlformats.org/drawingml/2006/main"/>
        </p:blipFill>
        <p:spPr>
          <a:xfrm xmlns:a="http://schemas.openxmlformats.org/drawingml/2006/main">
            <a:off x="11458575" y="6238875"/>
            <a:ext cx="419100" cy="419100"/>
          </a:xfrm>
          <a:prstGeom xmlns:a="http://schemas.openxmlformats.org/drawingml/2006/main" prst="rect">
            <a:avLst/>
          </a:prstGeom>
        </p:spPr>
      </p:pic>
      <p:sp>
        <p:nvSpPr>
          <p:cNvPr id="4" name="text-49">
            <a:extLst xmlns:a="http://schemas.openxmlformats.org/drawingml/2006/main">
              <a:ext uri="{FF2B5EF4-FFF2-40B4-BE49-F238E27FC236}">
                <a16:creationId xmlns:a16="http://schemas.microsoft.com/office/drawing/2014/main" id="{B2BBF700-CCFF-4C2A-9BE8-7E7307181AE4}"/>
              </a:ext>
            </a:extLst>
          </p:cNvPr>
          <p:cNvSpPr>
            <a:spLocks xmlns:a="http://schemas.openxmlformats.org/drawingml/2006/main" noGrp="1"/>
          </p:cNvSpPr>
          <p:nvPr/>
        </p:nvSpPr>
        <p:spPr>
          <a:xfrm xmlns:a="http://schemas.openxmlformats.org/drawingml/2006/main">
            <a:off x="533400" y="64484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87644"/>
                </a:solidFill>
                <a:latin typeface="Times New Roman"/>
                <a:ea typeface="Times New Roman"/>
                <a:cs typeface="Times New Roman"/>
              </a:defRPr>
            </a:defPPr>
            <a:lvl1pPr algn="l">
              <a:defRPr sz="1275" b="0">
                <a:solidFill>
                  <a:srgbClr val="087644"/>
                </a:solidFill>
                <a:latin typeface="Times New Roman"/>
                <a:ea typeface="Times New Roman"/>
                <a:cs typeface="Times New Roman"/>
              </a:defRPr>
            </a:lvl1pPr>
            <a:lvl2pPr algn="l">
              <a:defRPr sz="1275" b="0">
                <a:solidFill>
                  <a:srgbClr val="087644"/>
                </a:solidFill>
                <a:latin typeface="Times New Roman"/>
                <a:ea typeface="Times New Roman"/>
                <a:cs typeface="Times New Roman"/>
              </a:defRPr>
            </a:lvl2pPr>
            <a:lvl3pPr algn="l">
              <a:defRPr sz="1275" b="0">
                <a:solidFill>
                  <a:srgbClr val="087644"/>
                </a:solidFill>
                <a:latin typeface="Times New Roman"/>
                <a:ea typeface="Times New Roman"/>
                <a:cs typeface="Times New Roman"/>
              </a:defRPr>
            </a:lvl3pPr>
            <a:lvl4pPr algn="l">
              <a:defRPr sz="1275" b="0">
                <a:solidFill>
                  <a:srgbClr val="087644"/>
                </a:solidFill>
                <a:latin typeface="Times New Roman"/>
                <a:ea typeface="Times New Roman"/>
                <a:cs typeface="Times New Roman"/>
              </a:defRPr>
            </a:lvl4pPr>
            <a:lvl5pPr algn="l">
              <a:defRPr sz="1275" b="0">
                <a:solidFill>
                  <a:srgbClr val="087644"/>
                </a:solidFill>
                <a:latin typeface="Times New Roman"/>
                <a:ea typeface="Times New Roman"/>
                <a:cs typeface="Times New Roman"/>
              </a:defRPr>
            </a:lvl5pPr>
            <a:lvl6pPr algn="l">
              <a:defRPr sz="1275" b="0">
                <a:solidFill>
                  <a:srgbClr val="087644"/>
                </a:solidFill>
                <a:latin typeface="Times New Roman"/>
                <a:ea typeface="Times New Roman"/>
                <a:cs typeface="Times New Roman"/>
              </a:defRPr>
            </a:lvl6pPr>
            <a:lvl7pPr algn="l">
              <a:defRPr sz="1275" b="0">
                <a:solidFill>
                  <a:srgbClr val="087644"/>
                </a:solidFill>
                <a:latin typeface="Times New Roman"/>
                <a:ea typeface="Times New Roman"/>
                <a:cs typeface="Times New Roman"/>
              </a:defRPr>
            </a:lvl7pPr>
            <a:lvl8pPr algn="l">
              <a:defRPr sz="1275" b="0">
                <a:solidFill>
                  <a:srgbClr val="087644"/>
                </a:solidFill>
                <a:latin typeface="Times New Roman"/>
                <a:ea typeface="Times New Roman"/>
                <a:cs typeface="Times New Roman"/>
              </a:defRPr>
            </a:lvl8pPr>
            <a:lvl9pPr algn="l">
              <a:defRPr sz="1275" b="0">
                <a:solidFill>
                  <a:srgbClr val="087644"/>
                </a:solidFill>
                <a:latin typeface="Times New Roman"/>
                <a:ea typeface="Times New Roman"/>
                <a:cs typeface="Times New Roman"/>
              </a:defRPr>
            </a:lvl9pPr>
          </a:lstStyle>
          <a:p xmlns:a="http://schemas.openxmlformats.org/drawingml/2006/main">
            <a:pPr algn="l">
              <a:lnSpc>
                <a:spcPct val="112000"/>
              </a:lnSpc>
              <a:buNone/>
              <a:defRPr sz="1275" b="0">
                <a:solidFill>
                  <a:srgbClr val="087644"/>
                </a:solidFill>
                <a:latin typeface="Times New Roman"/>
                <a:ea typeface="Times New Roman"/>
                <a:cs typeface="Times New Roman"/>
              </a:defRPr>
            </a:pPr>
            <a:r>
              <a:rPr sz="1275" b="0">
                <a:solidFill>
                  <a:srgbClr val="087644"/>
                </a:solidFill>
                <a:latin typeface="Times New Roman"/>
                <a:ea typeface="Times New Roman"/>
                <a:cs typeface="Times New Roman"/>
              </a:rPr>
              <a:t>11</a:t>
            </a:r>
          </a:p>
        </p:txBody>
      </p:sp>
      <p:sp>
        <p:nvSpPr>
          <p:cNvPr id="5" name="text-50">
            <a:extLst xmlns:a="http://schemas.openxmlformats.org/drawingml/2006/main">
              <a:ext uri="{FF2B5EF4-FFF2-40B4-BE49-F238E27FC236}">
                <a16:creationId xmlns:a16="http://schemas.microsoft.com/office/drawing/2014/main" id="{778AE7D3-2FF5-4DA7-9542-6E74EE310E5B}"/>
              </a:ext>
            </a:extLst>
          </p:cNvPr>
          <p:cNvSpPr>
            <a:spLocks xmlns:a="http://schemas.openxmlformats.org/drawingml/2006/main" noGrp="1"/>
          </p:cNvSpPr>
          <p:nvPr/>
        </p:nvSpPr>
        <p:spPr>
          <a:xfrm xmlns:a="http://schemas.openxmlformats.org/drawingml/2006/main">
            <a:off x="533400" y="133350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No circular lock dependency</a:t>
            </a:r>
          </a:p>
        </p:txBody>
      </p:sp>
      <p:sp>
        <p:nvSpPr>
          <p:cNvPr id="6" name="text-51">
            <a:extLst xmlns:a="http://schemas.openxmlformats.org/drawingml/2006/main">
              <a:ext uri="{FF2B5EF4-FFF2-40B4-BE49-F238E27FC236}">
                <a16:creationId xmlns:a16="http://schemas.microsoft.com/office/drawing/2014/main" id="{545B4D5D-3E19-4A93-B785-7F558AE4AD83}"/>
              </a:ext>
            </a:extLst>
          </p:cNvPr>
          <p:cNvSpPr>
            <a:spLocks xmlns:a="http://schemas.openxmlformats.org/drawingml/2006/main" noGrp="1"/>
          </p:cNvSpPr>
          <p:nvPr/>
        </p:nvSpPr>
        <p:spPr>
          <a:xfrm xmlns:a="http://schemas.openxmlformats.org/drawingml/2006/main">
            <a:off x="533400" y="1819275"/>
            <a:ext cx="11125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1515"/>
                </a:solidFill>
                <a:latin typeface="Times New Roman"/>
                <a:ea typeface="Times New Roman"/>
                <a:cs typeface="Times New Roman"/>
              </a:defRPr>
            </a:defPPr>
            <a:lvl1pPr algn="l">
              <a:defRPr sz="2250" b="0">
                <a:solidFill>
                  <a:srgbClr val="151515"/>
                </a:solidFill>
                <a:latin typeface="Times New Roman"/>
                <a:ea typeface="Times New Roman"/>
                <a:cs typeface="Times New Roman"/>
              </a:defRPr>
            </a:lvl1pPr>
            <a:lvl2pPr algn="l">
              <a:defRPr sz="2250" b="0">
                <a:solidFill>
                  <a:srgbClr val="151515"/>
                </a:solidFill>
                <a:latin typeface="Times New Roman"/>
                <a:ea typeface="Times New Roman"/>
                <a:cs typeface="Times New Roman"/>
              </a:defRPr>
            </a:lvl2pPr>
            <a:lvl3pPr algn="l">
              <a:defRPr sz="2250" b="0">
                <a:solidFill>
                  <a:srgbClr val="151515"/>
                </a:solidFill>
                <a:latin typeface="Times New Roman"/>
                <a:ea typeface="Times New Roman"/>
                <a:cs typeface="Times New Roman"/>
              </a:defRPr>
            </a:lvl3pPr>
            <a:lvl4pPr algn="l">
              <a:defRPr sz="2250" b="0">
                <a:solidFill>
                  <a:srgbClr val="151515"/>
                </a:solidFill>
                <a:latin typeface="Times New Roman"/>
                <a:ea typeface="Times New Roman"/>
                <a:cs typeface="Times New Roman"/>
              </a:defRPr>
            </a:lvl4pPr>
            <a:lvl5pPr algn="l">
              <a:defRPr sz="2250" b="0">
                <a:solidFill>
                  <a:srgbClr val="151515"/>
                </a:solidFill>
                <a:latin typeface="Times New Roman"/>
                <a:ea typeface="Times New Roman"/>
                <a:cs typeface="Times New Roman"/>
              </a:defRPr>
            </a:lvl5pPr>
            <a:lvl6pPr algn="l">
              <a:defRPr sz="2250" b="0">
                <a:solidFill>
                  <a:srgbClr val="151515"/>
                </a:solidFill>
                <a:latin typeface="Times New Roman"/>
                <a:ea typeface="Times New Roman"/>
                <a:cs typeface="Times New Roman"/>
              </a:defRPr>
            </a:lvl6pPr>
            <a:lvl7pPr algn="l">
              <a:defRPr sz="2250" b="0">
                <a:solidFill>
                  <a:srgbClr val="151515"/>
                </a:solidFill>
                <a:latin typeface="Times New Roman"/>
                <a:ea typeface="Times New Roman"/>
                <a:cs typeface="Times New Roman"/>
              </a:defRPr>
            </a:lvl7pPr>
            <a:lvl8pPr algn="l">
              <a:defRPr sz="2250" b="0">
                <a:solidFill>
                  <a:srgbClr val="151515"/>
                </a:solidFill>
                <a:latin typeface="Times New Roman"/>
                <a:ea typeface="Times New Roman"/>
                <a:cs typeface="Times New Roman"/>
              </a:defRPr>
            </a:lvl8pPr>
            <a:lvl9pPr algn="l">
              <a:defRPr sz="2250" b="0">
                <a:solidFill>
                  <a:srgbClr val="151515"/>
                </a:solidFill>
                <a:latin typeface="Times New Roman"/>
                <a:ea typeface="Times New Roman"/>
                <a:cs typeface="Times New Roman"/>
              </a:defRPr>
            </a:lvl9pPr>
          </a:lstStyle>
          <a:p xmlns:a="http://schemas.openxmlformats.org/drawingml/2006/main">
            <a:pPr algn="l">
              <a:lnSpc>
                <a:spcPct val="112000"/>
              </a:lnSpc>
              <a:buNone/>
              <a:defRPr sz="2250" b="0">
                <a:solidFill>
                  <a:srgbClr val="151515"/>
                </a:solidFill>
                <a:latin typeface="Times New Roman"/>
                <a:ea typeface="Times New Roman"/>
                <a:cs typeface="Times New Roman"/>
              </a:defRPr>
            </a:pPr>
            <a:r>
              <a:rPr sz="2250" b="0">
                <a:solidFill>
                  <a:srgbClr val="151515"/>
                </a:solidFill>
                <a:latin typeface="Times New Roman"/>
                <a:ea typeface="Times New Roman"/>
                <a:cs typeface="Times New Roman"/>
              </a:rPr>
              <a:t>Queue and status locks have separate scopes.</a:t>
            </a:r>
          </a:p>
          <a:p xmlns:a="http://schemas.openxmlformats.org/drawingml/2006/main">
            <a:pPr algn="l">
              <a:lnSpc>
                <a:spcPct val="112000"/>
              </a:lnSpc>
              <a:buNone/>
              <a:defRPr sz="2250" b="0">
                <a:solidFill>
                  <a:srgbClr val="151515"/>
                </a:solidFill>
                <a:latin typeface="Times New Roman"/>
                <a:ea typeface="Times New Roman"/>
                <a:cs typeface="Times New Roman"/>
              </a:defRPr>
            </a:pPr>
            <a:r>
              <a:rPr sz="2250" b="0">
                <a:solidFill>
                  <a:srgbClr val="151515"/>
                </a:solidFill>
                <a:latin typeface="Times New Roman"/>
                <a:ea typeface="Times New Roman"/>
                <a:cs typeface="Times New Roman"/>
              </a:rPr>
              <a:t>Workers acquire permits and sleep outside those scopes.</a:t>
            </a:r>
          </a:p>
        </p:txBody>
      </p:sp>
      <p:sp>
        <p:nvSpPr>
          <p:cNvPr id="7" name="text-52">
            <a:extLst xmlns:a="http://schemas.openxmlformats.org/drawingml/2006/main">
              <a:ext uri="{FF2B5EF4-FFF2-40B4-BE49-F238E27FC236}">
                <a16:creationId xmlns:a16="http://schemas.microsoft.com/office/drawing/2014/main" id="{DA6A6B70-92FE-44EF-929E-5A0681FC2BF4}"/>
              </a:ext>
            </a:extLst>
          </p:cNvPr>
          <p:cNvSpPr>
            <a:spLocks xmlns:a="http://schemas.openxmlformats.org/drawingml/2006/main" noGrp="1"/>
          </p:cNvSpPr>
          <p:nvPr/>
        </p:nvSpPr>
        <p:spPr>
          <a:xfrm xmlns:a="http://schemas.openxmlformats.org/drawingml/2006/main">
            <a:off x="533400" y="304800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No unfinished party waits</a:t>
            </a:r>
          </a:p>
        </p:txBody>
      </p:sp>
      <p:sp>
        <p:nvSpPr>
          <p:cNvPr id="8" name="text-53">
            <a:extLst xmlns:a="http://schemas.openxmlformats.org/drawingml/2006/main">
              <a:ext uri="{FF2B5EF4-FFF2-40B4-BE49-F238E27FC236}">
                <a16:creationId xmlns:a16="http://schemas.microsoft.com/office/drawing/2014/main" id="{3BBD22C5-E3CD-471E-A192-808C8D25DC86}"/>
              </a:ext>
            </a:extLst>
          </p:cNvPr>
          <p:cNvSpPr>
            <a:spLocks xmlns:a="http://schemas.openxmlformats.org/drawingml/2006/main" noGrp="1"/>
          </p:cNvSpPr>
          <p:nvPr/>
        </p:nvSpPr>
        <p:spPr>
          <a:xfrm xmlns:a="http://schemas.openxmlformats.org/drawingml/2006/main">
            <a:off x="533400" y="3524250"/>
            <a:ext cx="1112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1515"/>
                </a:solidFill>
                <a:latin typeface="Times New Roman"/>
                <a:ea typeface="Times New Roman"/>
                <a:cs typeface="Times New Roman"/>
              </a:defRPr>
            </a:defPPr>
            <a:lvl1pPr algn="l">
              <a:defRPr sz="2250" b="0">
                <a:solidFill>
                  <a:srgbClr val="151515"/>
                </a:solidFill>
                <a:latin typeface="Times New Roman"/>
                <a:ea typeface="Times New Roman"/>
                <a:cs typeface="Times New Roman"/>
              </a:defRPr>
            </a:lvl1pPr>
            <a:lvl2pPr algn="l">
              <a:defRPr sz="2250" b="0">
                <a:solidFill>
                  <a:srgbClr val="151515"/>
                </a:solidFill>
                <a:latin typeface="Times New Roman"/>
                <a:ea typeface="Times New Roman"/>
                <a:cs typeface="Times New Roman"/>
              </a:defRPr>
            </a:lvl2pPr>
            <a:lvl3pPr algn="l">
              <a:defRPr sz="2250" b="0">
                <a:solidFill>
                  <a:srgbClr val="151515"/>
                </a:solidFill>
                <a:latin typeface="Times New Roman"/>
                <a:ea typeface="Times New Roman"/>
                <a:cs typeface="Times New Roman"/>
              </a:defRPr>
            </a:lvl3pPr>
            <a:lvl4pPr algn="l">
              <a:defRPr sz="2250" b="0">
                <a:solidFill>
                  <a:srgbClr val="151515"/>
                </a:solidFill>
                <a:latin typeface="Times New Roman"/>
                <a:ea typeface="Times New Roman"/>
                <a:cs typeface="Times New Roman"/>
              </a:defRPr>
            </a:lvl4pPr>
            <a:lvl5pPr algn="l">
              <a:defRPr sz="2250" b="0">
                <a:solidFill>
                  <a:srgbClr val="151515"/>
                </a:solidFill>
                <a:latin typeface="Times New Roman"/>
                <a:ea typeface="Times New Roman"/>
                <a:cs typeface="Times New Roman"/>
              </a:defRPr>
            </a:lvl5pPr>
            <a:lvl6pPr algn="l">
              <a:defRPr sz="2250" b="0">
                <a:solidFill>
                  <a:srgbClr val="151515"/>
                </a:solidFill>
                <a:latin typeface="Times New Roman"/>
                <a:ea typeface="Times New Roman"/>
                <a:cs typeface="Times New Roman"/>
              </a:defRPr>
            </a:lvl6pPr>
            <a:lvl7pPr algn="l">
              <a:defRPr sz="2250" b="0">
                <a:solidFill>
                  <a:srgbClr val="151515"/>
                </a:solidFill>
                <a:latin typeface="Times New Roman"/>
                <a:ea typeface="Times New Roman"/>
                <a:cs typeface="Times New Roman"/>
              </a:defRPr>
            </a:lvl7pPr>
            <a:lvl8pPr algn="l">
              <a:defRPr sz="2250" b="0">
                <a:solidFill>
                  <a:srgbClr val="151515"/>
                </a:solidFill>
                <a:latin typeface="Times New Roman"/>
                <a:ea typeface="Times New Roman"/>
                <a:cs typeface="Times New Roman"/>
              </a:defRPr>
            </a:lvl8pPr>
            <a:lvl9pPr algn="l">
              <a:defRPr sz="2250" b="0">
                <a:solidFill>
                  <a:srgbClr val="151515"/>
                </a:solidFill>
                <a:latin typeface="Times New Roman"/>
                <a:ea typeface="Times New Roman"/>
                <a:cs typeface="Times New Roman"/>
              </a:defRPr>
            </a:lvl9pPr>
          </a:lstStyle>
          <a:p xmlns:a="http://schemas.openxmlformats.org/drawingml/2006/main">
            <a:pPr algn="l">
              <a:lnSpc>
                <a:spcPct val="112000"/>
              </a:lnSpc>
              <a:buNone/>
              <a:defRPr sz="2250" b="0">
                <a:solidFill>
                  <a:srgbClr val="151515"/>
                </a:solidFill>
                <a:latin typeface="Times New Roman"/>
                <a:ea typeface="Times New Roman"/>
                <a:cs typeface="Times New Roman"/>
              </a:defRPr>
            </a:pPr>
            <a:r>
              <a:rPr sz="2250" b="0">
                <a:solidFill>
                  <a:srgbClr val="151515"/>
                </a:solidFill>
                <a:latin typeface="Times New Roman"/>
                <a:ea typeface="Times New Roman"/>
                <a:cs typeface="Times New Roman"/>
              </a:rPr>
              <a:t>Main forms every complete party before starting workers.</a:t>
            </a:r>
          </a:p>
        </p:txBody>
      </p:sp>
      <p:sp>
        <p:nvSpPr>
          <p:cNvPr id="9" name="text-54">
            <a:extLst xmlns:a="http://schemas.openxmlformats.org/drawingml/2006/main">
              <a:ext uri="{FF2B5EF4-FFF2-40B4-BE49-F238E27FC236}">
                <a16:creationId xmlns:a16="http://schemas.microsoft.com/office/drawing/2014/main" id="{314F0683-A0EC-4E94-AFF5-51B985E6B123}"/>
              </a:ext>
            </a:extLst>
          </p:cNvPr>
          <p:cNvSpPr>
            <a:spLocks xmlns:a="http://schemas.openxmlformats.org/drawingml/2006/main" noGrp="1"/>
          </p:cNvSpPr>
          <p:nvPr/>
        </p:nvSpPr>
        <p:spPr>
          <a:xfrm xmlns:a="http://schemas.openxmlformats.org/drawingml/2006/main">
            <a:off x="533400" y="438150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A complete shutdown protocol</a:t>
            </a:r>
          </a:p>
        </p:txBody>
      </p:sp>
      <p:sp>
        <p:nvSpPr>
          <p:cNvPr id="10" name="text-55">
            <a:extLst xmlns:a="http://schemas.openxmlformats.org/drawingml/2006/main">
              <a:ext uri="{FF2B5EF4-FFF2-40B4-BE49-F238E27FC236}">
                <a16:creationId xmlns:a16="http://schemas.microsoft.com/office/drawing/2014/main" id="{4AC94BB4-1E45-4C74-9B15-BA224E685C5D}"/>
              </a:ext>
            </a:extLst>
          </p:cNvPr>
          <p:cNvSpPr>
            <a:spLocks xmlns:a="http://schemas.openxmlformats.org/drawingml/2006/main" noGrp="1"/>
          </p:cNvSpPr>
          <p:nvPr/>
        </p:nvSpPr>
        <p:spPr>
          <a:xfrm xmlns:a="http://schemas.openxmlformats.org/drawingml/2006/main">
            <a:off x="533400" y="4857750"/>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1515"/>
                </a:solidFill>
                <a:latin typeface="Times New Roman"/>
                <a:ea typeface="Times New Roman"/>
                <a:cs typeface="Times New Roman"/>
              </a:defRPr>
            </a:defPPr>
            <a:lvl1pPr algn="l">
              <a:defRPr sz="2250" b="0">
                <a:solidFill>
                  <a:srgbClr val="151515"/>
                </a:solidFill>
                <a:latin typeface="Times New Roman"/>
                <a:ea typeface="Times New Roman"/>
                <a:cs typeface="Times New Roman"/>
              </a:defRPr>
            </a:lvl1pPr>
            <a:lvl2pPr algn="l">
              <a:defRPr sz="2250" b="0">
                <a:solidFill>
                  <a:srgbClr val="151515"/>
                </a:solidFill>
                <a:latin typeface="Times New Roman"/>
                <a:ea typeface="Times New Roman"/>
                <a:cs typeface="Times New Roman"/>
              </a:defRPr>
            </a:lvl2pPr>
            <a:lvl3pPr algn="l">
              <a:defRPr sz="2250" b="0">
                <a:solidFill>
                  <a:srgbClr val="151515"/>
                </a:solidFill>
                <a:latin typeface="Times New Roman"/>
                <a:ea typeface="Times New Roman"/>
                <a:cs typeface="Times New Roman"/>
              </a:defRPr>
            </a:lvl3pPr>
            <a:lvl4pPr algn="l">
              <a:defRPr sz="2250" b="0">
                <a:solidFill>
                  <a:srgbClr val="151515"/>
                </a:solidFill>
                <a:latin typeface="Times New Roman"/>
                <a:ea typeface="Times New Roman"/>
                <a:cs typeface="Times New Roman"/>
              </a:defRPr>
            </a:lvl4pPr>
            <a:lvl5pPr algn="l">
              <a:defRPr sz="2250" b="0">
                <a:solidFill>
                  <a:srgbClr val="151515"/>
                </a:solidFill>
                <a:latin typeface="Times New Roman"/>
                <a:ea typeface="Times New Roman"/>
                <a:cs typeface="Times New Roman"/>
              </a:defRPr>
            </a:lvl5pPr>
            <a:lvl6pPr algn="l">
              <a:defRPr sz="2250" b="0">
                <a:solidFill>
                  <a:srgbClr val="151515"/>
                </a:solidFill>
                <a:latin typeface="Times New Roman"/>
                <a:ea typeface="Times New Roman"/>
                <a:cs typeface="Times New Roman"/>
              </a:defRPr>
            </a:lvl6pPr>
            <a:lvl7pPr algn="l">
              <a:defRPr sz="2250" b="0">
                <a:solidFill>
                  <a:srgbClr val="151515"/>
                </a:solidFill>
                <a:latin typeface="Times New Roman"/>
                <a:ea typeface="Times New Roman"/>
                <a:cs typeface="Times New Roman"/>
              </a:defRPr>
            </a:lvl7pPr>
            <a:lvl8pPr algn="l">
              <a:defRPr sz="2250" b="0">
                <a:solidFill>
                  <a:srgbClr val="151515"/>
                </a:solidFill>
                <a:latin typeface="Times New Roman"/>
                <a:ea typeface="Times New Roman"/>
                <a:cs typeface="Times New Roman"/>
              </a:defRPr>
            </a:lvl8pPr>
            <a:lvl9pPr algn="l">
              <a:defRPr sz="2250" b="0">
                <a:solidFill>
                  <a:srgbClr val="151515"/>
                </a:solidFill>
                <a:latin typeface="Times New Roman"/>
                <a:ea typeface="Times New Roman"/>
                <a:cs typeface="Times New Roman"/>
              </a:defRPr>
            </a:lvl9pPr>
          </a:lstStyle>
          <a:p xmlns:a="http://schemas.openxmlformats.org/drawingml/2006/main">
            <a:pPr algn="l">
              <a:lnSpc>
                <a:spcPct val="112000"/>
              </a:lnSpc>
              <a:buNone/>
              <a:defRPr sz="2250" b="0">
                <a:solidFill>
                  <a:srgbClr val="151515"/>
                </a:solidFill>
                <a:latin typeface="Times New Roman"/>
                <a:ea typeface="Times New Roman"/>
                <a:cs typeface="Times New Roman"/>
              </a:defRPr>
            </a:pPr>
            <a:r>
              <a:rPr sz="2250" b="0">
                <a:solidFill>
                  <a:srgbClr val="151515"/>
                </a:solidFill>
                <a:latin typeface="Times New Roman"/>
                <a:ea typeface="Times New Roman"/>
                <a:cs typeface="Times New Roman"/>
              </a:rPr>
              <a:t>Every queue item has a permit.</a:t>
            </a:r>
          </a:p>
          <a:p xmlns:a="http://schemas.openxmlformats.org/drawingml/2006/main">
            <a:pPr algn="l">
              <a:lnSpc>
                <a:spcPct val="112000"/>
              </a:lnSpc>
              <a:buNone/>
              <a:defRPr sz="2250" b="0">
                <a:solidFill>
                  <a:srgbClr val="151515"/>
                </a:solidFill>
                <a:latin typeface="Times New Roman"/>
                <a:ea typeface="Times New Roman"/>
                <a:cs typeface="Times New Roman"/>
              </a:defRPr>
            </a:pPr>
            <a:r>
              <a:rPr sz="2250" b="0">
                <a:solidFill>
                  <a:srgbClr val="151515"/>
                </a:solidFill>
                <a:latin typeface="Times New Roman"/>
                <a:ea typeface="Times New Roman"/>
                <a:cs typeface="Times New Roman"/>
              </a:rPr>
              <a:t>Party jobs come before n exit markers, then main joins all workers.</a:t>
            </a:r>
          </a:p>
        </p:txBody>
      </p:sp>
    </p:spTree>
    <p:extLst>
      <p:ext uri="{BB962C8B-B14F-4D97-AF65-F5344CB8AC3E}">
        <p14:creationId xmlns:p14="http://schemas.microsoft.com/office/powerpoint/2010/main" val="27407904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C349A1F2-1A04-48F5-B05F-A44854384818}"/>
              </a:ext>
            </a:extLst>
          </p:cNvPr>
          <p:cNvSpPr>
            <a:spLocks xmlns:a="http://schemas.openxmlformats.org/drawingml/2006/main" noGrp="1"/>
          </p:cNvSpPr>
          <p:nvPr/>
        </p:nvSpPr>
        <p:spPr>
          <a:xfrm xmlns:a="http://schemas.openxmlformats.org/drawingml/2006/main">
            <a:off x="533400" y="361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51515"/>
                </a:solidFill>
                <a:latin typeface="Times New Roman"/>
                <a:ea typeface="Times New Roman"/>
                <a:cs typeface="Times New Roman"/>
              </a:defRPr>
            </a:defPPr>
            <a:lvl1pPr algn="l">
              <a:defRPr sz="3300" b="0">
                <a:solidFill>
                  <a:srgbClr val="151515"/>
                </a:solidFill>
                <a:latin typeface="Times New Roman"/>
                <a:ea typeface="Times New Roman"/>
                <a:cs typeface="Times New Roman"/>
              </a:defRPr>
            </a:lvl1pPr>
            <a:lvl2pPr algn="l">
              <a:defRPr sz="3300" b="0">
                <a:solidFill>
                  <a:srgbClr val="151515"/>
                </a:solidFill>
                <a:latin typeface="Times New Roman"/>
                <a:ea typeface="Times New Roman"/>
                <a:cs typeface="Times New Roman"/>
              </a:defRPr>
            </a:lvl2pPr>
            <a:lvl3pPr algn="l">
              <a:defRPr sz="3300" b="0">
                <a:solidFill>
                  <a:srgbClr val="151515"/>
                </a:solidFill>
                <a:latin typeface="Times New Roman"/>
                <a:ea typeface="Times New Roman"/>
                <a:cs typeface="Times New Roman"/>
              </a:defRPr>
            </a:lvl3pPr>
            <a:lvl4pPr algn="l">
              <a:defRPr sz="3300" b="0">
                <a:solidFill>
                  <a:srgbClr val="151515"/>
                </a:solidFill>
                <a:latin typeface="Times New Roman"/>
                <a:ea typeface="Times New Roman"/>
                <a:cs typeface="Times New Roman"/>
              </a:defRPr>
            </a:lvl4pPr>
            <a:lvl5pPr algn="l">
              <a:defRPr sz="3300" b="0">
                <a:solidFill>
                  <a:srgbClr val="151515"/>
                </a:solidFill>
                <a:latin typeface="Times New Roman"/>
                <a:ea typeface="Times New Roman"/>
                <a:cs typeface="Times New Roman"/>
              </a:defRPr>
            </a:lvl5pPr>
            <a:lvl6pPr algn="l">
              <a:defRPr sz="3300" b="0">
                <a:solidFill>
                  <a:srgbClr val="151515"/>
                </a:solidFill>
                <a:latin typeface="Times New Roman"/>
                <a:ea typeface="Times New Roman"/>
                <a:cs typeface="Times New Roman"/>
              </a:defRPr>
            </a:lvl6pPr>
            <a:lvl7pPr algn="l">
              <a:defRPr sz="3300" b="0">
                <a:solidFill>
                  <a:srgbClr val="151515"/>
                </a:solidFill>
                <a:latin typeface="Times New Roman"/>
                <a:ea typeface="Times New Roman"/>
                <a:cs typeface="Times New Roman"/>
              </a:defRPr>
            </a:lvl7pPr>
            <a:lvl8pPr algn="l">
              <a:defRPr sz="3300" b="0">
                <a:solidFill>
                  <a:srgbClr val="151515"/>
                </a:solidFill>
                <a:latin typeface="Times New Roman"/>
                <a:ea typeface="Times New Roman"/>
                <a:cs typeface="Times New Roman"/>
              </a:defRPr>
            </a:lvl8pPr>
            <a:lvl9pPr algn="l">
              <a:defRPr sz="3300" b="0">
                <a:solidFill>
                  <a:srgbClr val="151515"/>
                </a:solidFill>
                <a:latin typeface="Times New Roman"/>
                <a:ea typeface="Times New Roman"/>
                <a:cs typeface="Times New Roman"/>
              </a:defRPr>
            </a:lvl9pPr>
          </a:lstStyle>
          <a:p xmlns:a="http://schemas.openxmlformats.org/drawingml/2006/main">
            <a:pPr algn="l">
              <a:lnSpc>
                <a:spcPct val="112000"/>
              </a:lnSpc>
              <a:buNone/>
              <a:defRPr sz="3300" b="0">
                <a:solidFill>
                  <a:srgbClr val="151515"/>
                </a:solidFill>
                <a:latin typeface="Times New Roman"/>
                <a:ea typeface="Times New Roman"/>
                <a:cs typeface="Times New Roman"/>
              </a:defRPr>
            </a:pPr>
            <a:r>
              <a:rPr sz="3300" b="0">
                <a:solidFill>
                  <a:srgbClr val="151515"/>
                </a:solidFill>
                <a:latin typeface="Times New Roman"/>
                <a:ea typeface="Times New Roman"/>
                <a:cs typeface="Times New Roman"/>
              </a:rPr>
              <a:t>Starvation and Fairness</a:t>
            </a:r>
          </a:p>
        </p:txBody>
      </p:sp>
      <p:pic>
        <p:nvPicPr>
          <p:cNvPr id="3" name="">
            <a:extLst xmlns:a="http://schemas.openxmlformats.org/drawingml/2006/main">
              <a:ext uri="{FF2B5EF4-FFF2-40B4-BE49-F238E27FC236}">
                <a16:creationId xmlns:a16="http://schemas.microsoft.com/office/drawing/2014/main" id="{F290BC51-F914-41C9-A9B0-348FF91C31E7}"/>
              </a:ext>
            </a:extLst>
          </p:cNvPr>
          <p:cNvPicPr>
            <a:picLocks xmlns:a="http://schemas.openxmlformats.org/drawingml/2006/main" noChangeAspect="1"/>
          </p:cNvPicPr>
          <p:nvPr/>
        </p:nvPicPr>
        <p:blipFill>
          <a:blip xmlns:r="http://schemas.openxmlformats.org/officeDocument/2006/relationships" xmlns:a="http://schemas.openxmlformats.org/drawingml/2006/main" r:embed="R9bc09474b0844ac6"/>
          <a:stretch xmlns:a="http://schemas.openxmlformats.org/drawingml/2006/main"/>
        </p:blipFill>
        <p:spPr>
          <a:xfrm xmlns:a="http://schemas.openxmlformats.org/drawingml/2006/main">
            <a:off x="11458575" y="6238875"/>
            <a:ext cx="419100" cy="419100"/>
          </a:xfrm>
          <a:prstGeom xmlns:a="http://schemas.openxmlformats.org/drawingml/2006/main" prst="rect">
            <a:avLst/>
          </a:prstGeom>
        </p:spPr>
      </p:pic>
      <p:sp>
        <p:nvSpPr>
          <p:cNvPr id="4" name="text-56">
            <a:extLst xmlns:a="http://schemas.openxmlformats.org/drawingml/2006/main">
              <a:ext uri="{FF2B5EF4-FFF2-40B4-BE49-F238E27FC236}">
                <a16:creationId xmlns:a16="http://schemas.microsoft.com/office/drawing/2014/main" id="{F8259D9A-93F4-4970-9A67-BF15BB0C2F55}"/>
              </a:ext>
            </a:extLst>
          </p:cNvPr>
          <p:cNvSpPr>
            <a:spLocks xmlns:a="http://schemas.openxmlformats.org/drawingml/2006/main" noGrp="1"/>
          </p:cNvSpPr>
          <p:nvPr/>
        </p:nvSpPr>
        <p:spPr>
          <a:xfrm xmlns:a="http://schemas.openxmlformats.org/drawingml/2006/main">
            <a:off x="533400" y="64484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87644"/>
                </a:solidFill>
                <a:latin typeface="Times New Roman"/>
                <a:ea typeface="Times New Roman"/>
                <a:cs typeface="Times New Roman"/>
              </a:defRPr>
            </a:defPPr>
            <a:lvl1pPr algn="l">
              <a:defRPr sz="1275" b="0">
                <a:solidFill>
                  <a:srgbClr val="087644"/>
                </a:solidFill>
                <a:latin typeface="Times New Roman"/>
                <a:ea typeface="Times New Roman"/>
                <a:cs typeface="Times New Roman"/>
              </a:defRPr>
            </a:lvl1pPr>
            <a:lvl2pPr algn="l">
              <a:defRPr sz="1275" b="0">
                <a:solidFill>
                  <a:srgbClr val="087644"/>
                </a:solidFill>
                <a:latin typeface="Times New Roman"/>
                <a:ea typeface="Times New Roman"/>
                <a:cs typeface="Times New Roman"/>
              </a:defRPr>
            </a:lvl2pPr>
            <a:lvl3pPr algn="l">
              <a:defRPr sz="1275" b="0">
                <a:solidFill>
                  <a:srgbClr val="087644"/>
                </a:solidFill>
                <a:latin typeface="Times New Roman"/>
                <a:ea typeface="Times New Roman"/>
                <a:cs typeface="Times New Roman"/>
              </a:defRPr>
            </a:lvl3pPr>
            <a:lvl4pPr algn="l">
              <a:defRPr sz="1275" b="0">
                <a:solidFill>
                  <a:srgbClr val="087644"/>
                </a:solidFill>
                <a:latin typeface="Times New Roman"/>
                <a:ea typeface="Times New Roman"/>
                <a:cs typeface="Times New Roman"/>
              </a:defRPr>
            </a:lvl4pPr>
            <a:lvl5pPr algn="l">
              <a:defRPr sz="1275" b="0">
                <a:solidFill>
                  <a:srgbClr val="087644"/>
                </a:solidFill>
                <a:latin typeface="Times New Roman"/>
                <a:ea typeface="Times New Roman"/>
                <a:cs typeface="Times New Roman"/>
              </a:defRPr>
            </a:lvl5pPr>
            <a:lvl6pPr algn="l">
              <a:defRPr sz="1275" b="0">
                <a:solidFill>
                  <a:srgbClr val="087644"/>
                </a:solidFill>
                <a:latin typeface="Times New Roman"/>
                <a:ea typeface="Times New Roman"/>
                <a:cs typeface="Times New Roman"/>
              </a:defRPr>
            </a:lvl6pPr>
            <a:lvl7pPr algn="l">
              <a:defRPr sz="1275" b="0">
                <a:solidFill>
                  <a:srgbClr val="087644"/>
                </a:solidFill>
                <a:latin typeface="Times New Roman"/>
                <a:ea typeface="Times New Roman"/>
                <a:cs typeface="Times New Roman"/>
              </a:defRPr>
            </a:lvl7pPr>
            <a:lvl8pPr algn="l">
              <a:defRPr sz="1275" b="0">
                <a:solidFill>
                  <a:srgbClr val="087644"/>
                </a:solidFill>
                <a:latin typeface="Times New Roman"/>
                <a:ea typeface="Times New Roman"/>
                <a:cs typeface="Times New Roman"/>
              </a:defRPr>
            </a:lvl8pPr>
            <a:lvl9pPr algn="l">
              <a:defRPr sz="1275" b="0">
                <a:solidFill>
                  <a:srgbClr val="087644"/>
                </a:solidFill>
                <a:latin typeface="Times New Roman"/>
                <a:ea typeface="Times New Roman"/>
                <a:cs typeface="Times New Roman"/>
              </a:defRPr>
            </a:lvl9pPr>
          </a:lstStyle>
          <a:p xmlns:a="http://schemas.openxmlformats.org/drawingml/2006/main">
            <a:pPr algn="l">
              <a:lnSpc>
                <a:spcPct val="112000"/>
              </a:lnSpc>
              <a:buNone/>
              <a:defRPr sz="1275" b="0">
                <a:solidFill>
                  <a:srgbClr val="087644"/>
                </a:solidFill>
                <a:latin typeface="Times New Roman"/>
                <a:ea typeface="Times New Roman"/>
                <a:cs typeface="Times New Roman"/>
              </a:defRPr>
            </a:pPr>
            <a:r>
              <a:rPr sz="1275" b="0">
                <a:solidFill>
                  <a:srgbClr val="087644"/>
                </a:solidFill>
                <a:latin typeface="Times New Roman"/>
                <a:ea typeface="Times New Roman"/>
                <a:cs typeface="Times New Roman"/>
              </a:rPr>
              <a:t>12</a:t>
            </a:r>
          </a:p>
        </p:txBody>
      </p:sp>
      <p:sp>
        <p:nvSpPr>
          <p:cNvPr id="5" name="text-57">
            <a:extLst xmlns:a="http://schemas.openxmlformats.org/drawingml/2006/main">
              <a:ext uri="{FF2B5EF4-FFF2-40B4-BE49-F238E27FC236}">
                <a16:creationId xmlns:a16="http://schemas.microsoft.com/office/drawing/2014/main" id="{6C9C1A00-16CE-4E0A-8307-280B0AAAD1B3}"/>
              </a:ext>
            </a:extLst>
          </p:cNvPr>
          <p:cNvSpPr>
            <a:spLocks xmlns:a="http://schemas.openxmlformats.org/drawingml/2006/main" noGrp="1"/>
          </p:cNvSpPr>
          <p:nvPr/>
        </p:nvSpPr>
        <p:spPr>
          <a:xfrm xmlns:a="http://schemas.openxmlformats.org/drawingml/2006/main">
            <a:off x="533400" y="13335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Risk</a:t>
            </a:r>
          </a:p>
        </p:txBody>
      </p:sp>
      <p:sp>
        <p:nvSpPr>
          <p:cNvPr id="6" name="text-58">
            <a:extLst xmlns:a="http://schemas.openxmlformats.org/drawingml/2006/main">
              <a:ext uri="{FF2B5EF4-FFF2-40B4-BE49-F238E27FC236}">
                <a16:creationId xmlns:a16="http://schemas.microsoft.com/office/drawing/2014/main" id="{D65BCCC5-F6F1-459D-8986-F019F21ACA9C}"/>
              </a:ext>
            </a:extLst>
          </p:cNvPr>
          <p:cNvSpPr>
            <a:spLocks xmlns:a="http://schemas.openxmlformats.org/drawingml/2006/main" noGrp="1"/>
          </p:cNvSpPr>
          <p:nvPr/>
        </p:nvSpPr>
        <p:spPr>
          <a:xfrm xmlns:a="http://schemas.openxmlformats.org/drawingml/2006/main">
            <a:off x="533400" y="1838325"/>
            <a:ext cx="4762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515"/>
                </a:solidFill>
                <a:latin typeface="Times New Roman"/>
                <a:ea typeface="Times New Roman"/>
                <a:cs typeface="Times New Roman"/>
              </a:defRPr>
            </a:defPPr>
            <a:lvl1pPr algn="l">
              <a:defRPr sz="2175" b="0">
                <a:solidFill>
                  <a:srgbClr val="151515"/>
                </a:solidFill>
                <a:latin typeface="Times New Roman"/>
                <a:ea typeface="Times New Roman"/>
                <a:cs typeface="Times New Roman"/>
              </a:defRPr>
            </a:lvl1pPr>
            <a:lvl2pPr algn="l">
              <a:defRPr sz="2175" b="0">
                <a:solidFill>
                  <a:srgbClr val="151515"/>
                </a:solidFill>
                <a:latin typeface="Times New Roman"/>
                <a:ea typeface="Times New Roman"/>
                <a:cs typeface="Times New Roman"/>
              </a:defRPr>
            </a:lvl2pPr>
            <a:lvl3pPr algn="l">
              <a:defRPr sz="2175" b="0">
                <a:solidFill>
                  <a:srgbClr val="151515"/>
                </a:solidFill>
                <a:latin typeface="Times New Roman"/>
                <a:ea typeface="Times New Roman"/>
                <a:cs typeface="Times New Roman"/>
              </a:defRPr>
            </a:lvl3pPr>
            <a:lvl4pPr algn="l">
              <a:defRPr sz="2175" b="0">
                <a:solidFill>
                  <a:srgbClr val="151515"/>
                </a:solidFill>
                <a:latin typeface="Times New Roman"/>
                <a:ea typeface="Times New Roman"/>
                <a:cs typeface="Times New Roman"/>
              </a:defRPr>
            </a:lvl4pPr>
            <a:lvl5pPr algn="l">
              <a:defRPr sz="2175" b="0">
                <a:solidFill>
                  <a:srgbClr val="151515"/>
                </a:solidFill>
                <a:latin typeface="Times New Roman"/>
                <a:ea typeface="Times New Roman"/>
                <a:cs typeface="Times New Roman"/>
              </a:defRPr>
            </a:lvl5pPr>
            <a:lvl6pPr algn="l">
              <a:defRPr sz="2175" b="0">
                <a:solidFill>
                  <a:srgbClr val="151515"/>
                </a:solidFill>
                <a:latin typeface="Times New Roman"/>
                <a:ea typeface="Times New Roman"/>
                <a:cs typeface="Times New Roman"/>
              </a:defRPr>
            </a:lvl6pPr>
            <a:lvl7pPr algn="l">
              <a:defRPr sz="2175" b="0">
                <a:solidFill>
                  <a:srgbClr val="151515"/>
                </a:solidFill>
                <a:latin typeface="Times New Roman"/>
                <a:ea typeface="Times New Roman"/>
                <a:cs typeface="Times New Roman"/>
              </a:defRPr>
            </a:lvl7pPr>
            <a:lvl8pPr algn="l">
              <a:defRPr sz="2175" b="0">
                <a:solidFill>
                  <a:srgbClr val="151515"/>
                </a:solidFill>
                <a:latin typeface="Times New Roman"/>
                <a:ea typeface="Times New Roman"/>
                <a:cs typeface="Times New Roman"/>
              </a:defRPr>
            </a:lvl8pPr>
            <a:lvl9pPr algn="l">
              <a:defRPr sz="2175" b="0">
                <a:solidFill>
                  <a:srgbClr val="151515"/>
                </a:solidFill>
                <a:latin typeface="Times New Roman"/>
                <a:ea typeface="Times New Roman"/>
                <a:cs typeface="Times New Roman"/>
              </a:defRPr>
            </a:lvl9pPr>
          </a:lstStyle>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An eligible participant waits forever</a:t>
            </a:r>
          </a:p>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while others progress.</a:t>
            </a:r>
          </a:p>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Unfair access can repeatedly bypass it.</a:t>
            </a:r>
          </a:p>
        </p:txBody>
      </p:sp>
      <p:sp>
        <p:nvSpPr>
          <p:cNvPr id="7" name="text-59">
            <a:extLst xmlns:a="http://schemas.openxmlformats.org/drawingml/2006/main">
              <a:ext uri="{FF2B5EF4-FFF2-40B4-BE49-F238E27FC236}">
                <a16:creationId xmlns:a16="http://schemas.microsoft.com/office/drawing/2014/main" id="{5FCFB39B-5E51-4235-8F5E-314187CBC8F6}"/>
              </a:ext>
            </a:extLst>
          </p:cNvPr>
          <p:cNvSpPr>
            <a:spLocks xmlns:a="http://schemas.openxmlformats.org/drawingml/2006/main" noGrp="1"/>
          </p:cNvSpPr>
          <p:nvPr/>
        </p:nvSpPr>
        <p:spPr>
          <a:xfrm xmlns:a="http://schemas.openxmlformats.org/drawingml/2006/main">
            <a:off x="6238875" y="1333500"/>
            <a:ext cx="5419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Party fairness</a:t>
            </a:r>
          </a:p>
        </p:txBody>
      </p:sp>
      <p:sp>
        <p:nvSpPr>
          <p:cNvPr id="8" name="text-60">
            <a:extLst xmlns:a="http://schemas.openxmlformats.org/drawingml/2006/main">
              <a:ext uri="{FF2B5EF4-FFF2-40B4-BE49-F238E27FC236}">
                <a16:creationId xmlns:a16="http://schemas.microsoft.com/office/drawing/2014/main" id="{C7105293-DBA6-44BD-876C-BA932A93EB8C}"/>
              </a:ext>
            </a:extLst>
          </p:cNvPr>
          <p:cNvSpPr>
            <a:spLocks xmlns:a="http://schemas.openxmlformats.org/drawingml/2006/main" noGrp="1"/>
          </p:cNvSpPr>
          <p:nvPr/>
        </p:nvSpPr>
        <p:spPr>
          <a:xfrm xmlns:a="http://schemas.openxmlformats.org/drawingml/2006/main">
            <a:off x="6238875" y="1838325"/>
            <a:ext cx="54197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515"/>
                </a:solidFill>
                <a:latin typeface="Times New Roman"/>
                <a:ea typeface="Times New Roman"/>
                <a:cs typeface="Times New Roman"/>
              </a:defRPr>
            </a:defPPr>
            <a:lvl1pPr algn="l">
              <a:defRPr sz="2175" b="0">
                <a:solidFill>
                  <a:srgbClr val="151515"/>
                </a:solidFill>
                <a:latin typeface="Times New Roman"/>
                <a:ea typeface="Times New Roman"/>
                <a:cs typeface="Times New Roman"/>
              </a:defRPr>
            </a:lvl1pPr>
            <a:lvl2pPr algn="l">
              <a:defRPr sz="2175" b="0">
                <a:solidFill>
                  <a:srgbClr val="151515"/>
                </a:solidFill>
                <a:latin typeface="Times New Roman"/>
                <a:ea typeface="Times New Roman"/>
                <a:cs typeface="Times New Roman"/>
              </a:defRPr>
            </a:lvl2pPr>
            <a:lvl3pPr algn="l">
              <a:defRPr sz="2175" b="0">
                <a:solidFill>
                  <a:srgbClr val="151515"/>
                </a:solidFill>
                <a:latin typeface="Times New Roman"/>
                <a:ea typeface="Times New Roman"/>
                <a:cs typeface="Times New Roman"/>
              </a:defRPr>
            </a:lvl3pPr>
            <a:lvl4pPr algn="l">
              <a:defRPr sz="2175" b="0">
                <a:solidFill>
                  <a:srgbClr val="151515"/>
                </a:solidFill>
                <a:latin typeface="Times New Roman"/>
                <a:ea typeface="Times New Roman"/>
                <a:cs typeface="Times New Roman"/>
              </a:defRPr>
            </a:lvl4pPr>
            <a:lvl5pPr algn="l">
              <a:defRPr sz="2175" b="0">
                <a:solidFill>
                  <a:srgbClr val="151515"/>
                </a:solidFill>
                <a:latin typeface="Times New Roman"/>
                <a:ea typeface="Times New Roman"/>
                <a:cs typeface="Times New Roman"/>
              </a:defRPr>
            </a:lvl5pPr>
            <a:lvl6pPr algn="l">
              <a:defRPr sz="2175" b="0">
                <a:solidFill>
                  <a:srgbClr val="151515"/>
                </a:solidFill>
                <a:latin typeface="Times New Roman"/>
                <a:ea typeface="Times New Roman"/>
                <a:cs typeface="Times New Roman"/>
              </a:defRPr>
            </a:lvl6pPr>
            <a:lvl7pPr algn="l">
              <a:defRPr sz="2175" b="0">
                <a:solidFill>
                  <a:srgbClr val="151515"/>
                </a:solidFill>
                <a:latin typeface="Times New Roman"/>
                <a:ea typeface="Times New Roman"/>
                <a:cs typeface="Times New Roman"/>
              </a:defRPr>
            </a:lvl7pPr>
            <a:lvl8pPr algn="l">
              <a:defRPr sz="2175" b="0">
                <a:solidFill>
                  <a:srgbClr val="151515"/>
                </a:solidFill>
                <a:latin typeface="Times New Roman"/>
                <a:ea typeface="Times New Roman"/>
                <a:cs typeface="Times New Roman"/>
              </a:defRPr>
            </a:lvl8pPr>
            <a:lvl9pPr algn="l">
              <a:defRPr sz="2175" b="0">
                <a:solidFill>
                  <a:srgbClr val="151515"/>
                </a:solidFill>
                <a:latin typeface="Times New Roman"/>
                <a:ea typeface="Times New Roman"/>
                <a:cs typeface="Times New Roman"/>
              </a:defRPr>
            </a:lvl9pPr>
          </a:lstStyle>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FIFO role IDs and FIFO jobs</a:t>
            </a:r>
          </a:p>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Finite input, bounded dungeon runs</a:t>
            </a:r>
          </a:p>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No later arrivals bypass queued parties</a:t>
            </a:r>
          </a:p>
        </p:txBody>
      </p:sp>
      <p:sp>
        <p:nvSpPr>
          <p:cNvPr id="9" name="text-61">
            <a:extLst xmlns:a="http://schemas.openxmlformats.org/drawingml/2006/main">
              <a:ext uri="{FF2B5EF4-FFF2-40B4-BE49-F238E27FC236}">
                <a16:creationId xmlns:a16="http://schemas.microsoft.com/office/drawing/2014/main" id="{9673F0AE-947B-4F0B-9711-3AF5A38D661A}"/>
              </a:ext>
            </a:extLst>
          </p:cNvPr>
          <p:cNvSpPr>
            <a:spLocks xmlns:a="http://schemas.openxmlformats.org/drawingml/2006/main" noGrp="1"/>
          </p:cNvSpPr>
          <p:nvPr/>
        </p:nvSpPr>
        <p:spPr>
          <a:xfrm xmlns:a="http://schemas.openxmlformats.org/drawingml/2006/main">
            <a:off x="533400" y="385762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Fairness assumptions</a:t>
            </a:r>
          </a:p>
        </p:txBody>
      </p:sp>
      <p:sp>
        <p:nvSpPr>
          <p:cNvPr id="10" name="text-62">
            <a:extLst xmlns:a="http://schemas.openxmlformats.org/drawingml/2006/main">
              <a:ext uri="{FF2B5EF4-FFF2-40B4-BE49-F238E27FC236}">
                <a16:creationId xmlns:a16="http://schemas.microsoft.com/office/drawing/2014/main" id="{5EC535C8-290E-4272-9D2E-1A5B79BEB849}"/>
              </a:ext>
            </a:extLst>
          </p:cNvPr>
          <p:cNvSpPr>
            <a:spLocks xmlns:a="http://schemas.openxmlformats.org/drawingml/2006/main" noGrp="1"/>
          </p:cNvSpPr>
          <p:nvPr/>
        </p:nvSpPr>
        <p:spPr>
          <a:xfrm xmlns:a="http://schemas.openxmlformats.org/drawingml/2006/main">
            <a:off x="533400" y="4333875"/>
            <a:ext cx="11125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1515"/>
                </a:solidFill>
                <a:latin typeface="Times New Roman"/>
                <a:ea typeface="Times New Roman"/>
                <a:cs typeface="Times New Roman"/>
              </a:defRPr>
            </a:defPPr>
            <a:lvl1pPr algn="l">
              <a:defRPr sz="2100" b="0">
                <a:solidFill>
                  <a:srgbClr val="151515"/>
                </a:solidFill>
                <a:latin typeface="Times New Roman"/>
                <a:ea typeface="Times New Roman"/>
                <a:cs typeface="Times New Roman"/>
              </a:defRPr>
            </a:lvl1pPr>
            <a:lvl2pPr algn="l">
              <a:defRPr sz="2100" b="0">
                <a:solidFill>
                  <a:srgbClr val="151515"/>
                </a:solidFill>
                <a:latin typeface="Times New Roman"/>
                <a:ea typeface="Times New Roman"/>
                <a:cs typeface="Times New Roman"/>
              </a:defRPr>
            </a:lvl2pPr>
            <a:lvl3pPr algn="l">
              <a:defRPr sz="2100" b="0">
                <a:solidFill>
                  <a:srgbClr val="151515"/>
                </a:solidFill>
                <a:latin typeface="Times New Roman"/>
                <a:ea typeface="Times New Roman"/>
                <a:cs typeface="Times New Roman"/>
              </a:defRPr>
            </a:lvl3pPr>
            <a:lvl4pPr algn="l">
              <a:defRPr sz="2100" b="0">
                <a:solidFill>
                  <a:srgbClr val="151515"/>
                </a:solidFill>
                <a:latin typeface="Times New Roman"/>
                <a:ea typeface="Times New Roman"/>
                <a:cs typeface="Times New Roman"/>
              </a:defRPr>
            </a:lvl4pPr>
            <a:lvl5pPr algn="l">
              <a:defRPr sz="2100" b="0">
                <a:solidFill>
                  <a:srgbClr val="151515"/>
                </a:solidFill>
                <a:latin typeface="Times New Roman"/>
                <a:ea typeface="Times New Roman"/>
                <a:cs typeface="Times New Roman"/>
              </a:defRPr>
            </a:lvl5pPr>
            <a:lvl6pPr algn="l">
              <a:defRPr sz="2100" b="0">
                <a:solidFill>
                  <a:srgbClr val="151515"/>
                </a:solidFill>
                <a:latin typeface="Times New Roman"/>
                <a:ea typeface="Times New Roman"/>
                <a:cs typeface="Times New Roman"/>
              </a:defRPr>
            </a:lvl6pPr>
            <a:lvl7pPr algn="l">
              <a:defRPr sz="2100" b="0">
                <a:solidFill>
                  <a:srgbClr val="151515"/>
                </a:solidFill>
                <a:latin typeface="Times New Roman"/>
                <a:ea typeface="Times New Roman"/>
                <a:cs typeface="Times New Roman"/>
              </a:defRPr>
            </a:lvl7pPr>
            <a:lvl8pPr algn="l">
              <a:defRPr sz="2100" b="0">
                <a:solidFill>
                  <a:srgbClr val="151515"/>
                </a:solidFill>
                <a:latin typeface="Times New Roman"/>
                <a:ea typeface="Times New Roman"/>
                <a:cs typeface="Times New Roman"/>
              </a:defRPr>
            </a:lvl8pPr>
            <a:lvl9pPr algn="l">
              <a:defRPr sz="2100" b="0">
                <a:solidFill>
                  <a:srgbClr val="151515"/>
                </a:solidFill>
                <a:latin typeface="Times New Roman"/>
                <a:ea typeface="Times New Roman"/>
                <a:cs typeface="Times New Roman"/>
              </a:defRPr>
            </a:lvl9pPr>
          </a:lstStyle>
          <a:p xmlns:a="http://schemas.openxmlformats.org/drawingml/2006/main">
            <a:pPr algn="l">
              <a:lnSpc>
                <a:spcPct val="112000"/>
              </a:lnSpc>
              <a:buNone/>
              <a:defRPr sz="2100" b="0">
                <a:solidFill>
                  <a:srgbClr val="151515"/>
                </a:solidFill>
                <a:latin typeface="Times New Roman"/>
                <a:ea typeface="Times New Roman"/>
                <a:cs typeface="Times New Roman"/>
              </a:defRPr>
            </a:pPr>
            <a:r>
              <a:rPr sz="2100" b="0">
                <a:solidFill>
                  <a:srgbClr val="151515"/>
                </a:solidFill>
                <a:latin typeface="Times New Roman"/>
                <a:ea typeface="Times New Roman"/>
                <a:cs typeface="Times New Roman"/>
              </a:rPr>
              <a:t>Runnable threads eventually run and synchronization makes progress.</a:t>
            </a:r>
          </a:p>
          <a:p xmlns:a="http://schemas.openxmlformats.org/drawingml/2006/main">
            <a:pPr algn="l">
              <a:lnSpc>
                <a:spcPct val="112000"/>
              </a:lnSpc>
              <a:buNone/>
              <a:defRPr sz="2100" b="0">
                <a:solidFill>
                  <a:srgbClr val="151515"/>
                </a:solidFill>
                <a:latin typeface="Times New Roman"/>
                <a:ea typeface="Times New Roman"/>
                <a:cs typeface="Times New Roman"/>
              </a:defRPr>
            </a:pPr>
            <a:r>
              <a:rPr sz="2100" b="0">
                <a:solidFill>
                  <a:srgbClr val="151515"/>
                </a:solidFill>
                <a:latin typeface="Times New Roman"/>
                <a:ea typeface="Times New Roman"/>
                <a:cs typeface="Times New Roman"/>
              </a:rPr>
              <a:t>FIFO waiter wakeups and equal instance workloads are not guaranteed.</a:t>
            </a:r>
          </a:p>
        </p:txBody>
      </p:sp>
      <p:sp>
        <p:nvSpPr>
          <p:cNvPr id="11" name="text-63">
            <a:extLst xmlns:a="http://schemas.openxmlformats.org/drawingml/2006/main">
              <a:ext uri="{FF2B5EF4-FFF2-40B4-BE49-F238E27FC236}">
                <a16:creationId xmlns:a16="http://schemas.microsoft.com/office/drawing/2014/main" id="{3474443D-42D7-4B59-8E7A-6ECB7D1AF117}"/>
              </a:ext>
            </a:extLst>
          </p:cNvPr>
          <p:cNvSpPr>
            <a:spLocks xmlns:a="http://schemas.openxmlformats.org/drawingml/2006/main" noGrp="1"/>
          </p:cNvSpPr>
          <p:nvPr/>
        </p:nvSpPr>
        <p:spPr>
          <a:xfrm xmlns:a="http://schemas.openxmlformats.org/drawingml/2006/main">
            <a:off x="533400" y="560070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1515"/>
                </a:solidFill>
                <a:latin typeface="Times New Roman"/>
                <a:ea typeface="Times New Roman"/>
                <a:cs typeface="Times New Roman"/>
              </a:defRPr>
            </a:defPPr>
            <a:lvl1pPr algn="l">
              <a:defRPr sz="2100" b="0">
                <a:solidFill>
                  <a:srgbClr val="151515"/>
                </a:solidFill>
                <a:latin typeface="Times New Roman"/>
                <a:ea typeface="Times New Roman"/>
                <a:cs typeface="Times New Roman"/>
              </a:defRPr>
            </a:lvl1pPr>
            <a:lvl2pPr algn="l">
              <a:defRPr sz="2100" b="0">
                <a:solidFill>
                  <a:srgbClr val="151515"/>
                </a:solidFill>
                <a:latin typeface="Times New Roman"/>
                <a:ea typeface="Times New Roman"/>
                <a:cs typeface="Times New Roman"/>
              </a:defRPr>
            </a:lvl2pPr>
            <a:lvl3pPr algn="l">
              <a:defRPr sz="2100" b="0">
                <a:solidFill>
                  <a:srgbClr val="151515"/>
                </a:solidFill>
                <a:latin typeface="Times New Roman"/>
                <a:ea typeface="Times New Roman"/>
                <a:cs typeface="Times New Roman"/>
              </a:defRPr>
            </a:lvl3pPr>
            <a:lvl4pPr algn="l">
              <a:defRPr sz="2100" b="0">
                <a:solidFill>
                  <a:srgbClr val="151515"/>
                </a:solidFill>
                <a:latin typeface="Times New Roman"/>
                <a:ea typeface="Times New Roman"/>
                <a:cs typeface="Times New Roman"/>
              </a:defRPr>
            </a:lvl4pPr>
            <a:lvl5pPr algn="l">
              <a:defRPr sz="2100" b="0">
                <a:solidFill>
                  <a:srgbClr val="151515"/>
                </a:solidFill>
                <a:latin typeface="Times New Roman"/>
                <a:ea typeface="Times New Roman"/>
                <a:cs typeface="Times New Roman"/>
              </a:defRPr>
            </a:lvl5pPr>
            <a:lvl6pPr algn="l">
              <a:defRPr sz="2100" b="0">
                <a:solidFill>
                  <a:srgbClr val="151515"/>
                </a:solidFill>
                <a:latin typeface="Times New Roman"/>
                <a:ea typeface="Times New Roman"/>
                <a:cs typeface="Times New Roman"/>
              </a:defRPr>
            </a:lvl6pPr>
            <a:lvl7pPr algn="l">
              <a:defRPr sz="2100" b="0">
                <a:solidFill>
                  <a:srgbClr val="151515"/>
                </a:solidFill>
                <a:latin typeface="Times New Roman"/>
                <a:ea typeface="Times New Roman"/>
                <a:cs typeface="Times New Roman"/>
              </a:defRPr>
            </a:lvl7pPr>
            <a:lvl8pPr algn="l">
              <a:defRPr sz="2100" b="0">
                <a:solidFill>
                  <a:srgbClr val="151515"/>
                </a:solidFill>
                <a:latin typeface="Times New Roman"/>
                <a:ea typeface="Times New Roman"/>
                <a:cs typeface="Times New Roman"/>
              </a:defRPr>
            </a:lvl8pPr>
            <a:lvl9pPr algn="l">
              <a:defRPr sz="2100" b="0">
                <a:solidFill>
                  <a:srgbClr val="151515"/>
                </a:solidFill>
                <a:latin typeface="Times New Roman"/>
                <a:ea typeface="Times New Roman"/>
                <a:cs typeface="Times New Roman"/>
              </a:defRPr>
            </a:lvl9pPr>
          </a:lstStyle>
          <a:p xmlns:a="http://schemas.openxmlformats.org/drawingml/2006/main">
            <a:pPr algn="l">
              <a:lnSpc>
                <a:spcPct val="112000"/>
              </a:lnSpc>
              <a:buNone/>
              <a:defRPr sz="2100" b="0">
                <a:solidFill>
                  <a:srgbClr val="151515"/>
                </a:solidFill>
                <a:latin typeface="Times New Roman"/>
                <a:ea typeface="Times New Roman"/>
                <a:cs typeface="Times New Roman"/>
              </a:defRPr>
            </a:pPr>
            <a:r>
              <a:rPr sz="2100" b="0">
                <a:solidFill>
                  <a:srgbClr val="151515"/>
                </a:solidFill>
                <a:latin typeface="Times New Roman"/>
                <a:ea typeface="Times New Roman"/>
                <a:cs typeface="Times New Roman"/>
              </a:rPr>
              <a:t>Unmatched roles remain unassigned: 1 tank + 1 DPS cannot form a party.</a:t>
            </a:r>
          </a:p>
        </p:txBody>
      </p:sp>
    </p:spTree>
    <p:extLst>
      <p:ext uri="{BB962C8B-B14F-4D97-AF65-F5344CB8AC3E}">
        <p14:creationId xmlns:p14="http://schemas.microsoft.com/office/powerpoint/2010/main" val="52787895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264D0C32-F636-46A3-88FE-C52D30FC09BC}"/>
              </a:ext>
            </a:extLst>
          </p:cNvPr>
          <p:cNvSpPr>
            <a:spLocks xmlns:a="http://schemas.openxmlformats.org/drawingml/2006/main" noGrp="1"/>
          </p:cNvSpPr>
          <p:nvPr/>
        </p:nvSpPr>
        <p:spPr>
          <a:xfrm xmlns:a="http://schemas.openxmlformats.org/drawingml/2006/main">
            <a:off x="533400" y="361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51515"/>
                </a:solidFill>
                <a:latin typeface="Times New Roman"/>
                <a:ea typeface="Times New Roman"/>
                <a:cs typeface="Times New Roman"/>
              </a:defRPr>
            </a:defPPr>
            <a:lvl1pPr algn="l">
              <a:defRPr sz="3300" b="0">
                <a:solidFill>
                  <a:srgbClr val="151515"/>
                </a:solidFill>
                <a:latin typeface="Times New Roman"/>
                <a:ea typeface="Times New Roman"/>
                <a:cs typeface="Times New Roman"/>
              </a:defRPr>
            </a:lvl1pPr>
            <a:lvl2pPr algn="l">
              <a:defRPr sz="3300" b="0">
                <a:solidFill>
                  <a:srgbClr val="151515"/>
                </a:solidFill>
                <a:latin typeface="Times New Roman"/>
                <a:ea typeface="Times New Roman"/>
                <a:cs typeface="Times New Roman"/>
              </a:defRPr>
            </a:lvl2pPr>
            <a:lvl3pPr algn="l">
              <a:defRPr sz="3300" b="0">
                <a:solidFill>
                  <a:srgbClr val="151515"/>
                </a:solidFill>
                <a:latin typeface="Times New Roman"/>
                <a:ea typeface="Times New Roman"/>
                <a:cs typeface="Times New Roman"/>
              </a:defRPr>
            </a:lvl3pPr>
            <a:lvl4pPr algn="l">
              <a:defRPr sz="3300" b="0">
                <a:solidFill>
                  <a:srgbClr val="151515"/>
                </a:solidFill>
                <a:latin typeface="Times New Roman"/>
                <a:ea typeface="Times New Roman"/>
                <a:cs typeface="Times New Roman"/>
              </a:defRPr>
            </a:lvl4pPr>
            <a:lvl5pPr algn="l">
              <a:defRPr sz="3300" b="0">
                <a:solidFill>
                  <a:srgbClr val="151515"/>
                </a:solidFill>
                <a:latin typeface="Times New Roman"/>
                <a:ea typeface="Times New Roman"/>
                <a:cs typeface="Times New Roman"/>
              </a:defRPr>
            </a:lvl5pPr>
            <a:lvl6pPr algn="l">
              <a:defRPr sz="3300" b="0">
                <a:solidFill>
                  <a:srgbClr val="151515"/>
                </a:solidFill>
                <a:latin typeface="Times New Roman"/>
                <a:ea typeface="Times New Roman"/>
                <a:cs typeface="Times New Roman"/>
              </a:defRPr>
            </a:lvl6pPr>
            <a:lvl7pPr algn="l">
              <a:defRPr sz="3300" b="0">
                <a:solidFill>
                  <a:srgbClr val="151515"/>
                </a:solidFill>
                <a:latin typeface="Times New Roman"/>
                <a:ea typeface="Times New Roman"/>
                <a:cs typeface="Times New Roman"/>
              </a:defRPr>
            </a:lvl7pPr>
            <a:lvl8pPr algn="l">
              <a:defRPr sz="3300" b="0">
                <a:solidFill>
                  <a:srgbClr val="151515"/>
                </a:solidFill>
                <a:latin typeface="Times New Roman"/>
                <a:ea typeface="Times New Roman"/>
                <a:cs typeface="Times New Roman"/>
              </a:defRPr>
            </a:lvl8pPr>
            <a:lvl9pPr algn="l">
              <a:defRPr sz="3300" b="0">
                <a:solidFill>
                  <a:srgbClr val="151515"/>
                </a:solidFill>
                <a:latin typeface="Times New Roman"/>
                <a:ea typeface="Times New Roman"/>
                <a:cs typeface="Times New Roman"/>
              </a:defRPr>
            </a:lvl9pPr>
          </a:lstStyle>
          <a:p xmlns:a="http://schemas.openxmlformats.org/drawingml/2006/main">
            <a:pPr algn="l">
              <a:lnSpc>
                <a:spcPct val="112000"/>
              </a:lnSpc>
              <a:buNone/>
              <a:defRPr sz="3300" b="0">
                <a:solidFill>
                  <a:srgbClr val="151515"/>
                </a:solidFill>
                <a:latin typeface="Times New Roman"/>
                <a:ea typeface="Times New Roman"/>
                <a:cs typeface="Times New Roman"/>
              </a:defRPr>
            </a:pPr>
            <a:r>
              <a:rPr sz="3300" b="0">
                <a:solidFill>
                  <a:srgbClr val="151515"/>
                </a:solidFill>
                <a:latin typeface="Times New Roman"/>
                <a:ea typeface="Times New Roman"/>
                <a:cs typeface="Times New Roman"/>
              </a:rPr>
              <a:t>Shutdown and Error Handling</a:t>
            </a:r>
          </a:p>
        </p:txBody>
      </p:sp>
      <p:pic>
        <p:nvPicPr>
          <p:cNvPr id="3" name="">
            <a:extLst xmlns:a="http://schemas.openxmlformats.org/drawingml/2006/main">
              <a:ext uri="{FF2B5EF4-FFF2-40B4-BE49-F238E27FC236}">
                <a16:creationId xmlns:a16="http://schemas.microsoft.com/office/drawing/2014/main" id="{C2A0E7C3-32FF-410E-AFFB-1BCD902B0E22}"/>
              </a:ext>
            </a:extLst>
          </p:cNvPr>
          <p:cNvPicPr>
            <a:picLocks xmlns:a="http://schemas.openxmlformats.org/drawingml/2006/main" noChangeAspect="1"/>
          </p:cNvPicPr>
          <p:nvPr/>
        </p:nvPicPr>
        <p:blipFill>
          <a:blip xmlns:r="http://schemas.openxmlformats.org/officeDocument/2006/relationships" xmlns:a="http://schemas.openxmlformats.org/drawingml/2006/main" r:embed="R311391b846944e86"/>
          <a:stretch xmlns:a="http://schemas.openxmlformats.org/drawingml/2006/main"/>
        </p:blipFill>
        <p:spPr>
          <a:xfrm xmlns:a="http://schemas.openxmlformats.org/drawingml/2006/main">
            <a:off x="11458575" y="6238875"/>
            <a:ext cx="419100" cy="419100"/>
          </a:xfrm>
          <a:prstGeom xmlns:a="http://schemas.openxmlformats.org/drawingml/2006/main" prst="rect">
            <a:avLst/>
          </a:prstGeom>
        </p:spPr>
      </p:pic>
      <p:sp>
        <p:nvSpPr>
          <p:cNvPr id="4" name="text-64">
            <a:extLst xmlns:a="http://schemas.openxmlformats.org/drawingml/2006/main">
              <a:ext uri="{FF2B5EF4-FFF2-40B4-BE49-F238E27FC236}">
                <a16:creationId xmlns:a16="http://schemas.microsoft.com/office/drawing/2014/main" id="{E992C462-9A84-4607-8C82-BF703F9D3063}"/>
              </a:ext>
            </a:extLst>
          </p:cNvPr>
          <p:cNvSpPr>
            <a:spLocks xmlns:a="http://schemas.openxmlformats.org/drawingml/2006/main" noGrp="1"/>
          </p:cNvSpPr>
          <p:nvPr/>
        </p:nvSpPr>
        <p:spPr>
          <a:xfrm xmlns:a="http://schemas.openxmlformats.org/drawingml/2006/main">
            <a:off x="533400" y="64484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87644"/>
                </a:solidFill>
                <a:latin typeface="Times New Roman"/>
                <a:ea typeface="Times New Roman"/>
                <a:cs typeface="Times New Roman"/>
              </a:defRPr>
            </a:defPPr>
            <a:lvl1pPr algn="l">
              <a:defRPr sz="1275" b="0">
                <a:solidFill>
                  <a:srgbClr val="087644"/>
                </a:solidFill>
                <a:latin typeface="Times New Roman"/>
                <a:ea typeface="Times New Roman"/>
                <a:cs typeface="Times New Roman"/>
              </a:defRPr>
            </a:lvl1pPr>
            <a:lvl2pPr algn="l">
              <a:defRPr sz="1275" b="0">
                <a:solidFill>
                  <a:srgbClr val="087644"/>
                </a:solidFill>
                <a:latin typeface="Times New Roman"/>
                <a:ea typeface="Times New Roman"/>
                <a:cs typeface="Times New Roman"/>
              </a:defRPr>
            </a:lvl2pPr>
            <a:lvl3pPr algn="l">
              <a:defRPr sz="1275" b="0">
                <a:solidFill>
                  <a:srgbClr val="087644"/>
                </a:solidFill>
                <a:latin typeface="Times New Roman"/>
                <a:ea typeface="Times New Roman"/>
                <a:cs typeface="Times New Roman"/>
              </a:defRPr>
            </a:lvl3pPr>
            <a:lvl4pPr algn="l">
              <a:defRPr sz="1275" b="0">
                <a:solidFill>
                  <a:srgbClr val="087644"/>
                </a:solidFill>
                <a:latin typeface="Times New Roman"/>
                <a:ea typeface="Times New Roman"/>
                <a:cs typeface="Times New Roman"/>
              </a:defRPr>
            </a:lvl4pPr>
            <a:lvl5pPr algn="l">
              <a:defRPr sz="1275" b="0">
                <a:solidFill>
                  <a:srgbClr val="087644"/>
                </a:solidFill>
                <a:latin typeface="Times New Roman"/>
                <a:ea typeface="Times New Roman"/>
                <a:cs typeface="Times New Roman"/>
              </a:defRPr>
            </a:lvl5pPr>
            <a:lvl6pPr algn="l">
              <a:defRPr sz="1275" b="0">
                <a:solidFill>
                  <a:srgbClr val="087644"/>
                </a:solidFill>
                <a:latin typeface="Times New Roman"/>
                <a:ea typeface="Times New Roman"/>
                <a:cs typeface="Times New Roman"/>
              </a:defRPr>
            </a:lvl6pPr>
            <a:lvl7pPr algn="l">
              <a:defRPr sz="1275" b="0">
                <a:solidFill>
                  <a:srgbClr val="087644"/>
                </a:solidFill>
                <a:latin typeface="Times New Roman"/>
                <a:ea typeface="Times New Roman"/>
                <a:cs typeface="Times New Roman"/>
              </a:defRPr>
            </a:lvl7pPr>
            <a:lvl8pPr algn="l">
              <a:defRPr sz="1275" b="0">
                <a:solidFill>
                  <a:srgbClr val="087644"/>
                </a:solidFill>
                <a:latin typeface="Times New Roman"/>
                <a:ea typeface="Times New Roman"/>
                <a:cs typeface="Times New Roman"/>
              </a:defRPr>
            </a:lvl8pPr>
            <a:lvl9pPr algn="l">
              <a:defRPr sz="1275" b="0">
                <a:solidFill>
                  <a:srgbClr val="087644"/>
                </a:solidFill>
                <a:latin typeface="Times New Roman"/>
                <a:ea typeface="Times New Roman"/>
                <a:cs typeface="Times New Roman"/>
              </a:defRPr>
            </a:lvl9pPr>
          </a:lstStyle>
          <a:p xmlns:a="http://schemas.openxmlformats.org/drawingml/2006/main">
            <a:pPr algn="l">
              <a:lnSpc>
                <a:spcPct val="112000"/>
              </a:lnSpc>
              <a:buNone/>
              <a:defRPr sz="1275" b="0">
                <a:solidFill>
                  <a:srgbClr val="087644"/>
                </a:solidFill>
                <a:latin typeface="Times New Roman"/>
                <a:ea typeface="Times New Roman"/>
                <a:cs typeface="Times New Roman"/>
              </a:defRPr>
            </a:pPr>
            <a:r>
              <a:rPr sz="1275" b="0">
                <a:solidFill>
                  <a:srgbClr val="087644"/>
                </a:solidFill>
                <a:latin typeface="Times New Roman"/>
                <a:ea typeface="Times New Roman"/>
                <a:cs typeface="Times New Roman"/>
              </a:rPr>
              <a:t>13</a:t>
            </a:r>
          </a:p>
        </p:txBody>
      </p:sp>
      <p:sp>
        <p:nvSpPr>
          <p:cNvPr id="5" name="code-65">
            <a:extLst xmlns:a="http://schemas.openxmlformats.org/drawingml/2006/main">
              <a:ext uri="{FF2B5EF4-FFF2-40B4-BE49-F238E27FC236}">
                <a16:creationId xmlns:a16="http://schemas.microsoft.com/office/drawing/2014/main" id="{F50E5602-EEDF-4BAB-AE4D-437E26150812}"/>
              </a:ext>
            </a:extLst>
          </p:cNvPr>
          <p:cNvSpPr>
            <a:spLocks xmlns:a="http://schemas.openxmlformats.org/drawingml/2006/main" noGrp="1"/>
          </p:cNvSpPr>
          <p:nvPr/>
        </p:nvSpPr>
        <p:spPr>
          <a:xfrm xmlns:a="http://schemas.openxmlformats.org/drawingml/2006/main">
            <a:off x="533400" y="1333500"/>
            <a:ext cx="11125200" cy="2000250"/>
          </a:xfrm>
          <a:prstGeom xmlns:a="http://schemas.openxmlformats.org/drawingml/2006/main" prst="rect">
            <a:avLst/>
          </a:prstGeom>
          <a:solidFill xmlns:a="http://schemas.openxmlformats.org/drawingml/2006/main">
            <a:srgbClr val="17211C"/>
          </a:solidFill>
          <a:ln xmlns:a="http://schemas.openxmlformats.org/drawingml/2006/main" w="0">
            <a:noFill/>
          </a:ln>
        </p:spPr>
        <p:txBody>
          <a:bodyPr xmlns:a="http://schemas.openxmlformats.org/drawingml/2006/main" wrap="square" lIns="152400" tIns="152400" rIns="152400" bIns="152400" anchor="t">
            <a:noAutofit/>
          </a:bodyPr>
          <a:lstStyle xmlns:a="http://schemas.openxmlformats.org/drawingml/2006/main">
            <a:defPPr algn="l">
              <a:defRPr sz="1875" b="0">
                <a:solidFill>
                  <a:srgbClr val="F4F4F4"/>
                </a:solidFill>
                <a:latin typeface="Consolas"/>
                <a:ea typeface="Consolas"/>
                <a:cs typeface="Consolas"/>
              </a:defRPr>
            </a:defPPr>
            <a:lvl1pPr algn="l">
              <a:defRPr sz="1875" b="0">
                <a:solidFill>
                  <a:srgbClr val="F4F4F4"/>
                </a:solidFill>
                <a:latin typeface="Consolas"/>
                <a:ea typeface="Consolas"/>
                <a:cs typeface="Consolas"/>
              </a:defRPr>
            </a:lvl1pPr>
            <a:lvl2pPr algn="l">
              <a:defRPr sz="1875" b="0">
                <a:solidFill>
                  <a:srgbClr val="F4F4F4"/>
                </a:solidFill>
                <a:latin typeface="Consolas"/>
                <a:ea typeface="Consolas"/>
                <a:cs typeface="Consolas"/>
              </a:defRPr>
            </a:lvl2pPr>
            <a:lvl3pPr algn="l">
              <a:defRPr sz="1875" b="0">
                <a:solidFill>
                  <a:srgbClr val="F4F4F4"/>
                </a:solidFill>
                <a:latin typeface="Consolas"/>
                <a:ea typeface="Consolas"/>
                <a:cs typeface="Consolas"/>
              </a:defRPr>
            </a:lvl3pPr>
            <a:lvl4pPr algn="l">
              <a:defRPr sz="1875" b="0">
                <a:solidFill>
                  <a:srgbClr val="F4F4F4"/>
                </a:solidFill>
                <a:latin typeface="Consolas"/>
                <a:ea typeface="Consolas"/>
                <a:cs typeface="Consolas"/>
              </a:defRPr>
            </a:lvl4pPr>
            <a:lvl5pPr algn="l">
              <a:defRPr sz="1875" b="0">
                <a:solidFill>
                  <a:srgbClr val="F4F4F4"/>
                </a:solidFill>
                <a:latin typeface="Consolas"/>
                <a:ea typeface="Consolas"/>
                <a:cs typeface="Consolas"/>
              </a:defRPr>
            </a:lvl5pPr>
            <a:lvl6pPr algn="l">
              <a:defRPr sz="1875" b="0">
                <a:solidFill>
                  <a:srgbClr val="F4F4F4"/>
                </a:solidFill>
                <a:latin typeface="Consolas"/>
                <a:ea typeface="Consolas"/>
                <a:cs typeface="Consolas"/>
              </a:defRPr>
            </a:lvl6pPr>
            <a:lvl7pPr algn="l">
              <a:defRPr sz="1875" b="0">
                <a:solidFill>
                  <a:srgbClr val="F4F4F4"/>
                </a:solidFill>
                <a:latin typeface="Consolas"/>
                <a:ea typeface="Consolas"/>
                <a:cs typeface="Consolas"/>
              </a:defRPr>
            </a:lvl7pPr>
            <a:lvl8pPr algn="l">
              <a:defRPr sz="1875" b="0">
                <a:solidFill>
                  <a:srgbClr val="F4F4F4"/>
                </a:solidFill>
                <a:latin typeface="Consolas"/>
                <a:ea typeface="Consolas"/>
                <a:cs typeface="Consolas"/>
              </a:defRPr>
            </a:lvl8pPr>
            <a:lvl9pPr algn="l">
              <a:defRPr sz="1875" b="0">
                <a:solidFill>
                  <a:srgbClr val="F4F4F4"/>
                </a:solidFill>
                <a:latin typeface="Consolas"/>
                <a:ea typeface="Consolas"/>
                <a:cs typeface="Consolas"/>
              </a:defRPr>
            </a:lvl9pPr>
          </a:lstStyle>
          <a:p xmlns:a="http://schemas.openxmlformats.org/drawingml/2006/main">
            <a:pPr algn="l">
              <a:lnSpc>
                <a:spcPct val="112000"/>
              </a:lnSpc>
              <a:buNone/>
              <a:defRPr sz="1875" b="0">
                <a:solidFill>
                  <a:srgbClr val="F4F4F4"/>
                </a:solidFill>
                <a:latin typeface="Consolas"/>
                <a:ea typeface="Consolas"/>
                <a:cs typeface="Consolas"/>
              </a:defRPr>
            </a:pPr>
            <a:r>
              <a:rPr sz="1875" b="0">
                <a:solidFill>
                  <a:srgbClr val="F4F4F4"/>
                </a:solidFill>
                <a:latin typeface="Consolas"/>
                <a:ea typeface="Consolas"/>
                <a:cs typeface="Consolas"/>
              </a:rPr>
              <a:t>for (int index = 0;</a:t>
            </a:r>
          </a:p>
          <a:p xmlns:a="http://schemas.openxmlformats.org/drawingml/2006/main">
            <a:pPr algn="l">
              <a:lnSpc>
                <a:spcPct val="112000"/>
              </a:lnSpc>
              <a:buNone/>
              <a:defRPr sz="1875" b="0">
                <a:solidFill>
                  <a:srgbClr val="F4F4F4"/>
                </a:solidFill>
                <a:latin typeface="Consolas"/>
                <a:ea typeface="Consolas"/>
                <a:cs typeface="Consolas"/>
              </a:defRPr>
            </a:pPr>
            <a:r>
              <a:rPr sz="1875" b="0">
                <a:solidFill>
                  <a:srgbClr val="F4F4F4"/>
                </a:solidFill>
                <a:latin typeface="Consolas"/>
                <a:ea typeface="Consolas"/>
                <a:cs typeface="Consolas"/>
              </a:rPr>
              <a:t>     index &lt; config.instance_count; ++index) {</a:t>
            </a:r>
          </a:p>
          <a:p xmlns:a="http://schemas.openxmlformats.org/drawingml/2006/main">
            <a:pPr algn="l">
              <a:lnSpc>
                <a:spcPct val="112000"/>
              </a:lnSpc>
              <a:buNone/>
              <a:defRPr sz="1875" b="0">
                <a:solidFill>
                  <a:srgbClr val="F4F4F4"/>
                </a:solidFill>
                <a:latin typeface="Consolas"/>
                <a:ea typeface="Consolas"/>
                <a:cs typeface="Consolas"/>
              </a:defRPr>
            </a:pPr>
            <a:r>
              <a:rPr sz="1875" b="0">
                <a:solidFill>
                  <a:srgbClr val="F4F4F4"/>
                </a:solidFill>
                <a:latin typeface="Consolas"/>
                <a:ea typeface="Consolas"/>
                <a:cs typeface="Consolas"/>
              </a:rPr>
              <a:t>    jobs.push(std::nullopt);</a:t>
            </a:r>
          </a:p>
          <a:p xmlns:a="http://schemas.openxmlformats.org/drawingml/2006/main">
            <a:pPr algn="l">
              <a:lnSpc>
                <a:spcPct val="112000"/>
              </a:lnSpc>
              <a:buNone/>
              <a:defRPr sz="1875" b="0">
                <a:solidFill>
                  <a:srgbClr val="F4F4F4"/>
                </a:solidFill>
                <a:latin typeface="Consolas"/>
                <a:ea typeface="Consolas"/>
                <a:cs typeface="Consolas"/>
              </a:defRPr>
            </a:pPr>
            <a:r>
              <a:rPr sz="1875" b="0">
                <a:solidFill>
                  <a:srgbClr val="F4F4F4"/>
                </a:solidFill>
                <a:latin typeface="Consolas"/>
                <a:ea typeface="Consolas"/>
                <a:cs typeface="Consolas"/>
              </a:rPr>
              <a:t>}</a:t>
            </a:r>
          </a:p>
          <a:p xmlns:a="http://schemas.openxmlformats.org/drawingml/2006/main">
            <a:pPr algn="l">
              <a:lnSpc>
                <a:spcPct val="112000"/>
              </a:lnSpc>
              <a:buNone/>
              <a:defRPr sz="1875" b="0">
                <a:solidFill>
                  <a:srgbClr val="F4F4F4"/>
                </a:solidFill>
                <a:latin typeface="Consolas"/>
                <a:ea typeface="Consolas"/>
                <a:cs typeface="Consolas"/>
              </a:defRPr>
            </a:pPr>
            <a:r>
              <a:rPr sz="1875" b="0">
                <a:solidFill>
                  <a:srgbClr val="F4F4F4"/>
                </a:solidFill>
                <a:latin typeface="Consolas"/>
                <a:ea typeface="Consolas"/>
                <a:cs typeface="Consolas"/>
              </a:rPr>
              <a:t>available_jobs.release(jobs.size());</a:t>
            </a:r>
          </a:p>
        </p:txBody>
      </p:sp>
      <p:sp>
        <p:nvSpPr>
          <p:cNvPr id="6" name="text-66">
            <a:extLst xmlns:a="http://schemas.openxmlformats.org/drawingml/2006/main">
              <a:ext uri="{FF2B5EF4-FFF2-40B4-BE49-F238E27FC236}">
                <a16:creationId xmlns:a16="http://schemas.microsoft.com/office/drawing/2014/main" id="{C8B6F455-9559-403E-B82F-BF346E624EF3}"/>
              </a:ext>
            </a:extLst>
          </p:cNvPr>
          <p:cNvSpPr>
            <a:spLocks xmlns:a="http://schemas.openxmlformats.org/drawingml/2006/main" noGrp="1"/>
          </p:cNvSpPr>
          <p:nvPr/>
        </p:nvSpPr>
        <p:spPr>
          <a:xfrm xmlns:a="http://schemas.openxmlformats.org/drawingml/2006/main">
            <a:off x="533400" y="347662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Normal completion</a:t>
            </a:r>
          </a:p>
        </p:txBody>
      </p:sp>
      <p:sp>
        <p:nvSpPr>
          <p:cNvPr id="7" name="text-67">
            <a:extLst xmlns:a="http://schemas.openxmlformats.org/drawingml/2006/main">
              <a:ext uri="{FF2B5EF4-FFF2-40B4-BE49-F238E27FC236}">
                <a16:creationId xmlns:a16="http://schemas.microsoft.com/office/drawing/2014/main" id="{AC8D8F76-57ED-4903-8C69-9BF2574BEC22}"/>
              </a:ext>
            </a:extLst>
          </p:cNvPr>
          <p:cNvSpPr>
            <a:spLocks xmlns:a="http://schemas.openxmlformats.org/drawingml/2006/main" noGrp="1"/>
          </p:cNvSpPr>
          <p:nvPr/>
        </p:nvSpPr>
        <p:spPr>
          <a:xfrm xmlns:a="http://schemas.openxmlformats.org/drawingml/2006/main">
            <a:off x="533400" y="3952875"/>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515"/>
                </a:solidFill>
                <a:latin typeface="Times New Roman"/>
                <a:ea typeface="Times New Roman"/>
                <a:cs typeface="Times New Roman"/>
              </a:defRPr>
            </a:defPPr>
            <a:lvl1pPr algn="l">
              <a:defRPr sz="2175" b="0">
                <a:solidFill>
                  <a:srgbClr val="151515"/>
                </a:solidFill>
                <a:latin typeface="Times New Roman"/>
                <a:ea typeface="Times New Roman"/>
                <a:cs typeface="Times New Roman"/>
              </a:defRPr>
            </a:lvl1pPr>
            <a:lvl2pPr algn="l">
              <a:defRPr sz="2175" b="0">
                <a:solidFill>
                  <a:srgbClr val="151515"/>
                </a:solidFill>
                <a:latin typeface="Times New Roman"/>
                <a:ea typeface="Times New Roman"/>
                <a:cs typeface="Times New Roman"/>
              </a:defRPr>
            </a:lvl2pPr>
            <a:lvl3pPr algn="l">
              <a:defRPr sz="2175" b="0">
                <a:solidFill>
                  <a:srgbClr val="151515"/>
                </a:solidFill>
                <a:latin typeface="Times New Roman"/>
                <a:ea typeface="Times New Roman"/>
                <a:cs typeface="Times New Roman"/>
              </a:defRPr>
            </a:lvl3pPr>
            <a:lvl4pPr algn="l">
              <a:defRPr sz="2175" b="0">
                <a:solidFill>
                  <a:srgbClr val="151515"/>
                </a:solidFill>
                <a:latin typeface="Times New Roman"/>
                <a:ea typeface="Times New Roman"/>
                <a:cs typeface="Times New Roman"/>
              </a:defRPr>
            </a:lvl4pPr>
            <a:lvl5pPr algn="l">
              <a:defRPr sz="2175" b="0">
                <a:solidFill>
                  <a:srgbClr val="151515"/>
                </a:solidFill>
                <a:latin typeface="Times New Roman"/>
                <a:ea typeface="Times New Roman"/>
                <a:cs typeface="Times New Roman"/>
              </a:defRPr>
            </a:lvl5pPr>
            <a:lvl6pPr algn="l">
              <a:defRPr sz="2175" b="0">
                <a:solidFill>
                  <a:srgbClr val="151515"/>
                </a:solidFill>
                <a:latin typeface="Times New Roman"/>
                <a:ea typeface="Times New Roman"/>
                <a:cs typeface="Times New Roman"/>
              </a:defRPr>
            </a:lvl6pPr>
            <a:lvl7pPr algn="l">
              <a:defRPr sz="2175" b="0">
                <a:solidFill>
                  <a:srgbClr val="151515"/>
                </a:solidFill>
                <a:latin typeface="Times New Roman"/>
                <a:ea typeface="Times New Roman"/>
                <a:cs typeface="Times New Roman"/>
              </a:defRPr>
            </a:lvl7pPr>
            <a:lvl8pPr algn="l">
              <a:defRPr sz="2175" b="0">
                <a:solidFill>
                  <a:srgbClr val="151515"/>
                </a:solidFill>
                <a:latin typeface="Times New Roman"/>
                <a:ea typeface="Times New Roman"/>
                <a:cs typeface="Times New Roman"/>
              </a:defRPr>
            </a:lvl8pPr>
            <a:lvl9pPr algn="l">
              <a:defRPr sz="2175" b="0">
                <a:solidFill>
                  <a:srgbClr val="151515"/>
                </a:solidFill>
                <a:latin typeface="Times New Roman"/>
                <a:ea typeface="Times New Roman"/>
                <a:cs typeface="Times New Roman"/>
              </a:defRPr>
            </a:lvl9pPr>
          </a:lstStyle>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One marker stops one worker.</a:t>
            </a:r>
          </a:p>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Main joins all workers before reporting.</a:t>
            </a:r>
          </a:p>
        </p:txBody>
      </p:sp>
      <p:sp>
        <p:nvSpPr>
          <p:cNvPr id="8" name="text-68">
            <a:extLst xmlns:a="http://schemas.openxmlformats.org/drawingml/2006/main">
              <a:ext uri="{FF2B5EF4-FFF2-40B4-BE49-F238E27FC236}">
                <a16:creationId xmlns:a16="http://schemas.microsoft.com/office/drawing/2014/main" id="{120D11CE-157E-4545-A312-27125C382E51}"/>
              </a:ext>
            </a:extLst>
          </p:cNvPr>
          <p:cNvSpPr>
            <a:spLocks xmlns:a="http://schemas.openxmlformats.org/drawingml/2006/main" noGrp="1"/>
          </p:cNvSpPr>
          <p:nvPr/>
        </p:nvSpPr>
        <p:spPr>
          <a:xfrm xmlns:a="http://schemas.openxmlformats.org/drawingml/2006/main">
            <a:off x="6238875" y="3476625"/>
            <a:ext cx="5419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Exceptional cleanup</a:t>
            </a:r>
          </a:p>
        </p:txBody>
      </p:sp>
      <p:sp>
        <p:nvSpPr>
          <p:cNvPr id="9" name="text-69">
            <a:extLst xmlns:a="http://schemas.openxmlformats.org/drawingml/2006/main">
              <a:ext uri="{FF2B5EF4-FFF2-40B4-BE49-F238E27FC236}">
                <a16:creationId xmlns:a16="http://schemas.microsoft.com/office/drawing/2014/main" id="{4478431C-29D4-4EE2-A2AF-9746D8BCC49D}"/>
              </a:ext>
            </a:extLst>
          </p:cNvPr>
          <p:cNvSpPr>
            <a:spLocks xmlns:a="http://schemas.openxmlformats.org/drawingml/2006/main" noGrp="1"/>
          </p:cNvSpPr>
          <p:nvPr/>
        </p:nvSpPr>
        <p:spPr>
          <a:xfrm xmlns:a="http://schemas.openxmlformats.org/drawingml/2006/main">
            <a:off x="6238875" y="3952875"/>
            <a:ext cx="54197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515"/>
                </a:solidFill>
                <a:latin typeface="Times New Roman"/>
                <a:ea typeface="Times New Roman"/>
                <a:cs typeface="Times New Roman"/>
              </a:defRPr>
            </a:defPPr>
            <a:lvl1pPr algn="l">
              <a:defRPr sz="2175" b="0">
                <a:solidFill>
                  <a:srgbClr val="151515"/>
                </a:solidFill>
                <a:latin typeface="Times New Roman"/>
                <a:ea typeface="Times New Roman"/>
                <a:cs typeface="Times New Roman"/>
              </a:defRPr>
            </a:lvl1pPr>
            <a:lvl2pPr algn="l">
              <a:defRPr sz="2175" b="0">
                <a:solidFill>
                  <a:srgbClr val="151515"/>
                </a:solidFill>
                <a:latin typeface="Times New Roman"/>
                <a:ea typeface="Times New Roman"/>
                <a:cs typeface="Times New Roman"/>
              </a:defRPr>
            </a:lvl2pPr>
            <a:lvl3pPr algn="l">
              <a:defRPr sz="2175" b="0">
                <a:solidFill>
                  <a:srgbClr val="151515"/>
                </a:solidFill>
                <a:latin typeface="Times New Roman"/>
                <a:ea typeface="Times New Roman"/>
                <a:cs typeface="Times New Roman"/>
              </a:defRPr>
            </a:lvl3pPr>
            <a:lvl4pPr algn="l">
              <a:defRPr sz="2175" b="0">
                <a:solidFill>
                  <a:srgbClr val="151515"/>
                </a:solidFill>
                <a:latin typeface="Times New Roman"/>
                <a:ea typeface="Times New Roman"/>
                <a:cs typeface="Times New Roman"/>
              </a:defRPr>
            </a:lvl4pPr>
            <a:lvl5pPr algn="l">
              <a:defRPr sz="2175" b="0">
                <a:solidFill>
                  <a:srgbClr val="151515"/>
                </a:solidFill>
                <a:latin typeface="Times New Roman"/>
                <a:ea typeface="Times New Roman"/>
                <a:cs typeface="Times New Roman"/>
              </a:defRPr>
            </a:lvl5pPr>
            <a:lvl6pPr algn="l">
              <a:defRPr sz="2175" b="0">
                <a:solidFill>
                  <a:srgbClr val="151515"/>
                </a:solidFill>
                <a:latin typeface="Times New Roman"/>
                <a:ea typeface="Times New Roman"/>
                <a:cs typeface="Times New Roman"/>
              </a:defRPr>
            </a:lvl6pPr>
            <a:lvl7pPr algn="l">
              <a:defRPr sz="2175" b="0">
                <a:solidFill>
                  <a:srgbClr val="151515"/>
                </a:solidFill>
                <a:latin typeface="Times New Roman"/>
                <a:ea typeface="Times New Roman"/>
                <a:cs typeface="Times New Roman"/>
              </a:defRPr>
            </a:lvl7pPr>
            <a:lvl8pPr algn="l">
              <a:defRPr sz="2175" b="0">
                <a:solidFill>
                  <a:srgbClr val="151515"/>
                </a:solidFill>
                <a:latin typeface="Times New Roman"/>
                <a:ea typeface="Times New Roman"/>
                <a:cs typeface="Times New Roman"/>
              </a:defRPr>
            </a:lvl8pPr>
            <a:lvl9pPr algn="l">
              <a:defRPr sz="2175" b="0">
                <a:solidFill>
                  <a:srgbClr val="151515"/>
                </a:solidFill>
                <a:latin typeface="Times New Roman"/>
                <a:ea typeface="Times New Roman"/>
                <a:cs typeface="Times New Roman"/>
              </a:defRPr>
            </a:lvl9pPr>
          </a:lstStyle>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Atomic cancellation stops new claims.</a:t>
            </a:r>
          </a:p>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Main joins workers, then rethrows.</a:t>
            </a:r>
          </a:p>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Partial thread creation also joins safely.</a:t>
            </a:r>
          </a:p>
        </p:txBody>
      </p:sp>
      <p:sp>
        <p:nvSpPr>
          <p:cNvPr id="10" name="text-70">
            <a:extLst xmlns:a="http://schemas.openxmlformats.org/drawingml/2006/main">
              <a:ext uri="{FF2B5EF4-FFF2-40B4-BE49-F238E27FC236}">
                <a16:creationId xmlns:a16="http://schemas.microsoft.com/office/drawing/2014/main" id="{AD26DA9B-2FFF-4EB9-90D0-F6568130C382}"/>
              </a:ext>
            </a:extLst>
          </p:cNvPr>
          <p:cNvSpPr>
            <a:spLocks xmlns:a="http://schemas.openxmlformats.org/drawingml/2006/main" noGrp="1"/>
          </p:cNvSpPr>
          <p:nvPr/>
        </p:nvSpPr>
        <p:spPr>
          <a:xfrm xmlns:a="http://schemas.openxmlformats.org/drawingml/2006/main">
            <a:off x="533400" y="567690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1515"/>
                </a:solidFill>
                <a:latin typeface="Times New Roman"/>
                <a:ea typeface="Times New Roman"/>
                <a:cs typeface="Times New Roman"/>
              </a:defRPr>
            </a:defPPr>
            <a:lvl1pPr algn="l">
              <a:defRPr sz="2100" b="0">
                <a:solidFill>
                  <a:srgbClr val="151515"/>
                </a:solidFill>
                <a:latin typeface="Times New Roman"/>
                <a:ea typeface="Times New Roman"/>
                <a:cs typeface="Times New Roman"/>
              </a:defRPr>
            </a:lvl1pPr>
            <a:lvl2pPr algn="l">
              <a:defRPr sz="2100" b="0">
                <a:solidFill>
                  <a:srgbClr val="151515"/>
                </a:solidFill>
                <a:latin typeface="Times New Roman"/>
                <a:ea typeface="Times New Roman"/>
                <a:cs typeface="Times New Roman"/>
              </a:defRPr>
            </a:lvl2pPr>
            <a:lvl3pPr algn="l">
              <a:defRPr sz="2100" b="0">
                <a:solidFill>
                  <a:srgbClr val="151515"/>
                </a:solidFill>
                <a:latin typeface="Times New Roman"/>
                <a:ea typeface="Times New Roman"/>
                <a:cs typeface="Times New Roman"/>
              </a:defRPr>
            </a:lvl3pPr>
            <a:lvl4pPr algn="l">
              <a:defRPr sz="2100" b="0">
                <a:solidFill>
                  <a:srgbClr val="151515"/>
                </a:solidFill>
                <a:latin typeface="Times New Roman"/>
                <a:ea typeface="Times New Roman"/>
                <a:cs typeface="Times New Roman"/>
              </a:defRPr>
            </a:lvl4pPr>
            <a:lvl5pPr algn="l">
              <a:defRPr sz="2100" b="0">
                <a:solidFill>
                  <a:srgbClr val="151515"/>
                </a:solidFill>
                <a:latin typeface="Times New Roman"/>
                <a:ea typeface="Times New Roman"/>
                <a:cs typeface="Times New Roman"/>
              </a:defRPr>
            </a:lvl5pPr>
            <a:lvl6pPr algn="l">
              <a:defRPr sz="2100" b="0">
                <a:solidFill>
                  <a:srgbClr val="151515"/>
                </a:solidFill>
                <a:latin typeface="Times New Roman"/>
                <a:ea typeface="Times New Roman"/>
                <a:cs typeface="Times New Roman"/>
              </a:defRPr>
            </a:lvl6pPr>
            <a:lvl7pPr algn="l">
              <a:defRPr sz="2100" b="0">
                <a:solidFill>
                  <a:srgbClr val="151515"/>
                </a:solidFill>
                <a:latin typeface="Times New Roman"/>
                <a:ea typeface="Times New Roman"/>
                <a:cs typeface="Times New Roman"/>
              </a:defRPr>
            </a:lvl7pPr>
            <a:lvl8pPr algn="l">
              <a:defRPr sz="2100" b="0">
                <a:solidFill>
                  <a:srgbClr val="151515"/>
                </a:solidFill>
                <a:latin typeface="Times New Roman"/>
                <a:ea typeface="Times New Roman"/>
                <a:cs typeface="Times New Roman"/>
              </a:defRPr>
            </a:lvl8pPr>
            <a:lvl9pPr algn="l">
              <a:defRPr sz="2100" b="0">
                <a:solidFill>
                  <a:srgbClr val="151515"/>
                </a:solidFill>
                <a:latin typeface="Times New Roman"/>
                <a:ea typeface="Times New Roman"/>
                <a:cs typeface="Times New Roman"/>
              </a:defRPr>
            </a:lvl9pPr>
          </a:lstStyle>
          <a:p xmlns:a="http://schemas.openxmlformats.org/drawingml/2006/main">
            <a:pPr algn="l">
              <a:lnSpc>
                <a:spcPct val="112000"/>
              </a:lnSpc>
              <a:buNone/>
              <a:defRPr sz="2100" b="0">
                <a:solidFill>
                  <a:srgbClr val="151515"/>
                </a:solidFill>
                <a:latin typeface="Times New Roman"/>
                <a:ea typeface="Times New Roman"/>
                <a:cs typeface="Times New Roman"/>
              </a:defRPr>
            </a:pPr>
            <a:r>
              <a:rPr sz="2100" b="0">
                <a:solidFill>
                  <a:srgbClr val="151515"/>
                </a:solidFill>
                <a:latin typeface="Times New Roman"/>
                <a:ea typeface="Times New Roman"/>
                <a:cs typeface="Times New Roman"/>
              </a:rPr>
              <a:t>Jobs and markers are ready before worker creation.</a:t>
            </a:r>
          </a:p>
        </p:txBody>
      </p:sp>
    </p:spTree>
    <p:extLst>
      <p:ext uri="{BB962C8B-B14F-4D97-AF65-F5344CB8AC3E}">
        <p14:creationId xmlns:p14="http://schemas.microsoft.com/office/powerpoint/2010/main" val="181271725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CD579680-26EB-46D6-8227-6ED02B9974AF}"/>
              </a:ext>
            </a:extLst>
          </p:cNvPr>
          <p:cNvSpPr>
            <a:spLocks xmlns:a="http://schemas.openxmlformats.org/drawingml/2006/main" noGrp="1"/>
          </p:cNvSpPr>
          <p:nvPr/>
        </p:nvSpPr>
        <p:spPr>
          <a:xfrm xmlns:a="http://schemas.openxmlformats.org/drawingml/2006/main">
            <a:off x="533400" y="361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51515"/>
                </a:solidFill>
                <a:latin typeface="Times New Roman"/>
                <a:ea typeface="Times New Roman"/>
                <a:cs typeface="Times New Roman"/>
              </a:defRPr>
            </a:defPPr>
            <a:lvl1pPr algn="l">
              <a:defRPr sz="3300" b="0">
                <a:solidFill>
                  <a:srgbClr val="151515"/>
                </a:solidFill>
                <a:latin typeface="Times New Roman"/>
                <a:ea typeface="Times New Roman"/>
                <a:cs typeface="Times New Roman"/>
              </a:defRPr>
            </a:lvl1pPr>
            <a:lvl2pPr algn="l">
              <a:defRPr sz="3300" b="0">
                <a:solidFill>
                  <a:srgbClr val="151515"/>
                </a:solidFill>
                <a:latin typeface="Times New Roman"/>
                <a:ea typeface="Times New Roman"/>
                <a:cs typeface="Times New Roman"/>
              </a:defRPr>
            </a:lvl2pPr>
            <a:lvl3pPr algn="l">
              <a:defRPr sz="3300" b="0">
                <a:solidFill>
                  <a:srgbClr val="151515"/>
                </a:solidFill>
                <a:latin typeface="Times New Roman"/>
                <a:ea typeface="Times New Roman"/>
                <a:cs typeface="Times New Roman"/>
              </a:defRPr>
            </a:lvl3pPr>
            <a:lvl4pPr algn="l">
              <a:defRPr sz="3300" b="0">
                <a:solidFill>
                  <a:srgbClr val="151515"/>
                </a:solidFill>
                <a:latin typeface="Times New Roman"/>
                <a:ea typeface="Times New Roman"/>
                <a:cs typeface="Times New Roman"/>
              </a:defRPr>
            </a:lvl4pPr>
            <a:lvl5pPr algn="l">
              <a:defRPr sz="3300" b="0">
                <a:solidFill>
                  <a:srgbClr val="151515"/>
                </a:solidFill>
                <a:latin typeface="Times New Roman"/>
                <a:ea typeface="Times New Roman"/>
                <a:cs typeface="Times New Roman"/>
              </a:defRPr>
            </a:lvl5pPr>
            <a:lvl6pPr algn="l">
              <a:defRPr sz="3300" b="0">
                <a:solidFill>
                  <a:srgbClr val="151515"/>
                </a:solidFill>
                <a:latin typeface="Times New Roman"/>
                <a:ea typeface="Times New Roman"/>
                <a:cs typeface="Times New Roman"/>
              </a:defRPr>
            </a:lvl6pPr>
            <a:lvl7pPr algn="l">
              <a:defRPr sz="3300" b="0">
                <a:solidFill>
                  <a:srgbClr val="151515"/>
                </a:solidFill>
                <a:latin typeface="Times New Roman"/>
                <a:ea typeface="Times New Roman"/>
                <a:cs typeface="Times New Roman"/>
              </a:defRPr>
            </a:lvl7pPr>
            <a:lvl8pPr algn="l">
              <a:defRPr sz="3300" b="0">
                <a:solidFill>
                  <a:srgbClr val="151515"/>
                </a:solidFill>
                <a:latin typeface="Times New Roman"/>
                <a:ea typeface="Times New Roman"/>
                <a:cs typeface="Times New Roman"/>
              </a:defRPr>
            </a:lvl8pPr>
            <a:lvl9pPr algn="l">
              <a:defRPr sz="3300" b="0">
                <a:solidFill>
                  <a:srgbClr val="151515"/>
                </a:solidFill>
                <a:latin typeface="Times New Roman"/>
                <a:ea typeface="Times New Roman"/>
                <a:cs typeface="Times New Roman"/>
              </a:defRPr>
            </a:lvl9pPr>
          </a:lstStyle>
          <a:p xmlns:a="http://schemas.openxmlformats.org/drawingml/2006/main">
            <a:pPr algn="l">
              <a:lnSpc>
                <a:spcPct val="112000"/>
              </a:lnSpc>
              <a:buNone/>
              <a:defRPr sz="3300" b="0">
                <a:solidFill>
                  <a:srgbClr val="151515"/>
                </a:solidFill>
                <a:latin typeface="Times New Roman"/>
                <a:ea typeface="Times New Roman"/>
                <a:cs typeface="Times New Roman"/>
              </a:defRPr>
            </a:pPr>
            <a:r>
              <a:rPr sz="3300" b="0">
                <a:solidFill>
                  <a:srgbClr val="151515"/>
                </a:solidFill>
                <a:latin typeface="Times New Roman"/>
                <a:ea typeface="Times New Roman"/>
                <a:cs typeface="Times New Roman"/>
              </a:rPr>
              <a:t>Example Run</a:t>
            </a:r>
          </a:p>
        </p:txBody>
      </p:sp>
      <p:pic>
        <p:nvPicPr>
          <p:cNvPr id="3" name="">
            <a:extLst xmlns:a="http://schemas.openxmlformats.org/drawingml/2006/main">
              <a:ext uri="{FF2B5EF4-FFF2-40B4-BE49-F238E27FC236}">
                <a16:creationId xmlns:a16="http://schemas.microsoft.com/office/drawing/2014/main" id="{47EAF068-2BAE-4446-A518-653432A2CF3A}"/>
              </a:ext>
            </a:extLst>
          </p:cNvPr>
          <p:cNvPicPr>
            <a:picLocks xmlns:a="http://schemas.openxmlformats.org/drawingml/2006/main" noChangeAspect="1"/>
          </p:cNvPicPr>
          <p:nvPr/>
        </p:nvPicPr>
        <p:blipFill>
          <a:blip xmlns:r="http://schemas.openxmlformats.org/officeDocument/2006/relationships" xmlns:a="http://schemas.openxmlformats.org/drawingml/2006/main" r:embed="Ree96ca513d8a49b7"/>
          <a:stretch xmlns:a="http://schemas.openxmlformats.org/drawingml/2006/main"/>
        </p:blipFill>
        <p:spPr>
          <a:xfrm xmlns:a="http://schemas.openxmlformats.org/drawingml/2006/main">
            <a:off x="11458575" y="6238875"/>
            <a:ext cx="419100" cy="419100"/>
          </a:xfrm>
          <a:prstGeom xmlns:a="http://schemas.openxmlformats.org/drawingml/2006/main" prst="rect">
            <a:avLst/>
          </a:prstGeom>
        </p:spPr>
      </p:pic>
      <p:sp>
        <p:nvSpPr>
          <p:cNvPr id="4" name="text-71">
            <a:extLst xmlns:a="http://schemas.openxmlformats.org/drawingml/2006/main">
              <a:ext uri="{FF2B5EF4-FFF2-40B4-BE49-F238E27FC236}">
                <a16:creationId xmlns:a16="http://schemas.microsoft.com/office/drawing/2014/main" id="{380E492D-2819-40BA-90F4-581BEAB0D6D9}"/>
              </a:ext>
            </a:extLst>
          </p:cNvPr>
          <p:cNvSpPr>
            <a:spLocks xmlns:a="http://schemas.openxmlformats.org/drawingml/2006/main" noGrp="1"/>
          </p:cNvSpPr>
          <p:nvPr/>
        </p:nvSpPr>
        <p:spPr>
          <a:xfrm xmlns:a="http://schemas.openxmlformats.org/drawingml/2006/main">
            <a:off x="533400" y="64484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87644"/>
                </a:solidFill>
                <a:latin typeface="Times New Roman"/>
                <a:ea typeface="Times New Roman"/>
                <a:cs typeface="Times New Roman"/>
              </a:defRPr>
            </a:defPPr>
            <a:lvl1pPr algn="l">
              <a:defRPr sz="1275" b="0">
                <a:solidFill>
                  <a:srgbClr val="087644"/>
                </a:solidFill>
                <a:latin typeface="Times New Roman"/>
                <a:ea typeface="Times New Roman"/>
                <a:cs typeface="Times New Roman"/>
              </a:defRPr>
            </a:lvl1pPr>
            <a:lvl2pPr algn="l">
              <a:defRPr sz="1275" b="0">
                <a:solidFill>
                  <a:srgbClr val="087644"/>
                </a:solidFill>
                <a:latin typeface="Times New Roman"/>
                <a:ea typeface="Times New Roman"/>
                <a:cs typeface="Times New Roman"/>
              </a:defRPr>
            </a:lvl2pPr>
            <a:lvl3pPr algn="l">
              <a:defRPr sz="1275" b="0">
                <a:solidFill>
                  <a:srgbClr val="087644"/>
                </a:solidFill>
                <a:latin typeface="Times New Roman"/>
                <a:ea typeface="Times New Roman"/>
                <a:cs typeface="Times New Roman"/>
              </a:defRPr>
            </a:lvl3pPr>
            <a:lvl4pPr algn="l">
              <a:defRPr sz="1275" b="0">
                <a:solidFill>
                  <a:srgbClr val="087644"/>
                </a:solidFill>
                <a:latin typeface="Times New Roman"/>
                <a:ea typeface="Times New Roman"/>
                <a:cs typeface="Times New Roman"/>
              </a:defRPr>
            </a:lvl4pPr>
            <a:lvl5pPr algn="l">
              <a:defRPr sz="1275" b="0">
                <a:solidFill>
                  <a:srgbClr val="087644"/>
                </a:solidFill>
                <a:latin typeface="Times New Roman"/>
                <a:ea typeface="Times New Roman"/>
                <a:cs typeface="Times New Roman"/>
              </a:defRPr>
            </a:lvl5pPr>
            <a:lvl6pPr algn="l">
              <a:defRPr sz="1275" b="0">
                <a:solidFill>
                  <a:srgbClr val="087644"/>
                </a:solidFill>
                <a:latin typeface="Times New Roman"/>
                <a:ea typeface="Times New Roman"/>
                <a:cs typeface="Times New Roman"/>
              </a:defRPr>
            </a:lvl6pPr>
            <a:lvl7pPr algn="l">
              <a:defRPr sz="1275" b="0">
                <a:solidFill>
                  <a:srgbClr val="087644"/>
                </a:solidFill>
                <a:latin typeface="Times New Roman"/>
                <a:ea typeface="Times New Roman"/>
                <a:cs typeface="Times New Roman"/>
              </a:defRPr>
            </a:lvl7pPr>
            <a:lvl8pPr algn="l">
              <a:defRPr sz="1275" b="0">
                <a:solidFill>
                  <a:srgbClr val="087644"/>
                </a:solidFill>
                <a:latin typeface="Times New Roman"/>
                <a:ea typeface="Times New Roman"/>
                <a:cs typeface="Times New Roman"/>
              </a:defRPr>
            </a:lvl8pPr>
            <a:lvl9pPr algn="l">
              <a:defRPr sz="1275" b="0">
                <a:solidFill>
                  <a:srgbClr val="087644"/>
                </a:solidFill>
                <a:latin typeface="Times New Roman"/>
                <a:ea typeface="Times New Roman"/>
                <a:cs typeface="Times New Roman"/>
              </a:defRPr>
            </a:lvl9pPr>
          </a:lstStyle>
          <a:p xmlns:a="http://schemas.openxmlformats.org/drawingml/2006/main">
            <a:pPr algn="l">
              <a:lnSpc>
                <a:spcPct val="112000"/>
              </a:lnSpc>
              <a:buNone/>
              <a:defRPr sz="1275" b="0">
                <a:solidFill>
                  <a:srgbClr val="087644"/>
                </a:solidFill>
                <a:latin typeface="Times New Roman"/>
                <a:ea typeface="Times New Roman"/>
                <a:cs typeface="Times New Roman"/>
              </a:defRPr>
            </a:pPr>
            <a:r>
              <a:rPr sz="1275" b="0">
                <a:solidFill>
                  <a:srgbClr val="087644"/>
                </a:solidFill>
                <a:latin typeface="Times New Roman"/>
                <a:ea typeface="Times New Roman"/>
                <a:cs typeface="Times New Roman"/>
              </a:rPr>
              <a:t>14</a:t>
            </a:r>
          </a:p>
        </p:txBody>
      </p:sp>
      <p:sp>
        <p:nvSpPr>
          <p:cNvPr id="5" name="text-72">
            <a:extLst xmlns:a="http://schemas.openxmlformats.org/drawingml/2006/main">
              <a:ext uri="{FF2B5EF4-FFF2-40B4-BE49-F238E27FC236}">
                <a16:creationId xmlns:a16="http://schemas.microsoft.com/office/drawing/2014/main" id="{31F8793F-4D6F-4DE5-AB8E-12CA654A7D3E}"/>
              </a:ext>
            </a:extLst>
          </p:cNvPr>
          <p:cNvSpPr>
            <a:spLocks xmlns:a="http://schemas.openxmlformats.org/drawingml/2006/main" noGrp="1"/>
          </p:cNvSpPr>
          <p:nvPr/>
        </p:nvSpPr>
        <p:spPr>
          <a:xfrm xmlns:a="http://schemas.openxmlformats.org/drawingml/2006/main">
            <a:off x="533400" y="128587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51515"/>
                </a:solidFill>
                <a:latin typeface="Times New Roman"/>
                <a:ea typeface="Times New Roman"/>
                <a:cs typeface="Times New Roman"/>
              </a:defRPr>
            </a:defPPr>
            <a:lvl1pPr algn="l">
              <a:defRPr sz="2325" b="0">
                <a:solidFill>
                  <a:srgbClr val="151515"/>
                </a:solidFill>
                <a:latin typeface="Times New Roman"/>
                <a:ea typeface="Times New Roman"/>
                <a:cs typeface="Times New Roman"/>
              </a:defRPr>
            </a:lvl1pPr>
            <a:lvl2pPr algn="l">
              <a:defRPr sz="2325" b="0">
                <a:solidFill>
                  <a:srgbClr val="151515"/>
                </a:solidFill>
                <a:latin typeface="Times New Roman"/>
                <a:ea typeface="Times New Roman"/>
                <a:cs typeface="Times New Roman"/>
              </a:defRPr>
            </a:lvl2pPr>
            <a:lvl3pPr algn="l">
              <a:defRPr sz="2325" b="0">
                <a:solidFill>
                  <a:srgbClr val="151515"/>
                </a:solidFill>
                <a:latin typeface="Times New Roman"/>
                <a:ea typeface="Times New Roman"/>
                <a:cs typeface="Times New Roman"/>
              </a:defRPr>
            </a:lvl3pPr>
            <a:lvl4pPr algn="l">
              <a:defRPr sz="2325" b="0">
                <a:solidFill>
                  <a:srgbClr val="151515"/>
                </a:solidFill>
                <a:latin typeface="Times New Roman"/>
                <a:ea typeface="Times New Roman"/>
                <a:cs typeface="Times New Roman"/>
              </a:defRPr>
            </a:lvl4pPr>
            <a:lvl5pPr algn="l">
              <a:defRPr sz="2325" b="0">
                <a:solidFill>
                  <a:srgbClr val="151515"/>
                </a:solidFill>
                <a:latin typeface="Times New Roman"/>
                <a:ea typeface="Times New Roman"/>
                <a:cs typeface="Times New Roman"/>
              </a:defRPr>
            </a:lvl5pPr>
            <a:lvl6pPr algn="l">
              <a:defRPr sz="2325" b="0">
                <a:solidFill>
                  <a:srgbClr val="151515"/>
                </a:solidFill>
                <a:latin typeface="Times New Roman"/>
                <a:ea typeface="Times New Roman"/>
                <a:cs typeface="Times New Roman"/>
              </a:defRPr>
            </a:lvl6pPr>
            <a:lvl7pPr algn="l">
              <a:defRPr sz="2325" b="0">
                <a:solidFill>
                  <a:srgbClr val="151515"/>
                </a:solidFill>
                <a:latin typeface="Times New Roman"/>
                <a:ea typeface="Times New Roman"/>
                <a:cs typeface="Times New Roman"/>
              </a:defRPr>
            </a:lvl7pPr>
            <a:lvl8pPr algn="l">
              <a:defRPr sz="2325" b="0">
                <a:solidFill>
                  <a:srgbClr val="151515"/>
                </a:solidFill>
                <a:latin typeface="Times New Roman"/>
                <a:ea typeface="Times New Roman"/>
                <a:cs typeface="Times New Roman"/>
              </a:defRPr>
            </a:lvl8pPr>
            <a:lvl9pPr algn="l">
              <a:defRPr sz="2325" b="0">
                <a:solidFill>
                  <a:srgbClr val="151515"/>
                </a:solidFill>
                <a:latin typeface="Times New Roman"/>
                <a:ea typeface="Times New Roman"/>
                <a:cs typeface="Times New Roman"/>
              </a:defRPr>
            </a:lvl9pPr>
          </a:lstStyle>
          <a:p xmlns:a="http://schemas.openxmlformats.org/drawingml/2006/main">
            <a:pPr algn="l">
              <a:lnSpc>
                <a:spcPct val="112000"/>
              </a:lnSpc>
              <a:buNone/>
              <a:defRPr sz="2325" b="0">
                <a:solidFill>
                  <a:srgbClr val="151515"/>
                </a:solidFill>
                <a:latin typeface="Times New Roman"/>
                <a:ea typeface="Times New Roman"/>
                <a:cs typeface="Times New Roman"/>
              </a:defRPr>
            </a:pPr>
            <a:r>
              <a:rPr sz="2325" b="0">
                <a:solidFill>
                  <a:srgbClr val="151515"/>
                </a:solidFill>
                <a:latin typeface="Times New Roman"/>
                <a:ea typeface="Times New Roman"/>
                <a:cs typeface="Times New Roman"/>
              </a:rPr>
              <a:t>Input: 2 4 3 10 1 1</a:t>
            </a:r>
          </a:p>
        </p:txBody>
      </p:sp>
      <p:sp>
        <p:nvSpPr>
          <p:cNvPr id="6" name="code-73">
            <a:extLst xmlns:a="http://schemas.openxmlformats.org/drawingml/2006/main">
              <a:ext uri="{FF2B5EF4-FFF2-40B4-BE49-F238E27FC236}">
                <a16:creationId xmlns:a16="http://schemas.microsoft.com/office/drawing/2014/main" id="{9B8F9B28-F7DA-4963-9F20-CF70F54624DA}"/>
              </a:ext>
            </a:extLst>
          </p:cNvPr>
          <p:cNvSpPr>
            <a:spLocks xmlns:a="http://schemas.openxmlformats.org/drawingml/2006/main" noGrp="1"/>
          </p:cNvSpPr>
          <p:nvPr/>
        </p:nvSpPr>
        <p:spPr>
          <a:xfrm xmlns:a="http://schemas.openxmlformats.org/drawingml/2006/main">
            <a:off x="533400" y="1876425"/>
            <a:ext cx="11125200" cy="1476375"/>
          </a:xfrm>
          <a:prstGeom xmlns:a="http://schemas.openxmlformats.org/drawingml/2006/main" prst="rect">
            <a:avLst/>
          </a:prstGeom>
          <a:solidFill xmlns:a="http://schemas.openxmlformats.org/drawingml/2006/main">
            <a:srgbClr val="17211C"/>
          </a:solidFill>
          <a:ln xmlns:a="http://schemas.openxmlformats.org/drawingml/2006/main" w="0">
            <a:noFill/>
          </a:ln>
        </p:spPr>
        <p:txBody>
          <a:bodyPr xmlns:a="http://schemas.openxmlformats.org/drawingml/2006/main" wrap="square" lIns="152400" tIns="152400" rIns="152400" bIns="152400" anchor="t">
            <a:noAutofit/>
          </a:bodyPr>
          <a:lstStyle xmlns:a="http://schemas.openxmlformats.org/drawingml/2006/main">
            <a:defPPr algn="l">
              <a:defRPr sz="1725" b="0">
                <a:solidFill>
                  <a:srgbClr val="F4F4F4"/>
                </a:solidFill>
                <a:latin typeface="Consolas"/>
                <a:ea typeface="Consolas"/>
                <a:cs typeface="Consolas"/>
              </a:defRPr>
            </a:defPPr>
            <a:lvl1pPr algn="l">
              <a:defRPr sz="1725" b="0">
                <a:solidFill>
                  <a:srgbClr val="F4F4F4"/>
                </a:solidFill>
                <a:latin typeface="Consolas"/>
                <a:ea typeface="Consolas"/>
                <a:cs typeface="Consolas"/>
              </a:defRPr>
            </a:lvl1pPr>
            <a:lvl2pPr algn="l">
              <a:defRPr sz="1725" b="0">
                <a:solidFill>
                  <a:srgbClr val="F4F4F4"/>
                </a:solidFill>
                <a:latin typeface="Consolas"/>
                <a:ea typeface="Consolas"/>
                <a:cs typeface="Consolas"/>
              </a:defRPr>
            </a:lvl2pPr>
            <a:lvl3pPr algn="l">
              <a:defRPr sz="1725" b="0">
                <a:solidFill>
                  <a:srgbClr val="F4F4F4"/>
                </a:solidFill>
                <a:latin typeface="Consolas"/>
                <a:ea typeface="Consolas"/>
                <a:cs typeface="Consolas"/>
              </a:defRPr>
            </a:lvl3pPr>
            <a:lvl4pPr algn="l">
              <a:defRPr sz="1725" b="0">
                <a:solidFill>
                  <a:srgbClr val="F4F4F4"/>
                </a:solidFill>
                <a:latin typeface="Consolas"/>
                <a:ea typeface="Consolas"/>
                <a:cs typeface="Consolas"/>
              </a:defRPr>
            </a:lvl4pPr>
            <a:lvl5pPr algn="l">
              <a:defRPr sz="1725" b="0">
                <a:solidFill>
                  <a:srgbClr val="F4F4F4"/>
                </a:solidFill>
                <a:latin typeface="Consolas"/>
                <a:ea typeface="Consolas"/>
                <a:cs typeface="Consolas"/>
              </a:defRPr>
            </a:lvl5pPr>
            <a:lvl6pPr algn="l">
              <a:defRPr sz="1725" b="0">
                <a:solidFill>
                  <a:srgbClr val="F4F4F4"/>
                </a:solidFill>
                <a:latin typeface="Consolas"/>
                <a:ea typeface="Consolas"/>
                <a:cs typeface="Consolas"/>
              </a:defRPr>
            </a:lvl6pPr>
            <a:lvl7pPr algn="l">
              <a:defRPr sz="1725" b="0">
                <a:solidFill>
                  <a:srgbClr val="F4F4F4"/>
                </a:solidFill>
                <a:latin typeface="Consolas"/>
                <a:ea typeface="Consolas"/>
                <a:cs typeface="Consolas"/>
              </a:defRPr>
            </a:lvl7pPr>
            <a:lvl8pPr algn="l">
              <a:defRPr sz="1725" b="0">
                <a:solidFill>
                  <a:srgbClr val="F4F4F4"/>
                </a:solidFill>
                <a:latin typeface="Consolas"/>
                <a:ea typeface="Consolas"/>
                <a:cs typeface="Consolas"/>
              </a:defRPr>
            </a:lvl8pPr>
            <a:lvl9pPr algn="l">
              <a:defRPr sz="1725" b="0">
                <a:solidFill>
                  <a:srgbClr val="F4F4F4"/>
                </a:solidFill>
                <a:latin typeface="Consolas"/>
                <a:ea typeface="Consolas"/>
                <a:cs typeface="Consolas"/>
              </a:defRPr>
            </a:lvl9pPr>
          </a:lstStyle>
          <a:p xmlns:a="http://schemas.openxmlformats.org/drawingml/2006/main">
            <a:pPr algn="l">
              <a:lnSpc>
                <a:spcPct val="112000"/>
              </a:lnSpc>
              <a:buNone/>
              <a:defRPr sz="1725" b="0">
                <a:solidFill>
                  <a:srgbClr val="F4F4F4"/>
                </a:solidFill>
                <a:latin typeface="Consolas"/>
                <a:ea typeface="Consolas"/>
                <a:cs typeface="Consolas"/>
              </a:defRPr>
            </a:pPr>
            <a:r>
              <a:rPr sz="1725" b="0">
                <a:solidFill>
                  <a:srgbClr val="F4F4F4"/>
                </a:solidFill>
                <a:latin typeface="Consolas"/>
                <a:ea typeface="Consolas"/>
                <a:cs typeface="Consolas"/>
              </a:rPr>
              <a:t>Instance 1: active | Party 1 | Tank T1 | Healer H1</a:t>
            </a:r>
          </a:p>
          <a:p xmlns:a="http://schemas.openxmlformats.org/drawingml/2006/main">
            <a:pPr algn="l">
              <a:lnSpc>
                <a:spcPct val="112000"/>
              </a:lnSpc>
              <a:buNone/>
              <a:defRPr sz="1725" b="0">
                <a:solidFill>
                  <a:srgbClr val="F4F4F4"/>
                </a:solidFill>
                <a:latin typeface="Consolas"/>
                <a:ea typeface="Consolas"/>
                <a:cs typeface="Consolas"/>
              </a:defRPr>
            </a:pPr>
            <a:r>
              <a:rPr sz="1725" b="0">
                <a:solidFill>
                  <a:srgbClr val="F4F4F4"/>
                </a:solidFill>
                <a:latin typeface="Consolas"/>
                <a:ea typeface="Consolas"/>
                <a:cs typeface="Consolas"/>
              </a:rPr>
              <a:t>  | DPS D1, D2, D3 | Duration 1 s</a:t>
            </a:r>
          </a:p>
          <a:p xmlns:a="http://schemas.openxmlformats.org/drawingml/2006/main">
            <a:pPr algn="l">
              <a:lnSpc>
                <a:spcPct val="112000"/>
              </a:lnSpc>
              <a:buNone/>
              <a:defRPr sz="1725" b="0">
                <a:solidFill>
                  <a:srgbClr val="F4F4F4"/>
                </a:solidFill>
                <a:latin typeface="Consolas"/>
                <a:ea typeface="Consolas"/>
                <a:cs typeface="Consolas"/>
              </a:defRPr>
            </a:pPr>
            <a:r>
              <a:rPr sz="1725" b="0">
                <a:solidFill>
                  <a:srgbClr val="F4F4F4"/>
                </a:solidFill>
                <a:latin typeface="Consolas"/>
                <a:ea typeface="Consolas"/>
                <a:cs typeface="Consolas"/>
              </a:rPr>
              <a:t>Instance 2: active | Party 2 | Tank T2 | Healer H2</a:t>
            </a:r>
          </a:p>
          <a:p xmlns:a="http://schemas.openxmlformats.org/drawingml/2006/main">
            <a:pPr algn="l">
              <a:lnSpc>
                <a:spcPct val="112000"/>
              </a:lnSpc>
              <a:buNone/>
              <a:defRPr sz="1725" b="0">
                <a:solidFill>
                  <a:srgbClr val="F4F4F4"/>
                </a:solidFill>
                <a:latin typeface="Consolas"/>
                <a:ea typeface="Consolas"/>
                <a:cs typeface="Consolas"/>
              </a:defRPr>
            </a:pPr>
            <a:r>
              <a:rPr sz="1725" b="0">
                <a:solidFill>
                  <a:srgbClr val="F4F4F4"/>
                </a:solidFill>
                <a:latin typeface="Consolas"/>
                <a:ea typeface="Consolas"/>
                <a:cs typeface="Consolas"/>
              </a:rPr>
              <a:t>  | DPS D4, D5, D6 | Duration 1 s</a:t>
            </a:r>
          </a:p>
        </p:txBody>
      </p:sp>
      <p:graphicFrame>
        <p:nvGraphicFramePr>
          <p:cNvPr id="7" name="">
            <a:extLst xmlns:a="http://schemas.openxmlformats.org/drawingml/2006/main">
              <a:ext uri="{FF2B5EF4-FFF2-40B4-BE49-F238E27FC236}">
                <a16:creationId xmlns:a16="http://schemas.microsoft.com/office/drawing/2014/main" id="{5601F3B6-BC04-4A3F-80B7-9326A342D280}"/>
              </a:ext>
            </a:extLst>
          </p:cNvPr>
          <p:cNvGraphicFramePr/>
          <p:nvPr/>
        </p:nvGraphicFramePr>
        <p:xfrm>
          <a:off xmlns:a="http://schemas.openxmlformats.org/drawingml/2006/main" x="533400" y="3714750"/>
          <a:ext xmlns:a="http://schemas.openxmlformats.org/drawingml/2006/main" cx="11125200" cy="1476375"/>
        </p:xfrm>
        <a:graphic xmlns:a="http://schemas.openxmlformats.org/drawingml/2006/main">
          <a:graphicData uri="http://schemas.openxmlformats.org/drawingml/2006/table">
            <a:tbl>
              <a:tblPr firstRow="0" bandRow="0"/>
              <a:tblGrid>
                <a:gridCol w="3333750"/>
                <a:gridCol w="3524250"/>
                <a:gridCol w="4267200"/>
              </a:tblGrid>
              <a:tr h="492125">
                <a:tc>
                  <a:txBody>
                    <a:bodyPr wrap="square" lIns="133350" tIns="95250" rIns="133350" bIns="95250"/>
                    <a:lstStyle/>
                    <a:p>
                      <a:r>
                        <a:rPr sz="2100" b="1">
                          <a:solidFill>
                            <a:srgbClr val="087644"/>
                          </a:solidFill>
                          <a:latin typeface="Times New Roman"/>
                          <a:ea typeface="Times New Roman"/>
                          <a:cs typeface="Times New Roman"/>
                        </a:rPr>
                        <a:t>Instance</a:t>
                      </a:r>
                    </a:p>
                  </a:txBody>
                  <a:tcPr marL="91440" marR="91440" marT="45720" marB="45720" anchor="ctr">
                    <a:lnL w="6668">
                      <a:solidFill>
                        <a:srgbClr val="9EAAA3"/>
                      </a:solidFill>
                      <a:prstDash val="solid"/>
                    </a:lnL>
                    <a:lnR w="6668">
                      <a:solidFill>
                        <a:srgbClr val="9EAAA3"/>
                      </a:solidFill>
                      <a:prstDash val="solid"/>
                    </a:lnR>
                    <a:lnT w="6668">
                      <a:solidFill>
                        <a:srgbClr val="9EAAA3"/>
                      </a:solidFill>
                      <a:prstDash val="solid"/>
                    </a:lnT>
                    <a:lnB w="6668">
                      <a:solidFill>
                        <a:srgbClr val="9EAAA3"/>
                      </a:solidFill>
                      <a:prstDash val="solid"/>
                    </a:lnB>
                    <a:solidFill>
                      <a:srgbClr val="E7F0EA"/>
                    </a:solidFill>
                  </a:tcPr>
                </a:tc>
                <a:tc>
                  <a:txBody>
                    <a:bodyPr wrap="square" lIns="133350" tIns="95250" rIns="133350" bIns="95250"/>
                    <a:lstStyle/>
                    <a:p>
                      <a:r>
                        <a:rPr sz="2100" b="1">
                          <a:solidFill>
                            <a:srgbClr val="087644"/>
                          </a:solidFill>
                          <a:latin typeface="Times New Roman"/>
                          <a:ea typeface="Times New Roman"/>
                          <a:cs typeface="Times New Roman"/>
                        </a:rPr>
                        <a:t>Parties served</a:t>
                      </a:r>
                    </a:p>
                  </a:txBody>
                  <a:tcPr marL="91440" marR="91440" marT="45720" marB="45720" anchor="ctr">
                    <a:lnR w="6668">
                      <a:solidFill>
                        <a:srgbClr val="9EAAA3"/>
                      </a:solidFill>
                      <a:prstDash val="solid"/>
                    </a:lnR>
                    <a:lnT w="6668">
                      <a:solidFill>
                        <a:srgbClr val="9EAAA3"/>
                      </a:solidFill>
                      <a:prstDash val="solid"/>
                    </a:lnT>
                    <a:lnB w="6668">
                      <a:solidFill>
                        <a:srgbClr val="9EAAA3"/>
                      </a:solidFill>
                      <a:prstDash val="solid"/>
                    </a:lnB>
                    <a:solidFill>
                      <a:srgbClr val="E7F0EA"/>
                    </a:solidFill>
                  </a:tcPr>
                </a:tc>
                <a:tc>
                  <a:txBody>
                    <a:bodyPr wrap="square" lIns="133350" tIns="95250" rIns="133350" bIns="95250"/>
                    <a:lstStyle/>
                    <a:p>
                      <a:r>
                        <a:rPr sz="2100" b="1">
                          <a:solidFill>
                            <a:srgbClr val="087644"/>
                          </a:solidFill>
                          <a:latin typeface="Times New Roman"/>
                          <a:ea typeface="Times New Roman"/>
                          <a:cs typeface="Times New Roman"/>
                        </a:rPr>
                        <a:t>Total time served</a:t>
                      </a:r>
                    </a:p>
                  </a:txBody>
                  <a:tcPr marL="91440" marR="91440" marT="45720" marB="45720" anchor="ctr">
                    <a:lnR w="6668">
                      <a:solidFill>
                        <a:srgbClr val="9EAAA3"/>
                      </a:solidFill>
                      <a:prstDash val="solid"/>
                    </a:lnR>
                    <a:lnT w="6668">
                      <a:solidFill>
                        <a:srgbClr val="9EAAA3"/>
                      </a:solidFill>
                      <a:prstDash val="solid"/>
                    </a:lnT>
                    <a:lnB w="6668">
                      <a:solidFill>
                        <a:srgbClr val="9EAAA3"/>
                      </a:solidFill>
                      <a:prstDash val="solid"/>
                    </a:lnB>
                    <a:solidFill>
                      <a:srgbClr val="E7F0EA"/>
                    </a:solidFill>
                  </a:tcPr>
                </a:tc>
              </a:tr>
              <a:tr h="492125">
                <a:tc>
                  <a:txBody>
                    <a:bodyPr wrap="square" lIns="133350" tIns="95250" rIns="133350" bIns="95250"/>
                    <a:lstStyle/>
                    <a:p>
                      <a:r>
                        <a:rPr sz="2100" b="0">
                          <a:solidFill>
                            <a:srgbClr val="151515"/>
                          </a:solidFill>
                          <a:latin typeface="Times New Roman"/>
                          <a:ea typeface="Times New Roman"/>
                          <a:cs typeface="Times New Roman"/>
                        </a:rPr>
                        <a:t>1</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2100" b="0">
                          <a:solidFill>
                            <a:srgbClr val="151515"/>
                          </a:solidFill>
                          <a:latin typeface="Times New Roman"/>
                          <a:ea typeface="Times New Roman"/>
                          <a:cs typeface="Times New Roman"/>
                        </a:rPr>
                        <a:t>2</a:t>
                      </a:r>
                    </a:p>
                  </a:txBody>
                  <a:tcPr marL="91440" marR="91440" marT="45720" marB="45720" anchor="ctr">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2100" b="0">
                          <a:solidFill>
                            <a:srgbClr val="151515"/>
                          </a:solidFill>
                          <a:latin typeface="Times New Roman"/>
                          <a:ea typeface="Times New Roman"/>
                          <a:cs typeface="Times New Roman"/>
                        </a:rPr>
                        <a:t>2 s</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r h="492125">
                <a:tc>
                  <a:txBody>
                    <a:bodyPr wrap="square" lIns="133350" tIns="95250" rIns="133350" bIns="95250"/>
                    <a:lstStyle/>
                    <a:p>
                      <a:r>
                        <a:rPr sz="2100" b="0">
                          <a:solidFill>
                            <a:srgbClr val="151515"/>
                          </a:solidFill>
                          <a:latin typeface="Times New Roman"/>
                          <a:ea typeface="Times New Roman"/>
                          <a:cs typeface="Times New Roman"/>
                        </a:rPr>
                        <a:t>2</a:t>
                      </a:r>
                    </a:p>
                  </a:txBody>
                  <a:tcPr marL="91440" marR="91440" marT="45720" marB="45720" anchor="ctr">
                    <a:lnL w="6668">
                      <a:solidFill>
                        <a:srgbClr val="9EAAA3"/>
                      </a:solidFill>
                      <a:prstDash val="solid"/>
                    </a:lnL>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2100" b="0">
                          <a:solidFill>
                            <a:srgbClr val="151515"/>
                          </a:solidFill>
                          <a:latin typeface="Times New Roman"/>
                          <a:ea typeface="Times New Roman"/>
                          <a:cs typeface="Times New Roman"/>
                        </a:rPr>
                        <a:t>1</a:t>
                      </a:r>
                    </a:p>
                  </a:txBody>
                  <a:tcPr marL="91440" marR="91440" marT="45720" marB="45720" anchor="ctr">
                    <a:lnR w="6668">
                      <a:solidFill>
                        <a:srgbClr val="9EAAA3"/>
                      </a:solidFill>
                      <a:prstDash val="solid"/>
                    </a:lnR>
                    <a:lnB w="6668">
                      <a:solidFill>
                        <a:srgbClr val="9EAAA3"/>
                      </a:solidFill>
                      <a:prstDash val="solid"/>
                    </a:lnB>
                    <a:solidFill>
                      <a:srgbClr val="FFFFFF"/>
                    </a:solidFill>
                  </a:tcPr>
                </a:tc>
                <a:tc>
                  <a:txBody>
                    <a:bodyPr wrap="square" lIns="133350" tIns="95250" rIns="133350" bIns="95250"/>
                    <a:lstStyle/>
                    <a:p>
                      <a:r>
                        <a:rPr sz="2100" b="0">
                          <a:solidFill>
                            <a:srgbClr val="151515"/>
                          </a:solidFill>
                          <a:latin typeface="Times New Roman"/>
                          <a:ea typeface="Times New Roman"/>
                          <a:cs typeface="Times New Roman"/>
                        </a:rPr>
                        <a:t>1 s</a:t>
                      </a:r>
                    </a:p>
                  </a:txBody>
                  <a:tcPr marL="91440" marR="91440" marT="45720" marB="45720" anchor="ctr">
                    <a:lnR w="6668">
                      <a:solidFill>
                        <a:srgbClr val="9EAAA3"/>
                      </a:solidFill>
                      <a:prstDash val="solid"/>
                    </a:lnR>
                    <a:lnB w="6668">
                      <a:solidFill>
                        <a:srgbClr val="9EAAA3"/>
                      </a:solidFill>
                      <a:prstDash val="solid"/>
                    </a:lnB>
                    <a:solidFill>
                      <a:srgbClr val="FFFFFF"/>
                    </a:solidFill>
                  </a:tcPr>
                </a:tc>
              </a:tr>
            </a:tbl>
          </a:graphicData>
        </a:graphic>
      </p:graphicFrame>
      <p:sp>
        <p:nvSpPr>
          <p:cNvPr id="8" name="text-74">
            <a:extLst xmlns:a="http://schemas.openxmlformats.org/drawingml/2006/main">
              <a:ext uri="{FF2B5EF4-FFF2-40B4-BE49-F238E27FC236}">
                <a16:creationId xmlns:a16="http://schemas.microsoft.com/office/drawing/2014/main" id="{76B67C99-D4A3-430E-AC7F-9BFBC1673335}"/>
              </a:ext>
            </a:extLst>
          </p:cNvPr>
          <p:cNvSpPr>
            <a:spLocks xmlns:a="http://schemas.openxmlformats.org/drawingml/2006/main" noGrp="1"/>
          </p:cNvSpPr>
          <p:nvPr/>
        </p:nvSpPr>
        <p:spPr>
          <a:xfrm xmlns:a="http://schemas.openxmlformats.org/drawingml/2006/main">
            <a:off x="533400" y="525780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51515"/>
                </a:solidFill>
                <a:latin typeface="Times New Roman"/>
                <a:ea typeface="Times New Roman"/>
                <a:cs typeface="Times New Roman"/>
              </a:defRPr>
            </a:defPPr>
            <a:lvl1pPr algn="l">
              <a:defRPr sz="1800" b="0">
                <a:solidFill>
                  <a:srgbClr val="151515"/>
                </a:solidFill>
                <a:latin typeface="Times New Roman"/>
                <a:ea typeface="Times New Roman"/>
                <a:cs typeface="Times New Roman"/>
              </a:defRPr>
            </a:lvl1pPr>
            <a:lvl2pPr algn="l">
              <a:defRPr sz="1800" b="0">
                <a:solidFill>
                  <a:srgbClr val="151515"/>
                </a:solidFill>
                <a:latin typeface="Times New Roman"/>
                <a:ea typeface="Times New Roman"/>
                <a:cs typeface="Times New Roman"/>
              </a:defRPr>
            </a:lvl2pPr>
            <a:lvl3pPr algn="l">
              <a:defRPr sz="1800" b="0">
                <a:solidFill>
                  <a:srgbClr val="151515"/>
                </a:solidFill>
                <a:latin typeface="Times New Roman"/>
                <a:ea typeface="Times New Roman"/>
                <a:cs typeface="Times New Roman"/>
              </a:defRPr>
            </a:lvl3pPr>
            <a:lvl4pPr algn="l">
              <a:defRPr sz="1800" b="0">
                <a:solidFill>
                  <a:srgbClr val="151515"/>
                </a:solidFill>
                <a:latin typeface="Times New Roman"/>
                <a:ea typeface="Times New Roman"/>
                <a:cs typeface="Times New Roman"/>
              </a:defRPr>
            </a:lvl4pPr>
            <a:lvl5pPr algn="l">
              <a:defRPr sz="1800" b="0">
                <a:solidFill>
                  <a:srgbClr val="151515"/>
                </a:solidFill>
                <a:latin typeface="Times New Roman"/>
                <a:ea typeface="Times New Roman"/>
                <a:cs typeface="Times New Roman"/>
              </a:defRPr>
            </a:lvl5pPr>
            <a:lvl6pPr algn="l">
              <a:defRPr sz="1800" b="0">
                <a:solidFill>
                  <a:srgbClr val="151515"/>
                </a:solidFill>
                <a:latin typeface="Times New Roman"/>
                <a:ea typeface="Times New Roman"/>
                <a:cs typeface="Times New Roman"/>
              </a:defRPr>
            </a:lvl6pPr>
            <a:lvl7pPr algn="l">
              <a:defRPr sz="1800" b="0">
                <a:solidFill>
                  <a:srgbClr val="151515"/>
                </a:solidFill>
                <a:latin typeface="Times New Roman"/>
                <a:ea typeface="Times New Roman"/>
                <a:cs typeface="Times New Roman"/>
              </a:defRPr>
            </a:lvl7pPr>
            <a:lvl8pPr algn="l">
              <a:defRPr sz="1800" b="0">
                <a:solidFill>
                  <a:srgbClr val="151515"/>
                </a:solidFill>
                <a:latin typeface="Times New Roman"/>
                <a:ea typeface="Times New Roman"/>
                <a:cs typeface="Times New Roman"/>
              </a:defRPr>
            </a:lvl8pPr>
            <a:lvl9pPr algn="l">
              <a:defRPr sz="1800" b="0">
                <a:solidFill>
                  <a:srgbClr val="151515"/>
                </a:solidFill>
                <a:latin typeface="Times New Roman"/>
                <a:ea typeface="Times New Roman"/>
                <a:cs typeface="Times New Roman"/>
              </a:defRPr>
            </a:lvl9pPr>
          </a:lstStyle>
          <a:p xmlns:a="http://schemas.openxmlformats.org/drawingml/2006/main">
            <a:pPr algn="l">
              <a:lnSpc>
                <a:spcPct val="112000"/>
              </a:lnSpc>
              <a:buNone/>
              <a:defRPr sz="1800" b="0">
                <a:solidFill>
                  <a:srgbClr val="151515"/>
                </a:solidFill>
                <a:latin typeface="Times New Roman"/>
                <a:ea typeface="Times New Roman"/>
                <a:cs typeface="Times New Roman"/>
              </a:defRPr>
            </a:pPr>
            <a:r>
              <a:rPr sz="1800" b="0">
                <a:solidFill>
                  <a:srgbClr val="151515"/>
                </a:solidFill>
                <a:latin typeface="Times New Roman"/>
                <a:ea typeface="Times New Roman"/>
                <a:cs typeface="Times New Roman"/>
              </a:rPr>
              <a:t>Both instances ended empty. Instance assignments may vary.</a:t>
            </a:r>
          </a:p>
        </p:txBody>
      </p:sp>
      <p:sp>
        <p:nvSpPr>
          <p:cNvPr id="9" name="text-75">
            <a:extLst xmlns:a="http://schemas.openxmlformats.org/drawingml/2006/main">
              <a:ext uri="{FF2B5EF4-FFF2-40B4-BE49-F238E27FC236}">
                <a16:creationId xmlns:a16="http://schemas.microsoft.com/office/drawing/2014/main" id="{A2B11590-2C65-42D4-9882-3F2AFA8D327C}"/>
              </a:ext>
            </a:extLst>
          </p:cNvPr>
          <p:cNvSpPr>
            <a:spLocks xmlns:a="http://schemas.openxmlformats.org/drawingml/2006/main" noGrp="1"/>
          </p:cNvSpPr>
          <p:nvPr/>
        </p:nvSpPr>
        <p:spPr>
          <a:xfrm xmlns:a="http://schemas.openxmlformats.org/drawingml/2006/main">
            <a:off x="533400" y="5686425"/>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1515"/>
                </a:solidFill>
                <a:latin typeface="Times New Roman"/>
                <a:ea typeface="Times New Roman"/>
                <a:cs typeface="Times New Roman"/>
              </a:defRPr>
            </a:defPPr>
            <a:lvl1pPr algn="l">
              <a:defRPr sz="2100" b="0">
                <a:solidFill>
                  <a:srgbClr val="151515"/>
                </a:solidFill>
                <a:latin typeface="Times New Roman"/>
                <a:ea typeface="Times New Roman"/>
                <a:cs typeface="Times New Roman"/>
              </a:defRPr>
            </a:lvl1pPr>
            <a:lvl2pPr algn="l">
              <a:defRPr sz="2100" b="0">
                <a:solidFill>
                  <a:srgbClr val="151515"/>
                </a:solidFill>
                <a:latin typeface="Times New Roman"/>
                <a:ea typeface="Times New Roman"/>
                <a:cs typeface="Times New Roman"/>
              </a:defRPr>
            </a:lvl2pPr>
            <a:lvl3pPr algn="l">
              <a:defRPr sz="2100" b="0">
                <a:solidFill>
                  <a:srgbClr val="151515"/>
                </a:solidFill>
                <a:latin typeface="Times New Roman"/>
                <a:ea typeface="Times New Roman"/>
                <a:cs typeface="Times New Roman"/>
              </a:defRPr>
            </a:lvl3pPr>
            <a:lvl4pPr algn="l">
              <a:defRPr sz="2100" b="0">
                <a:solidFill>
                  <a:srgbClr val="151515"/>
                </a:solidFill>
                <a:latin typeface="Times New Roman"/>
                <a:ea typeface="Times New Roman"/>
                <a:cs typeface="Times New Roman"/>
              </a:defRPr>
            </a:lvl4pPr>
            <a:lvl5pPr algn="l">
              <a:defRPr sz="2100" b="0">
                <a:solidFill>
                  <a:srgbClr val="151515"/>
                </a:solidFill>
                <a:latin typeface="Times New Roman"/>
                <a:ea typeface="Times New Roman"/>
                <a:cs typeface="Times New Roman"/>
              </a:defRPr>
            </a:lvl5pPr>
            <a:lvl6pPr algn="l">
              <a:defRPr sz="2100" b="0">
                <a:solidFill>
                  <a:srgbClr val="151515"/>
                </a:solidFill>
                <a:latin typeface="Times New Roman"/>
                <a:ea typeface="Times New Roman"/>
                <a:cs typeface="Times New Roman"/>
              </a:defRPr>
            </a:lvl6pPr>
            <a:lvl7pPr algn="l">
              <a:defRPr sz="2100" b="0">
                <a:solidFill>
                  <a:srgbClr val="151515"/>
                </a:solidFill>
                <a:latin typeface="Times New Roman"/>
                <a:ea typeface="Times New Roman"/>
                <a:cs typeface="Times New Roman"/>
              </a:defRPr>
            </a:lvl7pPr>
            <a:lvl8pPr algn="l">
              <a:defRPr sz="2100" b="0">
                <a:solidFill>
                  <a:srgbClr val="151515"/>
                </a:solidFill>
                <a:latin typeface="Times New Roman"/>
                <a:ea typeface="Times New Roman"/>
                <a:cs typeface="Times New Roman"/>
              </a:defRPr>
            </a:lvl8pPr>
            <a:lvl9pPr algn="l">
              <a:defRPr sz="2100" b="0">
                <a:solidFill>
                  <a:srgbClr val="151515"/>
                </a:solidFill>
                <a:latin typeface="Times New Roman"/>
                <a:ea typeface="Times New Roman"/>
                <a:cs typeface="Times New Roman"/>
              </a:defRPr>
            </a:lvl9pPr>
          </a:lstStyle>
          <a:p xmlns:a="http://schemas.openxmlformats.org/drawingml/2006/main">
            <a:pPr algn="l">
              <a:lnSpc>
                <a:spcPct val="112000"/>
              </a:lnSpc>
              <a:buNone/>
              <a:defRPr sz="2100" b="0">
                <a:solidFill>
                  <a:srgbClr val="151515"/>
                </a:solidFill>
                <a:latin typeface="Times New Roman"/>
                <a:ea typeface="Times New Roman"/>
                <a:cs typeface="Times New Roman"/>
              </a:defRPr>
            </a:pPr>
            <a:r>
              <a:rPr sz="2100" b="0">
                <a:solidFill>
                  <a:srgbClr val="151515"/>
                </a:solidFill>
                <a:latin typeface="Times New Roman"/>
                <a:ea typeface="Times New Roman"/>
                <a:cs typeface="Times New Roman"/>
              </a:rPr>
              <a:t>Total parties completed: 3</a:t>
            </a:r>
          </a:p>
          <a:p xmlns:a="http://schemas.openxmlformats.org/drawingml/2006/main">
            <a:pPr algn="l">
              <a:lnSpc>
                <a:spcPct val="112000"/>
              </a:lnSpc>
              <a:buNone/>
              <a:defRPr sz="2100" b="0">
                <a:solidFill>
                  <a:srgbClr val="151515"/>
                </a:solidFill>
                <a:latin typeface="Times New Roman"/>
                <a:ea typeface="Times New Roman"/>
                <a:cs typeface="Times New Roman"/>
              </a:defRPr>
            </a:pPr>
            <a:r>
              <a:rPr sz="2100" b="0">
                <a:solidFill>
                  <a:srgbClr val="151515"/>
                </a:solidFill>
                <a:latin typeface="Times New Roman"/>
                <a:ea typeface="Times New Roman"/>
                <a:cs typeface="Times New Roman"/>
              </a:rPr>
              <a:t>Unassigned: 1 tank, 0 healers, 1 DPS</a:t>
            </a:r>
          </a:p>
        </p:txBody>
      </p:sp>
    </p:spTree>
    <p:extLst>
      <p:ext uri="{BB962C8B-B14F-4D97-AF65-F5344CB8AC3E}">
        <p14:creationId xmlns:p14="http://schemas.microsoft.com/office/powerpoint/2010/main" val="55872400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5AB3C544-2068-4957-B4E8-57BFF3B7B23F}"/>
              </a:ext>
            </a:extLst>
          </p:cNvPr>
          <p:cNvSpPr>
            <a:spLocks xmlns:a="http://schemas.openxmlformats.org/drawingml/2006/main" noGrp="1"/>
          </p:cNvSpPr>
          <p:nvPr/>
        </p:nvSpPr>
        <p:spPr>
          <a:xfrm xmlns:a="http://schemas.openxmlformats.org/drawingml/2006/main">
            <a:off x="533400" y="361950"/>
            <a:ext cx="11125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151515"/>
                </a:solidFill>
                <a:latin typeface="Times New Roman"/>
                <a:ea typeface="Times New Roman"/>
                <a:cs typeface="Times New Roman"/>
              </a:defRPr>
            </a:defPPr>
            <a:lvl1pPr algn="l">
              <a:defRPr sz="3300" b="0">
                <a:solidFill>
                  <a:srgbClr val="151515"/>
                </a:solidFill>
                <a:latin typeface="Times New Roman"/>
                <a:ea typeface="Times New Roman"/>
                <a:cs typeface="Times New Roman"/>
              </a:defRPr>
            </a:lvl1pPr>
            <a:lvl2pPr algn="l">
              <a:defRPr sz="3300" b="0">
                <a:solidFill>
                  <a:srgbClr val="151515"/>
                </a:solidFill>
                <a:latin typeface="Times New Roman"/>
                <a:ea typeface="Times New Roman"/>
                <a:cs typeface="Times New Roman"/>
              </a:defRPr>
            </a:lvl2pPr>
            <a:lvl3pPr algn="l">
              <a:defRPr sz="3300" b="0">
                <a:solidFill>
                  <a:srgbClr val="151515"/>
                </a:solidFill>
                <a:latin typeface="Times New Roman"/>
                <a:ea typeface="Times New Roman"/>
                <a:cs typeface="Times New Roman"/>
              </a:defRPr>
            </a:lvl3pPr>
            <a:lvl4pPr algn="l">
              <a:defRPr sz="3300" b="0">
                <a:solidFill>
                  <a:srgbClr val="151515"/>
                </a:solidFill>
                <a:latin typeface="Times New Roman"/>
                <a:ea typeface="Times New Roman"/>
                <a:cs typeface="Times New Roman"/>
              </a:defRPr>
            </a:lvl4pPr>
            <a:lvl5pPr algn="l">
              <a:defRPr sz="3300" b="0">
                <a:solidFill>
                  <a:srgbClr val="151515"/>
                </a:solidFill>
                <a:latin typeface="Times New Roman"/>
                <a:ea typeface="Times New Roman"/>
                <a:cs typeface="Times New Roman"/>
              </a:defRPr>
            </a:lvl5pPr>
            <a:lvl6pPr algn="l">
              <a:defRPr sz="3300" b="0">
                <a:solidFill>
                  <a:srgbClr val="151515"/>
                </a:solidFill>
                <a:latin typeface="Times New Roman"/>
                <a:ea typeface="Times New Roman"/>
                <a:cs typeface="Times New Roman"/>
              </a:defRPr>
            </a:lvl6pPr>
            <a:lvl7pPr algn="l">
              <a:defRPr sz="3300" b="0">
                <a:solidFill>
                  <a:srgbClr val="151515"/>
                </a:solidFill>
                <a:latin typeface="Times New Roman"/>
                <a:ea typeface="Times New Roman"/>
                <a:cs typeface="Times New Roman"/>
              </a:defRPr>
            </a:lvl7pPr>
            <a:lvl8pPr algn="l">
              <a:defRPr sz="3300" b="0">
                <a:solidFill>
                  <a:srgbClr val="151515"/>
                </a:solidFill>
                <a:latin typeface="Times New Roman"/>
                <a:ea typeface="Times New Roman"/>
                <a:cs typeface="Times New Roman"/>
              </a:defRPr>
            </a:lvl8pPr>
            <a:lvl9pPr algn="l">
              <a:defRPr sz="3300" b="0">
                <a:solidFill>
                  <a:srgbClr val="151515"/>
                </a:solidFill>
                <a:latin typeface="Times New Roman"/>
                <a:ea typeface="Times New Roman"/>
                <a:cs typeface="Times New Roman"/>
              </a:defRPr>
            </a:lvl9pPr>
          </a:lstStyle>
          <a:p xmlns:a="http://schemas.openxmlformats.org/drawingml/2006/main">
            <a:pPr algn="l">
              <a:lnSpc>
                <a:spcPct val="112000"/>
              </a:lnSpc>
              <a:buNone/>
              <a:defRPr sz="3300" b="0">
                <a:solidFill>
                  <a:srgbClr val="151515"/>
                </a:solidFill>
                <a:latin typeface="Times New Roman"/>
                <a:ea typeface="Times New Roman"/>
                <a:cs typeface="Times New Roman"/>
              </a:defRPr>
            </a:pPr>
            <a:r>
              <a:rPr sz="3300" b="0">
                <a:solidFill>
                  <a:srgbClr val="151515"/>
                </a:solidFill>
                <a:latin typeface="Times New Roman"/>
                <a:ea typeface="Times New Roman"/>
                <a:cs typeface="Times New Roman"/>
              </a:rPr>
              <a:t>Verification and Conclusions</a:t>
            </a:r>
          </a:p>
        </p:txBody>
      </p:sp>
      <p:pic>
        <p:nvPicPr>
          <p:cNvPr id="3" name="">
            <a:extLst xmlns:a="http://schemas.openxmlformats.org/drawingml/2006/main">
              <a:ext uri="{FF2B5EF4-FFF2-40B4-BE49-F238E27FC236}">
                <a16:creationId xmlns:a16="http://schemas.microsoft.com/office/drawing/2014/main" id="{AB622FBA-475F-4111-BE4C-E6AE886AFD36}"/>
              </a:ext>
            </a:extLst>
          </p:cNvPr>
          <p:cNvPicPr>
            <a:picLocks xmlns:a="http://schemas.openxmlformats.org/drawingml/2006/main" noChangeAspect="1"/>
          </p:cNvPicPr>
          <p:nvPr/>
        </p:nvPicPr>
        <p:blipFill>
          <a:blip xmlns:r="http://schemas.openxmlformats.org/officeDocument/2006/relationships" xmlns:a="http://schemas.openxmlformats.org/drawingml/2006/main" r:embed="Rfc203c7372994a33"/>
          <a:stretch xmlns:a="http://schemas.openxmlformats.org/drawingml/2006/main"/>
        </p:blipFill>
        <p:spPr>
          <a:xfrm xmlns:a="http://schemas.openxmlformats.org/drawingml/2006/main">
            <a:off x="11458575" y="6238875"/>
            <a:ext cx="419100" cy="419100"/>
          </a:xfrm>
          <a:prstGeom xmlns:a="http://schemas.openxmlformats.org/drawingml/2006/main" prst="rect">
            <a:avLst/>
          </a:prstGeom>
        </p:spPr>
      </p:pic>
      <p:sp>
        <p:nvSpPr>
          <p:cNvPr id="4" name="text-76">
            <a:extLst xmlns:a="http://schemas.openxmlformats.org/drawingml/2006/main">
              <a:ext uri="{FF2B5EF4-FFF2-40B4-BE49-F238E27FC236}">
                <a16:creationId xmlns:a16="http://schemas.microsoft.com/office/drawing/2014/main" id="{A911607C-7149-4B24-AB98-774698CC0F80}"/>
              </a:ext>
            </a:extLst>
          </p:cNvPr>
          <p:cNvSpPr>
            <a:spLocks xmlns:a="http://schemas.openxmlformats.org/drawingml/2006/main" noGrp="1"/>
          </p:cNvSpPr>
          <p:nvPr/>
        </p:nvSpPr>
        <p:spPr>
          <a:xfrm xmlns:a="http://schemas.openxmlformats.org/drawingml/2006/main">
            <a:off x="533400" y="64484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87644"/>
                </a:solidFill>
                <a:latin typeface="Times New Roman"/>
                <a:ea typeface="Times New Roman"/>
                <a:cs typeface="Times New Roman"/>
              </a:defRPr>
            </a:defPPr>
            <a:lvl1pPr algn="l">
              <a:defRPr sz="1275" b="0">
                <a:solidFill>
                  <a:srgbClr val="087644"/>
                </a:solidFill>
                <a:latin typeface="Times New Roman"/>
                <a:ea typeface="Times New Roman"/>
                <a:cs typeface="Times New Roman"/>
              </a:defRPr>
            </a:lvl1pPr>
            <a:lvl2pPr algn="l">
              <a:defRPr sz="1275" b="0">
                <a:solidFill>
                  <a:srgbClr val="087644"/>
                </a:solidFill>
                <a:latin typeface="Times New Roman"/>
                <a:ea typeface="Times New Roman"/>
                <a:cs typeface="Times New Roman"/>
              </a:defRPr>
            </a:lvl2pPr>
            <a:lvl3pPr algn="l">
              <a:defRPr sz="1275" b="0">
                <a:solidFill>
                  <a:srgbClr val="087644"/>
                </a:solidFill>
                <a:latin typeface="Times New Roman"/>
                <a:ea typeface="Times New Roman"/>
                <a:cs typeface="Times New Roman"/>
              </a:defRPr>
            </a:lvl3pPr>
            <a:lvl4pPr algn="l">
              <a:defRPr sz="1275" b="0">
                <a:solidFill>
                  <a:srgbClr val="087644"/>
                </a:solidFill>
                <a:latin typeface="Times New Roman"/>
                <a:ea typeface="Times New Roman"/>
                <a:cs typeface="Times New Roman"/>
              </a:defRPr>
            </a:lvl4pPr>
            <a:lvl5pPr algn="l">
              <a:defRPr sz="1275" b="0">
                <a:solidFill>
                  <a:srgbClr val="087644"/>
                </a:solidFill>
                <a:latin typeface="Times New Roman"/>
                <a:ea typeface="Times New Roman"/>
                <a:cs typeface="Times New Roman"/>
              </a:defRPr>
            </a:lvl5pPr>
            <a:lvl6pPr algn="l">
              <a:defRPr sz="1275" b="0">
                <a:solidFill>
                  <a:srgbClr val="087644"/>
                </a:solidFill>
                <a:latin typeface="Times New Roman"/>
                <a:ea typeface="Times New Roman"/>
                <a:cs typeface="Times New Roman"/>
              </a:defRPr>
            </a:lvl6pPr>
            <a:lvl7pPr algn="l">
              <a:defRPr sz="1275" b="0">
                <a:solidFill>
                  <a:srgbClr val="087644"/>
                </a:solidFill>
                <a:latin typeface="Times New Roman"/>
                <a:ea typeface="Times New Roman"/>
                <a:cs typeface="Times New Roman"/>
              </a:defRPr>
            </a:lvl7pPr>
            <a:lvl8pPr algn="l">
              <a:defRPr sz="1275" b="0">
                <a:solidFill>
                  <a:srgbClr val="087644"/>
                </a:solidFill>
                <a:latin typeface="Times New Roman"/>
                <a:ea typeface="Times New Roman"/>
                <a:cs typeface="Times New Roman"/>
              </a:defRPr>
            </a:lvl8pPr>
            <a:lvl9pPr algn="l">
              <a:defRPr sz="1275" b="0">
                <a:solidFill>
                  <a:srgbClr val="087644"/>
                </a:solidFill>
                <a:latin typeface="Times New Roman"/>
                <a:ea typeface="Times New Roman"/>
                <a:cs typeface="Times New Roman"/>
              </a:defRPr>
            </a:lvl9pPr>
          </a:lstStyle>
          <a:p xmlns:a="http://schemas.openxmlformats.org/drawingml/2006/main">
            <a:pPr algn="l">
              <a:lnSpc>
                <a:spcPct val="112000"/>
              </a:lnSpc>
              <a:buNone/>
              <a:defRPr sz="1275" b="0">
                <a:solidFill>
                  <a:srgbClr val="087644"/>
                </a:solidFill>
                <a:latin typeface="Times New Roman"/>
                <a:ea typeface="Times New Roman"/>
                <a:cs typeface="Times New Roman"/>
              </a:defRPr>
            </a:pPr>
            <a:r>
              <a:rPr sz="1275" b="0">
                <a:solidFill>
                  <a:srgbClr val="087644"/>
                </a:solidFill>
                <a:latin typeface="Times New Roman"/>
                <a:ea typeface="Times New Roman"/>
                <a:cs typeface="Times New Roman"/>
              </a:rPr>
              <a:t>15</a:t>
            </a:r>
          </a:p>
        </p:txBody>
      </p:sp>
      <p:sp>
        <p:nvSpPr>
          <p:cNvPr id="5" name="text-77">
            <a:extLst xmlns:a="http://schemas.openxmlformats.org/drawingml/2006/main">
              <a:ext uri="{FF2B5EF4-FFF2-40B4-BE49-F238E27FC236}">
                <a16:creationId xmlns:a16="http://schemas.microsoft.com/office/drawing/2014/main" id="{9FAB8AEE-6D65-435F-BB57-C170FD8C3F55}"/>
              </a:ext>
            </a:extLst>
          </p:cNvPr>
          <p:cNvSpPr>
            <a:spLocks xmlns:a="http://schemas.openxmlformats.org/drawingml/2006/main" noGrp="1"/>
          </p:cNvSpPr>
          <p:nvPr/>
        </p:nvSpPr>
        <p:spPr>
          <a:xfrm xmlns:a="http://schemas.openxmlformats.org/drawingml/2006/main">
            <a:off x="533400" y="133350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Verified behavior</a:t>
            </a:r>
          </a:p>
        </p:txBody>
      </p:sp>
      <p:sp>
        <p:nvSpPr>
          <p:cNvPr id="6" name="text-78">
            <a:extLst xmlns:a="http://schemas.openxmlformats.org/drawingml/2006/main">
              <a:ext uri="{FF2B5EF4-FFF2-40B4-BE49-F238E27FC236}">
                <a16:creationId xmlns:a16="http://schemas.microsoft.com/office/drawing/2014/main" id="{3DE64466-D62D-487C-B129-4F402E1DB38D}"/>
              </a:ext>
            </a:extLst>
          </p:cNvPr>
          <p:cNvSpPr>
            <a:spLocks xmlns:a="http://schemas.openxmlformats.org/drawingml/2006/main" noGrp="1"/>
          </p:cNvSpPr>
          <p:nvPr/>
        </p:nvSpPr>
        <p:spPr>
          <a:xfrm xmlns:a="http://schemas.openxmlformats.org/drawingml/2006/main">
            <a:off x="533400" y="1857375"/>
            <a:ext cx="4953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515"/>
                </a:solidFill>
                <a:latin typeface="Times New Roman"/>
                <a:ea typeface="Times New Roman"/>
                <a:cs typeface="Times New Roman"/>
              </a:defRPr>
            </a:defPPr>
            <a:lvl1pPr algn="l">
              <a:defRPr sz="2175" b="0">
                <a:solidFill>
                  <a:srgbClr val="151515"/>
                </a:solidFill>
                <a:latin typeface="Times New Roman"/>
                <a:ea typeface="Times New Roman"/>
                <a:cs typeface="Times New Roman"/>
              </a:defRPr>
            </a:lvl1pPr>
            <a:lvl2pPr algn="l">
              <a:defRPr sz="2175" b="0">
                <a:solidFill>
                  <a:srgbClr val="151515"/>
                </a:solidFill>
                <a:latin typeface="Times New Roman"/>
                <a:ea typeface="Times New Roman"/>
                <a:cs typeface="Times New Roman"/>
              </a:defRPr>
            </a:lvl2pPr>
            <a:lvl3pPr algn="l">
              <a:defRPr sz="2175" b="0">
                <a:solidFill>
                  <a:srgbClr val="151515"/>
                </a:solidFill>
                <a:latin typeface="Times New Roman"/>
                <a:ea typeface="Times New Roman"/>
                <a:cs typeface="Times New Roman"/>
              </a:defRPr>
            </a:lvl3pPr>
            <a:lvl4pPr algn="l">
              <a:defRPr sz="2175" b="0">
                <a:solidFill>
                  <a:srgbClr val="151515"/>
                </a:solidFill>
                <a:latin typeface="Times New Roman"/>
                <a:ea typeface="Times New Roman"/>
                <a:cs typeface="Times New Roman"/>
              </a:defRPr>
            </a:lvl4pPr>
            <a:lvl5pPr algn="l">
              <a:defRPr sz="2175" b="0">
                <a:solidFill>
                  <a:srgbClr val="151515"/>
                </a:solidFill>
                <a:latin typeface="Times New Roman"/>
                <a:ea typeface="Times New Roman"/>
                <a:cs typeface="Times New Roman"/>
              </a:defRPr>
            </a:lvl5pPr>
            <a:lvl6pPr algn="l">
              <a:defRPr sz="2175" b="0">
                <a:solidFill>
                  <a:srgbClr val="151515"/>
                </a:solidFill>
                <a:latin typeface="Times New Roman"/>
                <a:ea typeface="Times New Roman"/>
                <a:cs typeface="Times New Roman"/>
              </a:defRPr>
            </a:lvl6pPr>
            <a:lvl7pPr algn="l">
              <a:defRPr sz="2175" b="0">
                <a:solidFill>
                  <a:srgbClr val="151515"/>
                </a:solidFill>
                <a:latin typeface="Times New Roman"/>
                <a:ea typeface="Times New Roman"/>
                <a:cs typeface="Times New Roman"/>
              </a:defRPr>
            </a:lvl7pPr>
            <a:lvl8pPr algn="l">
              <a:defRPr sz="2175" b="0">
                <a:solidFill>
                  <a:srgbClr val="151515"/>
                </a:solidFill>
                <a:latin typeface="Times New Roman"/>
                <a:ea typeface="Times New Roman"/>
                <a:cs typeface="Times New Roman"/>
              </a:defRPr>
            </a:lvl8pPr>
            <a:lvl9pPr algn="l">
              <a:defRPr sz="2175" b="0">
                <a:solidFill>
                  <a:srgbClr val="151515"/>
                </a:solidFill>
                <a:latin typeface="Times New Roman"/>
                <a:ea typeface="Times New Roman"/>
                <a:cs typeface="Times New Roman"/>
              </a:defRPr>
            </a:lvl9pPr>
          </a:lstStyle>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Correct parties and unique player IDs</a:t>
            </a:r>
          </a:p>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FIFO selection and accurate leftovers</a:t>
            </a:r>
          </a:p>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Concurrent runs within the n limit</a:t>
            </a:r>
          </a:p>
          <a:p xmlns:a="http://schemas.openxmlformats.org/drawingml/2006/main">
            <a:pPr algn="l">
              <a:lnSpc>
                <a:spcPct val="112000"/>
              </a:lnSpc>
              <a:buNone/>
              <a:defRPr sz="2175" b="0">
                <a:solidFill>
                  <a:srgbClr val="151515"/>
                </a:solidFill>
                <a:latin typeface="Times New Roman"/>
                <a:ea typeface="Times New Roman"/>
                <a:cs typeface="Times New Roman"/>
              </a:defRPr>
            </a:pPr>
            <a:r>
              <a:rPr sz="2175" b="0">
                <a:solidFill>
                  <a:srgbClr val="151515"/>
                </a:solidFill>
                <a:latin typeface="Times New Roman"/>
                <a:ea typeface="Times New Roman"/>
                <a:cs typeface="Times New Roman"/>
              </a:rPr>
              <a:t>Coherent statistics and clean termination</a:t>
            </a:r>
          </a:p>
        </p:txBody>
      </p:sp>
      <p:sp>
        <p:nvSpPr>
          <p:cNvPr id="7" name="text-79">
            <a:extLst xmlns:a="http://schemas.openxmlformats.org/drawingml/2006/main">
              <a:ext uri="{FF2B5EF4-FFF2-40B4-BE49-F238E27FC236}">
                <a16:creationId xmlns:a16="http://schemas.microsoft.com/office/drawing/2014/main" id="{0CCE0270-E61E-41AE-9D0E-2B4E9E365BF6}"/>
              </a:ext>
            </a:extLst>
          </p:cNvPr>
          <p:cNvSpPr>
            <a:spLocks xmlns:a="http://schemas.openxmlformats.org/drawingml/2006/main" noGrp="1"/>
          </p:cNvSpPr>
          <p:nvPr/>
        </p:nvSpPr>
        <p:spPr>
          <a:xfrm xmlns:a="http://schemas.openxmlformats.org/drawingml/2006/main">
            <a:off x="6238875" y="1333500"/>
            <a:ext cx="5419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Observed test results</a:t>
            </a:r>
          </a:p>
        </p:txBody>
      </p:sp>
      <p:sp>
        <p:nvSpPr>
          <p:cNvPr id="8" name="text-80">
            <a:extLst xmlns:a="http://schemas.openxmlformats.org/drawingml/2006/main">
              <a:ext uri="{FF2B5EF4-FFF2-40B4-BE49-F238E27FC236}">
                <a16:creationId xmlns:a16="http://schemas.microsoft.com/office/drawing/2014/main" id="{282E8F0B-87E3-4F55-904C-A7FAECAF5F21}"/>
              </a:ext>
            </a:extLst>
          </p:cNvPr>
          <p:cNvSpPr>
            <a:spLocks xmlns:a="http://schemas.openxmlformats.org/drawingml/2006/main" noGrp="1"/>
          </p:cNvSpPr>
          <p:nvPr/>
        </p:nvSpPr>
        <p:spPr>
          <a:xfrm xmlns:a="http://schemas.openxmlformats.org/drawingml/2006/main">
            <a:off x="6238875" y="1857375"/>
            <a:ext cx="54197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1515"/>
                </a:solidFill>
                <a:latin typeface="Times New Roman"/>
                <a:ea typeface="Times New Roman"/>
                <a:cs typeface="Times New Roman"/>
              </a:defRPr>
            </a:defPPr>
            <a:lvl1pPr algn="l">
              <a:defRPr sz="2250" b="0">
                <a:solidFill>
                  <a:srgbClr val="151515"/>
                </a:solidFill>
                <a:latin typeface="Times New Roman"/>
                <a:ea typeface="Times New Roman"/>
                <a:cs typeface="Times New Roman"/>
              </a:defRPr>
            </a:lvl1pPr>
            <a:lvl2pPr algn="l">
              <a:defRPr sz="2250" b="0">
                <a:solidFill>
                  <a:srgbClr val="151515"/>
                </a:solidFill>
                <a:latin typeface="Times New Roman"/>
                <a:ea typeface="Times New Roman"/>
                <a:cs typeface="Times New Roman"/>
              </a:defRPr>
            </a:lvl2pPr>
            <a:lvl3pPr algn="l">
              <a:defRPr sz="2250" b="0">
                <a:solidFill>
                  <a:srgbClr val="151515"/>
                </a:solidFill>
                <a:latin typeface="Times New Roman"/>
                <a:ea typeface="Times New Roman"/>
                <a:cs typeface="Times New Roman"/>
              </a:defRPr>
            </a:lvl3pPr>
            <a:lvl4pPr algn="l">
              <a:defRPr sz="2250" b="0">
                <a:solidFill>
                  <a:srgbClr val="151515"/>
                </a:solidFill>
                <a:latin typeface="Times New Roman"/>
                <a:ea typeface="Times New Roman"/>
                <a:cs typeface="Times New Roman"/>
              </a:defRPr>
            </a:lvl4pPr>
            <a:lvl5pPr algn="l">
              <a:defRPr sz="2250" b="0">
                <a:solidFill>
                  <a:srgbClr val="151515"/>
                </a:solidFill>
                <a:latin typeface="Times New Roman"/>
                <a:ea typeface="Times New Roman"/>
                <a:cs typeface="Times New Roman"/>
              </a:defRPr>
            </a:lvl5pPr>
            <a:lvl6pPr algn="l">
              <a:defRPr sz="2250" b="0">
                <a:solidFill>
                  <a:srgbClr val="151515"/>
                </a:solidFill>
                <a:latin typeface="Times New Roman"/>
                <a:ea typeface="Times New Roman"/>
                <a:cs typeface="Times New Roman"/>
              </a:defRPr>
            </a:lvl6pPr>
            <a:lvl7pPr algn="l">
              <a:defRPr sz="2250" b="0">
                <a:solidFill>
                  <a:srgbClr val="151515"/>
                </a:solidFill>
                <a:latin typeface="Times New Roman"/>
                <a:ea typeface="Times New Roman"/>
                <a:cs typeface="Times New Roman"/>
              </a:defRPr>
            </a:lvl7pPr>
            <a:lvl8pPr algn="l">
              <a:defRPr sz="2250" b="0">
                <a:solidFill>
                  <a:srgbClr val="151515"/>
                </a:solidFill>
                <a:latin typeface="Times New Roman"/>
                <a:ea typeface="Times New Roman"/>
                <a:cs typeface="Times New Roman"/>
              </a:defRPr>
            </a:lvl8pPr>
            <a:lvl9pPr algn="l">
              <a:defRPr sz="2250" b="0">
                <a:solidFill>
                  <a:srgbClr val="151515"/>
                </a:solidFill>
                <a:latin typeface="Times New Roman"/>
                <a:ea typeface="Times New Roman"/>
                <a:cs typeface="Times New Roman"/>
              </a:defRPr>
            </a:lvl9pPr>
          </a:lstStyle>
          <a:p xmlns:a="http://schemas.openxmlformats.org/drawingml/2006/main">
            <a:pPr algn="l">
              <a:lnSpc>
                <a:spcPct val="112000"/>
              </a:lnSpc>
              <a:buNone/>
              <a:defRPr sz="2250" b="0">
                <a:solidFill>
                  <a:srgbClr val="151515"/>
                </a:solidFill>
                <a:latin typeface="Times New Roman"/>
                <a:ea typeface="Times New Roman"/>
                <a:cs typeface="Times New Roman"/>
              </a:defRPr>
            </a:pPr>
            <a:r>
              <a:rPr sz="2250" b="0">
                <a:solidFill>
                  <a:srgbClr val="151515"/>
                </a:solidFill>
                <a:latin typeface="Times New Roman"/>
                <a:ea typeface="Times New Roman"/>
                <a:cs typeface="Times New Roman"/>
              </a:rPr>
              <a:t>7 C++ test groups passed</a:t>
            </a:r>
          </a:p>
          <a:p xmlns:a="http://schemas.openxmlformats.org/drawingml/2006/main">
            <a:pPr algn="l">
              <a:lnSpc>
                <a:spcPct val="112000"/>
              </a:lnSpc>
              <a:buNone/>
              <a:defRPr sz="2250" b="0">
                <a:solidFill>
                  <a:srgbClr val="151515"/>
                </a:solidFill>
                <a:latin typeface="Times New Roman"/>
                <a:ea typeface="Times New Roman"/>
                <a:cs typeface="Times New Roman"/>
              </a:defRPr>
            </a:pPr>
            <a:r>
              <a:rPr sz="2250" b="0">
                <a:solidFill>
                  <a:srgbClr val="151515"/>
                </a:solidFill>
                <a:latin typeface="Times New Roman"/>
                <a:ea typeface="Times New Roman"/>
                <a:cs typeface="Times New Roman"/>
              </a:rPr>
              <a:t>8 CLI checks passed</a:t>
            </a:r>
          </a:p>
          <a:p xmlns:a="http://schemas.openxmlformats.org/drawingml/2006/main">
            <a:pPr algn="l">
              <a:lnSpc>
                <a:spcPct val="112000"/>
              </a:lnSpc>
              <a:buNone/>
              <a:defRPr sz="2250" b="0">
                <a:solidFill>
                  <a:srgbClr val="151515"/>
                </a:solidFill>
                <a:latin typeface="Times New Roman"/>
                <a:ea typeface="Times New Roman"/>
                <a:cs typeface="Times New Roman"/>
              </a:defRPr>
            </a:pPr>
            <a:r>
              <a:rPr sz="2250" b="0">
                <a:solidFill>
                  <a:srgbClr val="151515"/>
                </a:solidFill>
                <a:latin typeface="Times New Roman"/>
                <a:ea typeface="Times New Roman"/>
                <a:cs typeface="Times New Roman"/>
              </a:rPr>
              <a:t>Real example: 3 completed parties</a:t>
            </a:r>
          </a:p>
        </p:txBody>
      </p:sp>
      <p:sp>
        <p:nvSpPr>
          <p:cNvPr id="9" name="text-81">
            <a:extLst xmlns:a="http://schemas.openxmlformats.org/drawingml/2006/main">
              <a:ext uri="{FF2B5EF4-FFF2-40B4-BE49-F238E27FC236}">
                <a16:creationId xmlns:a16="http://schemas.microsoft.com/office/drawing/2014/main" id="{6270D087-0AD2-466C-BE75-2F0F044C5D2E}"/>
              </a:ext>
            </a:extLst>
          </p:cNvPr>
          <p:cNvSpPr>
            <a:spLocks xmlns:a="http://schemas.openxmlformats.org/drawingml/2006/main" noGrp="1"/>
          </p:cNvSpPr>
          <p:nvPr/>
        </p:nvSpPr>
        <p:spPr>
          <a:xfrm xmlns:a="http://schemas.openxmlformats.org/drawingml/2006/main">
            <a:off x="533400" y="447675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644"/>
                </a:solidFill>
                <a:latin typeface="Times New Roman"/>
                <a:ea typeface="Times New Roman"/>
                <a:cs typeface="Times New Roman"/>
              </a:defRPr>
            </a:defPPr>
            <a:lvl1pPr algn="l">
              <a:defRPr sz="2100" b="1">
                <a:solidFill>
                  <a:srgbClr val="087644"/>
                </a:solidFill>
                <a:latin typeface="Times New Roman"/>
                <a:ea typeface="Times New Roman"/>
                <a:cs typeface="Times New Roman"/>
              </a:defRPr>
            </a:lvl1pPr>
            <a:lvl2pPr algn="l">
              <a:defRPr sz="2100" b="1">
                <a:solidFill>
                  <a:srgbClr val="087644"/>
                </a:solidFill>
                <a:latin typeface="Times New Roman"/>
                <a:ea typeface="Times New Roman"/>
                <a:cs typeface="Times New Roman"/>
              </a:defRPr>
            </a:lvl2pPr>
            <a:lvl3pPr algn="l">
              <a:defRPr sz="2100" b="1">
                <a:solidFill>
                  <a:srgbClr val="087644"/>
                </a:solidFill>
                <a:latin typeface="Times New Roman"/>
                <a:ea typeface="Times New Roman"/>
                <a:cs typeface="Times New Roman"/>
              </a:defRPr>
            </a:lvl3pPr>
            <a:lvl4pPr algn="l">
              <a:defRPr sz="2100" b="1">
                <a:solidFill>
                  <a:srgbClr val="087644"/>
                </a:solidFill>
                <a:latin typeface="Times New Roman"/>
                <a:ea typeface="Times New Roman"/>
                <a:cs typeface="Times New Roman"/>
              </a:defRPr>
            </a:lvl4pPr>
            <a:lvl5pPr algn="l">
              <a:defRPr sz="2100" b="1">
                <a:solidFill>
                  <a:srgbClr val="087644"/>
                </a:solidFill>
                <a:latin typeface="Times New Roman"/>
                <a:ea typeface="Times New Roman"/>
                <a:cs typeface="Times New Roman"/>
              </a:defRPr>
            </a:lvl5pPr>
            <a:lvl6pPr algn="l">
              <a:defRPr sz="2100" b="1">
                <a:solidFill>
                  <a:srgbClr val="087644"/>
                </a:solidFill>
                <a:latin typeface="Times New Roman"/>
                <a:ea typeface="Times New Roman"/>
                <a:cs typeface="Times New Roman"/>
              </a:defRPr>
            </a:lvl6pPr>
            <a:lvl7pPr algn="l">
              <a:defRPr sz="2100" b="1">
                <a:solidFill>
                  <a:srgbClr val="087644"/>
                </a:solidFill>
                <a:latin typeface="Times New Roman"/>
                <a:ea typeface="Times New Roman"/>
                <a:cs typeface="Times New Roman"/>
              </a:defRPr>
            </a:lvl7pPr>
            <a:lvl8pPr algn="l">
              <a:defRPr sz="2100" b="1">
                <a:solidFill>
                  <a:srgbClr val="087644"/>
                </a:solidFill>
                <a:latin typeface="Times New Roman"/>
                <a:ea typeface="Times New Roman"/>
                <a:cs typeface="Times New Roman"/>
              </a:defRPr>
            </a:lvl8pPr>
            <a:lvl9pPr algn="l">
              <a:defRPr sz="2100" b="1">
                <a:solidFill>
                  <a:srgbClr val="087644"/>
                </a:solidFill>
                <a:latin typeface="Times New Roman"/>
                <a:ea typeface="Times New Roman"/>
                <a:cs typeface="Times New Roman"/>
              </a:defRPr>
            </a:lvl9pPr>
          </a:lstStyle>
          <a:p xmlns:a="http://schemas.openxmlformats.org/drawingml/2006/main">
            <a:pPr algn="l">
              <a:lnSpc>
                <a:spcPct val="112000"/>
              </a:lnSpc>
              <a:buNone/>
              <a:defRPr sz="2100" b="1">
                <a:solidFill>
                  <a:srgbClr val="087644"/>
                </a:solidFill>
                <a:latin typeface="Times New Roman"/>
                <a:ea typeface="Times New Roman"/>
                <a:cs typeface="Times New Roman"/>
              </a:defRPr>
            </a:pPr>
            <a:r>
              <a:rPr sz="2100" b="1">
                <a:solidFill>
                  <a:srgbClr val="087644"/>
                </a:solidFill>
                <a:latin typeface="Times New Roman"/>
                <a:ea typeface="Times New Roman"/>
                <a:cs typeface="Times New Roman"/>
              </a:rPr>
              <a:t>Design conclusions</a:t>
            </a:r>
          </a:p>
        </p:txBody>
      </p:sp>
      <p:sp>
        <p:nvSpPr>
          <p:cNvPr id="10" name="text-82">
            <a:extLst xmlns:a="http://schemas.openxmlformats.org/drawingml/2006/main">
              <a:ext uri="{FF2B5EF4-FFF2-40B4-BE49-F238E27FC236}">
                <a16:creationId xmlns:a16="http://schemas.microsoft.com/office/drawing/2014/main" id="{1FA8EFDA-7653-4313-9A87-0CCC6E9802E7}"/>
              </a:ext>
            </a:extLst>
          </p:cNvPr>
          <p:cNvSpPr>
            <a:spLocks xmlns:a="http://schemas.openxmlformats.org/drawingml/2006/main" noGrp="1"/>
          </p:cNvSpPr>
          <p:nvPr/>
        </p:nvSpPr>
        <p:spPr>
          <a:xfrm xmlns:a="http://schemas.openxmlformats.org/drawingml/2006/main">
            <a:off x="533400" y="4953000"/>
            <a:ext cx="11125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1515"/>
                </a:solidFill>
                <a:latin typeface="Times New Roman"/>
                <a:ea typeface="Times New Roman"/>
                <a:cs typeface="Times New Roman"/>
              </a:defRPr>
            </a:defPPr>
            <a:lvl1pPr algn="l">
              <a:defRPr sz="2250" b="0">
                <a:solidFill>
                  <a:srgbClr val="151515"/>
                </a:solidFill>
                <a:latin typeface="Times New Roman"/>
                <a:ea typeface="Times New Roman"/>
                <a:cs typeface="Times New Roman"/>
              </a:defRPr>
            </a:lvl1pPr>
            <a:lvl2pPr algn="l">
              <a:defRPr sz="2250" b="0">
                <a:solidFill>
                  <a:srgbClr val="151515"/>
                </a:solidFill>
                <a:latin typeface="Times New Roman"/>
                <a:ea typeface="Times New Roman"/>
                <a:cs typeface="Times New Roman"/>
              </a:defRPr>
            </a:lvl2pPr>
            <a:lvl3pPr algn="l">
              <a:defRPr sz="2250" b="0">
                <a:solidFill>
                  <a:srgbClr val="151515"/>
                </a:solidFill>
                <a:latin typeface="Times New Roman"/>
                <a:ea typeface="Times New Roman"/>
                <a:cs typeface="Times New Roman"/>
              </a:defRPr>
            </a:lvl3pPr>
            <a:lvl4pPr algn="l">
              <a:defRPr sz="2250" b="0">
                <a:solidFill>
                  <a:srgbClr val="151515"/>
                </a:solidFill>
                <a:latin typeface="Times New Roman"/>
                <a:ea typeface="Times New Roman"/>
                <a:cs typeface="Times New Roman"/>
              </a:defRPr>
            </a:lvl4pPr>
            <a:lvl5pPr algn="l">
              <a:defRPr sz="2250" b="0">
                <a:solidFill>
                  <a:srgbClr val="151515"/>
                </a:solidFill>
                <a:latin typeface="Times New Roman"/>
                <a:ea typeface="Times New Roman"/>
                <a:cs typeface="Times New Roman"/>
              </a:defRPr>
            </a:lvl5pPr>
            <a:lvl6pPr algn="l">
              <a:defRPr sz="2250" b="0">
                <a:solidFill>
                  <a:srgbClr val="151515"/>
                </a:solidFill>
                <a:latin typeface="Times New Roman"/>
                <a:ea typeface="Times New Roman"/>
                <a:cs typeface="Times New Roman"/>
              </a:defRPr>
            </a:lvl6pPr>
            <a:lvl7pPr algn="l">
              <a:defRPr sz="2250" b="0">
                <a:solidFill>
                  <a:srgbClr val="151515"/>
                </a:solidFill>
                <a:latin typeface="Times New Roman"/>
                <a:ea typeface="Times New Roman"/>
                <a:cs typeface="Times New Roman"/>
              </a:defRPr>
            </a:lvl7pPr>
            <a:lvl8pPr algn="l">
              <a:defRPr sz="2250" b="0">
                <a:solidFill>
                  <a:srgbClr val="151515"/>
                </a:solidFill>
                <a:latin typeface="Times New Roman"/>
                <a:ea typeface="Times New Roman"/>
                <a:cs typeface="Times New Roman"/>
              </a:defRPr>
            </a:lvl8pPr>
            <a:lvl9pPr algn="l">
              <a:defRPr sz="2250" b="0">
                <a:solidFill>
                  <a:srgbClr val="151515"/>
                </a:solidFill>
                <a:latin typeface="Times New Roman"/>
                <a:ea typeface="Times New Roman"/>
                <a:cs typeface="Times New Roman"/>
              </a:defRPr>
            </a:lvl9pPr>
          </a:lstStyle>
          <a:p xmlns:a="http://schemas.openxmlformats.org/drawingml/2006/main">
            <a:pPr algn="l">
              <a:lnSpc>
                <a:spcPct val="112000"/>
              </a:lnSpc>
              <a:buNone/>
              <a:defRPr sz="2250" b="0">
                <a:solidFill>
                  <a:srgbClr val="151515"/>
                </a:solidFill>
                <a:latin typeface="Times New Roman"/>
                <a:ea typeface="Times New Roman"/>
                <a:cs typeface="Times New Roman"/>
              </a:defRPr>
            </a:pPr>
            <a:r>
              <a:rPr sz="2250" b="0">
                <a:solidFill>
                  <a:srgbClr val="151515"/>
                </a:solidFill>
                <a:latin typeface="Times New Roman"/>
                <a:ea typeface="Times New Roman"/>
                <a:cs typeface="Times New Roman"/>
              </a:rPr>
              <a:t>Workers bound capacity. The semaphore accounts for jobs.</a:t>
            </a:r>
          </a:p>
          <a:p xmlns:a="http://schemas.openxmlformats.org/drawingml/2006/main">
            <a:pPr algn="l">
              <a:lnSpc>
                <a:spcPct val="112000"/>
              </a:lnSpc>
              <a:buNone/>
              <a:defRPr sz="2250" b="0">
                <a:solidFill>
                  <a:srgbClr val="151515"/>
                </a:solidFill>
                <a:latin typeface="Times New Roman"/>
                <a:ea typeface="Times New Roman"/>
                <a:cs typeface="Times New Roman"/>
              </a:defRPr>
            </a:pPr>
            <a:r>
              <a:rPr sz="2250" b="0">
                <a:solidFill>
                  <a:srgbClr val="151515"/>
                </a:solidFill>
                <a:latin typeface="Times New Roman"/>
                <a:ea typeface="Times New Roman"/>
                <a:cs typeface="Times New Roman"/>
              </a:rPr>
              <a:t>Short, separate lock scopes protect shared state.</a:t>
            </a:r>
          </a:p>
          <a:p xmlns:a="http://schemas.openxmlformats.org/drawingml/2006/main">
            <a:pPr algn="l">
              <a:lnSpc>
                <a:spcPct val="112000"/>
              </a:lnSpc>
              <a:buNone/>
              <a:defRPr sz="2250" b="0">
                <a:solidFill>
                  <a:srgbClr val="151515"/>
                </a:solidFill>
                <a:latin typeface="Times New Roman"/>
                <a:ea typeface="Times New Roman"/>
                <a:cs typeface="Times New Roman"/>
              </a:defRPr>
            </a:pPr>
            <a:r>
              <a:rPr sz="2250" b="0">
                <a:solidFill>
                  <a:srgbClr val="151515"/>
                </a:solidFill>
                <a:latin typeface="Times New Roman"/>
                <a:ea typeface="Times New Roman"/>
                <a:cs typeface="Times New Roman"/>
              </a:rPr>
              <a:t>FIFO finite work and exit markers support eventual completion.</a:t>
            </a:r>
          </a:p>
        </p:txBody>
      </p:sp>
    </p:spTree>
    <p:extLst>
      <p:ext uri="{BB962C8B-B14F-4D97-AF65-F5344CB8AC3E}">
        <p14:creationId xmlns:p14="http://schemas.microsoft.com/office/powerpoint/2010/main" val="14840563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2026-10-22T11:59:16.2150000Z</dcterms:created>
  <dcterms:modified xsi:type="dcterms:W3CDTF">2026-10-22T11:59:16.2150000Z</dcterms:modified>
</coreProperties>
</file>